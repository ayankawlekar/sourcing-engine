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2E6DB4"/>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6DB4"/>
              </a:solidFill>
              <a:effectLst/>
            </c:spPr>
          </c:dPt>
          <c:dPt>
            <c:idx val="1"/>
            <c:invertIfNegative val="0"/>
            <c:bubble3D val="0"/>
            <c:spPr>
              <a:solidFill>
                <a:srgbClr val="2E6DB4"/>
              </a:solidFill>
              <a:effectLst/>
            </c:spPr>
          </c:dPt>
          <c:dPt>
            <c:idx val="2"/>
            <c:invertIfNegative val="0"/>
            <c:bubble3D val="0"/>
            <c:spPr>
              <a:solidFill>
                <a:srgbClr val="2E6DB4"/>
              </a:solidFill>
              <a:effectLst/>
            </c:spPr>
          </c:dPt>
          <c:dPt>
            <c:idx val="3"/>
            <c:invertIfNegative val="0"/>
            <c:bubble3D val="0"/>
            <c:spPr>
              <a:solidFill>
                <a:srgbClr val="2E6DB4"/>
              </a:solidFill>
              <a:effectLst/>
            </c:spPr>
          </c:dPt>
          <c:dPt>
            <c:idx val="4"/>
            <c:invertIfNegative val="0"/>
            <c:bubble3D val="0"/>
            <c:spPr>
              <a:solidFill>
                <a:srgbClr val="2E6DB4"/>
              </a:solidFill>
              <a:effectLst/>
            </c:spPr>
          </c:dPt>
          <c:dPt>
            <c:idx val="5"/>
            <c:invertIfNegative val="0"/>
            <c:bubble3D val="0"/>
            <c:spPr>
              <a:solidFill>
                <a:srgbClr val="4A90D9"/>
              </a:solidFill>
              <a:effectLst/>
            </c:spPr>
          </c:dPt>
          <c:dPt>
            <c:idx val="6"/>
            <c:invertIfNegative val="0"/>
            <c:bubble3D val="0"/>
            <c:spPr>
              <a:solidFill>
                <a:srgbClr val="4A90D9"/>
              </a:solidFill>
              <a:effectLst/>
            </c:spPr>
          </c:dPt>
          <c:cat>
            <c:multiLvlStrRef>
              <c:f>Sheet1!$A$2:$A$8</c:f>
              <c:multiLvlStrCache>
                <c:ptCount val="7"/>
                <c:lvl>
                  <c:pt idx="0">
                    <c:v>FY2020A</c:v>
                  </c:pt>
                  <c:pt idx="1">
                    <c:v>FY2021A</c:v>
                  </c:pt>
                  <c:pt idx="2">
                    <c:v>FY2022A</c:v>
                  </c:pt>
                  <c:pt idx="3">
                    <c:v>FY2023A</c:v>
                  </c:pt>
                  <c:pt idx="4">
                    <c:v>FY2024E</c:v>
                  </c:pt>
                  <c:pt idx="5">
                    <c:v>FY2025E*</c:v>
                  </c:pt>
                  <c:pt idx="6">
                    <c:v>FY2026E*</c:v>
                  </c:pt>
                </c:lvl>
              </c:multiLvlStrCache>
            </c:multiLvlStrRef>
          </c:cat>
          <c:val>
            <c:numRef>
              <c:f>Sheet1!$B$2:$B$8</c:f>
              <c:numCache>
                <c:formatCode>General</c:formatCode>
                <c:ptCount val="7"/>
                <c:pt idx="0">
                  <c:v>162.4</c:v>
                </c:pt>
                <c:pt idx="1">
                  <c:v>188.7</c:v>
                </c:pt>
                <c:pt idx="2">
                  <c:v>220.3</c:v>
                </c:pt>
                <c:pt idx="3">
                  <c:v>248.1</c:v>
                </c:pt>
                <c:pt idx="4">
                  <c:v>300</c:v>
                </c:pt>
                <c:pt idx="5">
                  <c:v>336</c:v>
                </c:pt>
                <c:pt idx="6">
                  <c:v>379.7</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Recurring %</c:v>
                </c:pt>
              </c:strCache>
            </c:strRef>
          </c:tx>
          <c:spPr>
            <a:solidFill>
              <a:srgbClr val="2E6DB4"/>
            </a:solidFill>
            <a:ln w="31750" cap="flat">
              <a:solidFill>
                <a:srgbClr val="2E6DB4"/>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2E6DB4"/>
              </a:solidFill>
              <a:ln w="9525" cap="flat">
                <a:solidFill>
                  <a:srgbClr val="2E6DB4"/>
                </a:solidFill>
                <a:prstDash val="solid"/>
                <a:round/>
              </a:ln>
              <a:effectLst/>
            </c:spPr>
          </c:marker>
          <c:cat>
            <c:multiLvlStrRef>
              <c:f>Sheet1!$A$2:$A$6</c:f>
              <c:multiLvlStrCache>
                <c:ptCount val="5"/>
                <c:lvl>
                  <c:pt idx="0">
                    <c:v>FY20</c:v>
                  </c:pt>
                  <c:pt idx="1">
                    <c:v>FY21</c:v>
                  </c:pt>
                  <c:pt idx="2">
                    <c:v>FY22</c:v>
                  </c:pt>
                  <c:pt idx="3">
                    <c:v>FY23</c:v>
                  </c:pt>
                  <c:pt idx="4">
                    <c:v>FY24E</c:v>
                  </c:pt>
                </c:lvl>
              </c:multiLvlStrCache>
            </c:multiLvlStrRef>
          </c:cat>
          <c:val>
            <c:numRef>
              <c:f>Sheet1!$B$2:$B$6</c:f>
              <c:numCache>
                <c:formatCode>General</c:formatCode>
                <c:ptCount val="5"/>
                <c:pt idx="0">
                  <c:v>78</c:v>
                </c:pt>
                <c:pt idx="1">
                  <c:v>79</c:v>
                </c:pt>
                <c:pt idx="2">
                  <c:v>80</c:v>
                </c:pt>
                <c:pt idx="3">
                  <c:v>81</c:v>
                </c:pt>
                <c:pt idx="4">
                  <c:v>82</c:v>
                </c:pt>
              </c:numCache>
            </c:numRef>
          </c:val>
          <c:smooth val="0"/>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0"/>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Deferred Rev ($M)</c:v>
                </c:pt>
              </c:strCache>
            </c:strRef>
          </c:tx>
          <c:spPr>
            <a:solidFill>
              <a:srgbClr val="2E6DB4"/>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FY20</c:v>
                  </c:pt>
                  <c:pt idx="1">
                    <c:v>FY21</c:v>
                  </c:pt>
                  <c:pt idx="2">
                    <c:v>FY22</c:v>
                  </c:pt>
                  <c:pt idx="3">
                    <c:v>FY23</c:v>
                  </c:pt>
                  <c:pt idx="4">
                    <c:v>FY24E</c:v>
                  </c:pt>
                </c:lvl>
              </c:multiLvlStrCache>
            </c:multiLvlStrRef>
          </c:cat>
          <c:val>
            <c:numRef>
              <c:f>Sheet1!$B$2:$B$6</c:f>
              <c:numCache>
                <c:formatCode>General</c:formatCode>
                <c:ptCount val="5"/>
                <c:pt idx="0">
                  <c:v>14.2</c:v>
                </c:pt>
                <c:pt idx="1">
                  <c:v>16.5</c:v>
                </c:pt>
                <c:pt idx="2">
                  <c:v>19.3</c:v>
                </c:pt>
                <c:pt idx="3">
                  <c:v>21.7</c:v>
                </c:pt>
                <c:pt idx="4">
                  <c:v>26.2</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Gross Margin %</c:v>
                </c:pt>
              </c:strCache>
            </c:strRef>
          </c:tx>
          <c:spPr>
            <a:solidFill>
              <a:srgbClr val="2E6DB4"/>
            </a:solidFill>
            <a:ln w="31750" cap="flat">
              <a:solidFill>
                <a:srgbClr val="2E6DB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6DB4"/>
              </a:solidFill>
              <a:ln w="9525" cap="flat">
                <a:solidFill>
                  <a:srgbClr val="2E6DB4"/>
                </a:solidFill>
                <a:prstDash val="solid"/>
                <a:round/>
              </a:ln>
              <a:effectLst/>
            </c:spPr>
          </c:marker>
          <c:cat>
            <c:multiLvlStrRef>
              <c:f>Sheet1!$A$2:$A$8</c:f>
              <c:multiLvlStrCache>
                <c:ptCount val="7"/>
                <c:lvl>
                  <c:pt idx="0">
                    <c:v>FY20</c:v>
                  </c:pt>
                  <c:pt idx="1">
                    <c:v>FY21</c:v>
                  </c:pt>
                  <c:pt idx="2">
                    <c:v>FY22</c:v>
                  </c:pt>
                  <c:pt idx="3">
                    <c:v>FY23</c:v>
                  </c:pt>
                  <c:pt idx="4">
                    <c:v>FY24E</c:v>
                  </c:pt>
                  <c:pt idx="5">
                    <c:v>FY25E*</c:v>
                  </c:pt>
                  <c:pt idx="6">
                    <c:v>FY26E*</c:v>
                  </c:pt>
                </c:lvl>
              </c:multiLvlStrCache>
            </c:multiLvlStrRef>
          </c:cat>
          <c:val>
            <c:numRef>
              <c:f>Sheet1!$B$2:$B$8</c:f>
              <c:numCache>
                <c:formatCode>General</c:formatCode>
                <c:ptCount val="7"/>
                <c:pt idx="0">
                  <c:v>50</c:v>
                </c:pt>
                <c:pt idx="1">
                  <c:v>51</c:v>
                </c:pt>
                <c:pt idx="2">
                  <c:v>52</c:v>
                </c:pt>
                <c:pt idx="3">
                  <c:v>52.5</c:v>
                </c:pt>
                <c:pt idx="4">
                  <c:v>53</c:v>
                </c:pt>
                <c:pt idx="5">
                  <c:v>53.5</c:v>
                </c:pt>
                <c:pt idx="6">
                  <c:v>54</c:v>
                </c:pt>
              </c:numCache>
            </c:numRef>
          </c:val>
          <c:smooth val="1"/>
        </c:ser>
        <c:ser>
          <c:idx val="1"/>
          <c:order val="1"/>
          <c:tx>
            <c:strRef>
              <c:f>Sheet1!$C$1</c:f>
              <c:strCache>
                <c:ptCount val="1"/>
                <c:pt idx="0">
                  <c:v>EBITDA Margin %</c:v>
                </c:pt>
              </c:strCache>
            </c:strRef>
          </c:tx>
          <c:spPr>
            <a:solidFill>
              <a:srgbClr val="1A7A2E"/>
            </a:solidFill>
            <a:ln w="31750" cap="flat">
              <a:solidFill>
                <a:srgbClr val="1A7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7A2E"/>
              </a:solidFill>
              <a:ln w="9525" cap="flat">
                <a:solidFill>
                  <a:srgbClr val="1A7A2E"/>
                </a:solidFill>
                <a:prstDash val="solid"/>
                <a:round/>
              </a:ln>
              <a:effectLst/>
            </c:spPr>
          </c:marker>
          <c:cat>
            <c:multiLvlStrRef>
              <c:f>Sheet1!$A$2:$A$8</c:f>
              <c:multiLvlStrCache>
                <c:ptCount val="7"/>
                <c:lvl>
                  <c:pt idx="0">
                    <c:v>FY20</c:v>
                  </c:pt>
                  <c:pt idx="1">
                    <c:v>FY21</c:v>
                  </c:pt>
                  <c:pt idx="2">
                    <c:v>FY22</c:v>
                  </c:pt>
                  <c:pt idx="3">
                    <c:v>FY23</c:v>
                  </c:pt>
                  <c:pt idx="4">
                    <c:v>FY24E</c:v>
                  </c:pt>
                  <c:pt idx="5">
                    <c:v>FY25E*</c:v>
                  </c:pt>
                  <c:pt idx="6">
                    <c:v>FY26E*</c:v>
                  </c:pt>
                </c:lvl>
              </c:multiLvlStrCache>
            </c:multiLvlStrRef>
          </c:cat>
          <c:val>
            <c:numRef>
              <c:f>Sheet1!$C$2:$C$8</c:f>
              <c:numCache>
                <c:formatCode>General</c:formatCode>
                <c:ptCount val="7"/>
                <c:pt idx="0">
                  <c:v>23.5</c:v>
                </c:pt>
                <c:pt idx="1">
                  <c:v>25</c:v>
                </c:pt>
                <c:pt idx="2">
                  <c:v>26</c:v>
                </c:pt>
                <c:pt idx="3">
                  <c:v>27</c:v>
                </c:pt>
                <c:pt idx="4">
                  <c:v>27.5</c:v>
                </c:pt>
                <c:pt idx="5">
                  <c:v>27.2</c:v>
                </c:pt>
                <c:pt idx="6">
                  <c:v>27.5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
          <c:min val="2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Cost of Revenue</c:v>
                </c:pt>
              </c:strCache>
            </c:strRef>
          </c:tx>
          <c:spPr>
            <a:solidFill>
              <a:srgbClr val="2E6D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c:v>
                  </c:pt>
                  <c:pt idx="1">
                    <c:v>FY21</c:v>
                  </c:pt>
                  <c:pt idx="2">
                    <c:v>FY22</c:v>
                  </c:pt>
                  <c:pt idx="3">
                    <c:v>FY23</c:v>
                  </c:pt>
                  <c:pt idx="4">
                    <c:v>FY24E</c:v>
                  </c:pt>
                </c:lvl>
              </c:multiLvlStrCache>
            </c:multiLvlStrRef>
          </c:cat>
          <c:val>
            <c:numRef>
              <c:f>Sheet1!$B$2:$B$6</c:f>
              <c:numCache>
                <c:formatCode>General</c:formatCode>
                <c:ptCount val="5"/>
                <c:pt idx="0">
                  <c:v>81.2</c:v>
                </c:pt>
                <c:pt idx="1">
                  <c:v>92.5</c:v>
                </c:pt>
                <c:pt idx="2">
                  <c:v>105.7</c:v>
                </c:pt>
                <c:pt idx="3">
                  <c:v>117.8</c:v>
                </c:pt>
                <c:pt idx="4">
                  <c:v>141</c:v>
                </c:pt>
              </c:numCache>
            </c:numRef>
          </c:val>
        </c:ser>
        <c:ser>
          <c:idx val="1"/>
          <c:order val="1"/>
          <c:tx>
            <c:strRef>
              <c:f>Sheet1!$C$1</c:f>
              <c:strCache>
                <c:ptCount val="1"/>
                <c:pt idx="0">
                  <c:v>S&amp;M</c:v>
                </c:pt>
              </c:strCache>
            </c:strRef>
          </c:tx>
          <c:spPr>
            <a:solidFill>
              <a:srgbClr val="4A90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c:v>
                  </c:pt>
                  <c:pt idx="1">
                    <c:v>FY21</c:v>
                  </c:pt>
                  <c:pt idx="2">
                    <c:v>FY22</c:v>
                  </c:pt>
                  <c:pt idx="3">
                    <c:v>FY23</c:v>
                  </c:pt>
                  <c:pt idx="4">
                    <c:v>FY24E</c:v>
                  </c:pt>
                </c:lvl>
              </c:multiLvlStrCache>
            </c:multiLvlStrRef>
          </c:cat>
          <c:val>
            <c:numRef>
              <c:f>Sheet1!$C$2:$C$6</c:f>
              <c:numCache>
                <c:formatCode>General</c:formatCode>
                <c:ptCount val="5"/>
                <c:pt idx="0">
                  <c:v>13</c:v>
                </c:pt>
                <c:pt idx="1">
                  <c:v>15.1</c:v>
                </c:pt>
                <c:pt idx="2">
                  <c:v>17.6</c:v>
                </c:pt>
                <c:pt idx="3">
                  <c:v>19.8</c:v>
                </c:pt>
                <c:pt idx="4">
                  <c:v>24</c:v>
                </c:pt>
              </c:numCache>
            </c:numRef>
          </c:val>
        </c:ser>
        <c:ser>
          <c:idx val="2"/>
          <c:order val="2"/>
          <c:tx>
            <c:strRef>
              <c:f>Sheet1!$D$1</c:f>
              <c:strCache>
                <c:ptCount val="1"/>
                <c:pt idx="0">
                  <c:v>R&amp;D</c:v>
                </c:pt>
              </c:strCache>
            </c:strRef>
          </c:tx>
          <c:spPr>
            <a:solidFill>
              <a:srgbClr val="9CB8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c:v>
                  </c:pt>
                  <c:pt idx="1">
                    <c:v>FY21</c:v>
                  </c:pt>
                  <c:pt idx="2">
                    <c:v>FY22</c:v>
                  </c:pt>
                  <c:pt idx="3">
                    <c:v>FY23</c:v>
                  </c:pt>
                  <c:pt idx="4">
                    <c:v>FY24E</c:v>
                  </c:pt>
                </c:lvl>
              </c:multiLvlStrCache>
            </c:multiLvlStrRef>
          </c:cat>
          <c:val>
            <c:numRef>
              <c:f>Sheet1!$D$2:$D$6</c:f>
              <c:numCache>
                <c:formatCode>General</c:formatCode>
                <c:ptCount val="5"/>
                <c:pt idx="0">
                  <c:v>8.1</c:v>
                </c:pt>
                <c:pt idx="1">
                  <c:v>9.4</c:v>
                </c:pt>
                <c:pt idx="2">
                  <c:v>11</c:v>
                </c:pt>
                <c:pt idx="3">
                  <c:v>12.4</c:v>
                </c:pt>
                <c:pt idx="4">
                  <c:v>15</c:v>
                </c:pt>
              </c:numCache>
            </c:numRef>
          </c:val>
        </c:ser>
        <c:ser>
          <c:idx val="3"/>
          <c:order val="3"/>
          <c:tx>
            <c:strRef>
              <c:f>Sheet1!$E$1</c:f>
              <c:strCache>
                <c:ptCount val="1"/>
                <c:pt idx="0">
                  <c:v>G&amp;A</c:v>
                </c:pt>
              </c:strCache>
            </c:strRef>
          </c:tx>
          <c:spPr>
            <a:solidFill>
              <a:srgbClr val="D6E4F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c:v>
                  </c:pt>
                  <c:pt idx="1">
                    <c:v>FY21</c:v>
                  </c:pt>
                  <c:pt idx="2">
                    <c:v>FY22</c:v>
                  </c:pt>
                  <c:pt idx="3">
                    <c:v>FY23</c:v>
                  </c:pt>
                  <c:pt idx="4">
                    <c:v>FY24E</c:v>
                  </c:pt>
                </c:lvl>
              </c:multiLvlStrCache>
            </c:multiLvlStrRef>
          </c:cat>
          <c:val>
            <c:numRef>
              <c:f>Sheet1!$E$2:$E$6</c:f>
              <c:numCache>
                <c:formatCode>General</c:formatCode>
                <c:ptCount val="5"/>
                <c:pt idx="0">
                  <c:v>21.9</c:v>
                </c:pt>
                <c:pt idx="1">
                  <c:v>24.5</c:v>
                </c:pt>
                <c:pt idx="2">
                  <c:v>28.7</c:v>
                </c:pt>
                <c:pt idx="3">
                  <c:v>31.1</c:v>
                </c:pt>
                <c:pt idx="4">
                  <c:v>37.5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Net Debt/EBITDA</c:v>
                </c:pt>
              </c:strCache>
            </c:strRef>
          </c:tx>
          <c:spPr>
            <a:solidFill>
              <a:srgbClr val="2E6DB4"/>
            </a:solidFill>
            <a:ln w="31750" cap="flat">
              <a:solidFill>
                <a:srgbClr val="2E6DB4"/>
              </a:solidFill>
              <a:prstDash val="solid"/>
              <a:round/>
            </a:ln>
            <a:effectLst/>
          </c:spPr>
          <c:invertIfNegative val="0"/>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2E6DB4"/>
              </a:solidFill>
              <a:ln w="9525" cap="flat">
                <a:solidFill>
                  <a:srgbClr val="2E6DB4"/>
                </a:solidFill>
                <a:prstDash val="solid"/>
                <a:round/>
              </a:ln>
              <a:effectLst/>
            </c:spPr>
          </c:marker>
          <c:cat>
            <c:multiLvlStrRef>
              <c:f>Sheet1!$A$2:$A$8</c:f>
              <c:multiLvlStrCache>
                <c:ptCount val="7"/>
                <c:lvl>
                  <c:pt idx="0">
                    <c:v>FY20</c:v>
                  </c:pt>
                  <c:pt idx="1">
                    <c:v>FY21</c:v>
                  </c:pt>
                  <c:pt idx="2">
                    <c:v>FY22</c:v>
                  </c:pt>
                  <c:pt idx="3">
                    <c:v>FY23</c:v>
                  </c:pt>
                  <c:pt idx="4">
                    <c:v>FY24E</c:v>
                  </c:pt>
                  <c:pt idx="5">
                    <c:v>FY25E*</c:v>
                  </c:pt>
                  <c:pt idx="6">
                    <c:v>FY26E*</c:v>
                  </c:pt>
                </c:lvl>
              </c:multiLvlStrCache>
            </c:multiLvlStrRef>
          </c:cat>
          <c:val>
            <c:numRef>
              <c:f>Sheet1!$B$2:$B$8</c:f>
              <c:numCache>
                <c:formatCode>General</c:formatCode>
                <c:ptCount val="7"/>
                <c:pt idx="0">
                  <c:v>7.56</c:v>
                </c:pt>
                <c:pt idx="1">
                  <c:v>6</c:v>
                </c:pt>
                <c:pt idx="2">
                  <c:v>4.84</c:v>
                </c:pt>
                <c:pt idx="3">
                  <c:v>4.3</c:v>
                </c:pt>
                <c:pt idx="4">
                  <c:v>3.33</c:v>
                </c:pt>
                <c:pt idx="5">
                  <c:v>2.93</c:v>
                </c:pt>
                <c:pt idx="6">
                  <c:v>2.57</c:v>
                </c:pt>
              </c:numCache>
            </c:numRef>
          </c:val>
          <c:smooth val="0"/>
        </c:ser>
        <c:dLbls>
          <c:numFmt formatCode="#,##0" sourceLinked="0"/>
          <c:txPr>
            <a:bodyPr/>
            <a:lstStyle/>
            <a:p>
              <a:pPr>
                <a:defRPr b="0" i="0" strike="noStrike" sz="85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566160"/>
            <a:ext cx="9144000" cy="1577340"/>
          </a:xfrm>
          <a:prstGeom prst="rect">
            <a:avLst/>
          </a:prstGeom>
          <a:solidFill>
            <a:srgbClr val="111E2B"/>
          </a:solidFill>
          <a:ln/>
        </p:spPr>
      </p:sp>
      <p:sp>
        <p:nvSpPr>
          <p:cNvPr id="3" name="Text 1"/>
          <p:cNvSpPr/>
          <p:nvPr/>
        </p:nvSpPr>
        <p:spPr>
          <a:xfrm>
            <a:off x="457200" y="960120"/>
            <a:ext cx="8229600" cy="502920"/>
          </a:xfrm>
          <a:prstGeom prst="rect">
            <a:avLst/>
          </a:prstGeom>
          <a:noFill/>
          <a:ln/>
        </p:spPr>
        <p:txBody>
          <a:bodyPr wrap="square"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FINANCIAL DUE DILIGENCE</a:t>
            </a:r>
            <a:endParaRPr lang="en-US" sz="3600" dirty="0"/>
          </a:p>
        </p:txBody>
      </p:sp>
      <p:sp>
        <p:nvSpPr>
          <p:cNvPr id="4" name="Text 2"/>
          <p:cNvSpPr/>
          <p:nvPr/>
        </p:nvSpPr>
        <p:spPr>
          <a:xfrm>
            <a:off x="457200" y="1536192"/>
            <a:ext cx="8229600" cy="310896"/>
          </a:xfrm>
          <a:prstGeom prst="rect">
            <a:avLst/>
          </a:prstGeom>
          <a:noFill/>
          <a:ln/>
        </p:spPr>
        <p:txBody>
          <a:bodyPr wrap="square" rtlCol="0" anchor="ctr"/>
          <a:lstStyle/>
          <a:p>
            <a:pPr indent="0" marL="0">
              <a:buNone/>
            </a:pPr>
            <a:r>
              <a:rPr lang="en-US" sz="1500" dirty="0">
                <a:solidFill>
                  <a:srgbClr val="8BAED4"/>
                </a:solidFill>
                <a:latin typeface="Arial" pitchFamily="34" charset="0"/>
                <a:ea typeface="Arial" pitchFamily="34" charset="-122"/>
                <a:cs typeface="Arial" pitchFamily="34" charset="-120"/>
              </a:rPr>
              <a:t>RevSpring, Inc.  |  Patient Engagement &amp; Revenue Cycle Management</a:t>
            </a:r>
            <a:endParaRPr lang="en-US" sz="1500" dirty="0"/>
          </a:p>
        </p:txBody>
      </p:sp>
      <p:sp>
        <p:nvSpPr>
          <p:cNvPr id="5" name="Shape 3"/>
          <p:cNvSpPr/>
          <p:nvPr/>
        </p:nvSpPr>
        <p:spPr>
          <a:xfrm>
            <a:off x="457200" y="1993392"/>
            <a:ext cx="3200400" cy="36576"/>
          </a:xfrm>
          <a:prstGeom prst="rect">
            <a:avLst/>
          </a:prstGeom>
          <a:solidFill>
            <a:srgbClr val="2E6DB4"/>
          </a:solidFill>
          <a:ln/>
        </p:spPr>
      </p:sp>
      <p:sp>
        <p:nvSpPr>
          <p:cNvPr id="6" name="Text 4"/>
          <p:cNvSpPr/>
          <p:nvPr/>
        </p:nvSpPr>
        <p:spPr>
          <a:xfrm>
            <a:off x="457200" y="2176272"/>
            <a:ext cx="182880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Prepared by:</a:t>
            </a:r>
            <a:endParaRPr lang="en-US" sz="1000" dirty="0"/>
          </a:p>
        </p:txBody>
      </p:sp>
      <p:sp>
        <p:nvSpPr>
          <p:cNvPr id="7" name="Text 5"/>
          <p:cNvSpPr/>
          <p:nvPr/>
        </p:nvSpPr>
        <p:spPr>
          <a:xfrm>
            <a:off x="2377440" y="2176272"/>
            <a:ext cx="62179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Morsebridge Healthcare — AI Deal Team</a:t>
            </a:r>
            <a:endParaRPr lang="en-US" sz="1000" dirty="0"/>
          </a:p>
        </p:txBody>
      </p:sp>
      <p:sp>
        <p:nvSpPr>
          <p:cNvPr id="8" name="Text 6"/>
          <p:cNvSpPr/>
          <p:nvPr/>
        </p:nvSpPr>
        <p:spPr>
          <a:xfrm>
            <a:off x="457200" y="2505456"/>
            <a:ext cx="182880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Date:</a:t>
            </a:r>
            <a:endParaRPr lang="en-US" sz="1000" dirty="0"/>
          </a:p>
        </p:txBody>
      </p:sp>
      <p:sp>
        <p:nvSpPr>
          <p:cNvPr id="9" name="Text 7"/>
          <p:cNvSpPr/>
          <p:nvPr/>
        </p:nvSpPr>
        <p:spPr>
          <a:xfrm>
            <a:off x="2377440" y="2505456"/>
            <a:ext cx="62179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June 5, 2026</a:t>
            </a:r>
            <a:endParaRPr lang="en-US" sz="1000" dirty="0"/>
          </a:p>
        </p:txBody>
      </p:sp>
      <p:sp>
        <p:nvSpPr>
          <p:cNvPr id="10" name="Text 8"/>
          <p:cNvSpPr/>
          <p:nvPr/>
        </p:nvSpPr>
        <p:spPr>
          <a:xfrm>
            <a:off x="457200" y="2834640"/>
            <a:ext cx="182880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Model Source:</a:t>
            </a:r>
            <a:endParaRPr lang="en-US" sz="1000" dirty="0"/>
          </a:p>
        </p:txBody>
      </p:sp>
      <p:sp>
        <p:nvSpPr>
          <p:cNvPr id="11" name="Text 9"/>
          <p:cNvSpPr/>
          <p:nvPr/>
        </p:nvSpPr>
        <p:spPr>
          <a:xfrm>
            <a:off x="2377440" y="2834640"/>
            <a:ext cx="62179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RevSpring_Financial_Model.xlsx</a:t>
            </a:r>
            <a:endParaRPr lang="en-US" sz="1000" dirty="0"/>
          </a:p>
        </p:txBody>
      </p:sp>
      <p:sp>
        <p:nvSpPr>
          <p:cNvPr id="12" name="Text 10"/>
          <p:cNvSpPr/>
          <p:nvPr/>
        </p:nvSpPr>
        <p:spPr>
          <a:xfrm>
            <a:off x="457200" y="3163824"/>
            <a:ext cx="182880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Deal:</a:t>
            </a:r>
            <a:endParaRPr lang="en-US" sz="1000" dirty="0"/>
          </a:p>
        </p:txBody>
      </p:sp>
      <p:sp>
        <p:nvSpPr>
          <p:cNvPr id="13" name="Text 11"/>
          <p:cNvSpPr/>
          <p:nvPr/>
        </p:nvSpPr>
        <p:spPr>
          <a:xfrm>
            <a:off x="2377440" y="3163824"/>
            <a:ext cx="62179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Secondary Buyout — Frazier Healthcare Partners, March 2024</a:t>
            </a:r>
            <a:endParaRPr lang="en-US" sz="1000" dirty="0"/>
          </a:p>
        </p:txBody>
      </p:sp>
      <p:sp>
        <p:nvSpPr>
          <p:cNvPr id="14" name="Shape 12"/>
          <p:cNvSpPr/>
          <p:nvPr/>
        </p:nvSpPr>
        <p:spPr>
          <a:xfrm>
            <a:off x="457200" y="3749040"/>
            <a:ext cx="3474720" cy="658368"/>
          </a:xfrm>
          <a:prstGeom prst="rect">
            <a:avLst/>
          </a:prstGeom>
          <a:solidFill>
            <a:srgbClr val="B45309"/>
          </a:solidFill>
          <a:ln/>
          <a:effectLst>
            <a:outerShdw sx="100000" sy="100000" kx="0" ky="0" algn="bl" rotWithShape="0" blurRad="50800" dist="25400" dir="16200000">
              <a:srgbClr val="000000">
                <a:alpha val="8000"/>
              </a:srgbClr>
            </a:outerShdw>
          </a:effectLst>
        </p:spPr>
      </p:sp>
      <p:sp>
        <p:nvSpPr>
          <p:cNvPr id="15" name="Text 13"/>
          <p:cNvSpPr/>
          <p:nvPr/>
        </p:nvSpPr>
        <p:spPr>
          <a:xfrm>
            <a:off x="457200" y="3749040"/>
            <a:ext cx="34747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  HOLD — PENDING RESOLUTION</a:t>
            </a:r>
            <a:endParaRPr lang="en-US" sz="1500" dirty="0"/>
          </a:p>
        </p:txBody>
      </p:sp>
      <p:sp>
        <p:nvSpPr>
          <p:cNvPr id="16" name="Text 14"/>
          <p:cNvSpPr/>
          <p:nvPr/>
        </p:nvSpPr>
        <p:spPr>
          <a:xfrm>
            <a:off x="457200" y="4462272"/>
            <a:ext cx="8229600" cy="219456"/>
          </a:xfrm>
          <a:prstGeom prst="rect">
            <a:avLst/>
          </a:prstGeom>
          <a:noFill/>
          <a:ln/>
        </p:spPr>
        <p:txBody>
          <a:bodyPr wrap="square" lIns="0" tIns="0" rIns="0" bIns="0" rtlCol="0" anchor="ctr"/>
          <a:lstStyle/>
          <a:p>
            <a:pPr indent="0" marL="0">
              <a:buNone/>
            </a:pPr>
            <a:r>
              <a:rPr lang="en-US" sz="850" dirty="0">
                <a:solidFill>
                  <a:srgbClr val="C8D8E8"/>
                </a:solidFill>
                <a:latin typeface="Arial" pitchFamily="34" charset="0"/>
                <a:ea typeface="Arial" pitchFamily="34" charset="-122"/>
                <a:cs typeface="Arial" pitchFamily="34" charset="-120"/>
              </a:rPr>
              <a:t>Hard gate triggered: Bear case IRR = 14% &lt; 15% threshold  |  Model integrity issues require resolution before IC</a:t>
            </a:r>
            <a:endParaRPr lang="en-US" sz="850" dirty="0"/>
          </a:p>
        </p:txBody>
      </p:sp>
      <p:sp>
        <p:nvSpPr>
          <p:cNvPr id="17" name="Text 15"/>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3A4E5E"/>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2  |  Executive Summary</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Historical financials are clean and growing — but model formula errors corrupt all projection-year outputs, and the bear case IRR of 14% triggers a hard gate.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5120640" cy="694944"/>
          </a:xfrm>
          <a:prstGeom prst="rect">
            <a:avLst/>
          </a:prstGeom>
          <a:solidFill>
            <a:srgbClr val="E8F5E9"/>
          </a:solidFill>
          <a:ln w="9525">
            <a:solidFill>
              <a:srgbClr val="1A7A2E"/>
            </a:solidFill>
            <a:prstDash val="solid"/>
          </a:ln>
        </p:spPr>
      </p:sp>
      <p:sp>
        <p:nvSpPr>
          <p:cNvPr id="8" name="Shape 6"/>
          <p:cNvSpPr/>
          <p:nvPr/>
        </p:nvSpPr>
        <p:spPr>
          <a:xfrm>
            <a:off x="365760" y="960120"/>
            <a:ext cx="45720" cy="694944"/>
          </a:xfrm>
          <a:prstGeom prst="rect">
            <a:avLst/>
          </a:prstGeom>
          <a:solidFill>
            <a:srgbClr val="1A7A2E"/>
          </a:solidFill>
          <a:ln/>
        </p:spPr>
      </p:sp>
      <p:sp>
        <p:nvSpPr>
          <p:cNvPr id="9" name="Shape 7"/>
          <p:cNvSpPr/>
          <p:nvPr/>
        </p:nvSpPr>
        <p:spPr>
          <a:xfrm>
            <a:off x="457200" y="1051560"/>
            <a:ext cx="292608" cy="292608"/>
          </a:xfrm>
          <a:prstGeom prst="rect">
            <a:avLst>
              <a:gd name="adj" fmla="val 15625"/>
            </a:avLst>
          </a:prstGeom>
          <a:solidFill>
            <a:srgbClr val="1A7A2E"/>
          </a:solidFill>
          <a:ln/>
        </p:spPr>
      </p:sp>
      <p:sp>
        <p:nvSpPr>
          <p:cNvPr id="10" name="Text 8"/>
          <p:cNvSpPr/>
          <p:nvPr/>
        </p:nvSpPr>
        <p:spPr>
          <a:xfrm>
            <a:off x="457200" y="10515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1" name="Text 9"/>
          <p:cNvSpPr/>
          <p:nvPr/>
        </p:nvSpPr>
        <p:spPr>
          <a:xfrm>
            <a:off x="822960" y="1014984"/>
            <a:ext cx="4526280" cy="201168"/>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Revenue Quality — STRONG</a:t>
            </a:r>
            <a:endParaRPr lang="en-US" sz="950" dirty="0"/>
          </a:p>
        </p:txBody>
      </p:sp>
      <p:sp>
        <p:nvSpPr>
          <p:cNvPr id="12" name="Text 10"/>
          <p:cNvSpPr/>
          <p:nvPr/>
        </p:nvSpPr>
        <p:spPr>
          <a:xfrm>
            <a:off x="822960" y="1216152"/>
            <a:ext cx="4526280" cy="402336"/>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Recurring revenue 82% (FY2024E), NRR 1.08x stable, revenue CAGR ~14% under GTCR. Historical quality metrics meet mandate.</a:t>
            </a:r>
            <a:endParaRPr lang="en-US" sz="800" dirty="0"/>
          </a:p>
        </p:txBody>
      </p:sp>
      <p:sp>
        <p:nvSpPr>
          <p:cNvPr id="13" name="Shape 11"/>
          <p:cNvSpPr/>
          <p:nvPr/>
        </p:nvSpPr>
        <p:spPr>
          <a:xfrm>
            <a:off x="365760" y="1728216"/>
            <a:ext cx="5120640" cy="694944"/>
          </a:xfrm>
          <a:prstGeom prst="rect">
            <a:avLst/>
          </a:prstGeom>
          <a:solidFill>
            <a:srgbClr val="EBF4FF"/>
          </a:solidFill>
          <a:ln w="9525">
            <a:solidFill>
              <a:srgbClr val="2E6DB4"/>
            </a:solidFill>
            <a:prstDash val="solid"/>
          </a:ln>
        </p:spPr>
      </p:sp>
      <p:sp>
        <p:nvSpPr>
          <p:cNvPr id="14" name="Shape 12"/>
          <p:cNvSpPr/>
          <p:nvPr/>
        </p:nvSpPr>
        <p:spPr>
          <a:xfrm>
            <a:off x="365760" y="1728216"/>
            <a:ext cx="45720" cy="694944"/>
          </a:xfrm>
          <a:prstGeom prst="rect">
            <a:avLst/>
          </a:prstGeom>
          <a:solidFill>
            <a:srgbClr val="2E6DB4"/>
          </a:solidFill>
          <a:ln/>
        </p:spPr>
      </p:sp>
      <p:sp>
        <p:nvSpPr>
          <p:cNvPr id="15" name="Shape 13"/>
          <p:cNvSpPr/>
          <p:nvPr/>
        </p:nvSpPr>
        <p:spPr>
          <a:xfrm>
            <a:off x="457200" y="1819656"/>
            <a:ext cx="292608" cy="292608"/>
          </a:xfrm>
          <a:prstGeom prst="rect">
            <a:avLst>
              <a:gd name="adj" fmla="val 15625"/>
            </a:avLst>
          </a:prstGeom>
          <a:solidFill>
            <a:srgbClr val="2E6DB4"/>
          </a:solidFill>
          <a:ln/>
        </p:spPr>
      </p:sp>
      <p:sp>
        <p:nvSpPr>
          <p:cNvPr id="16" name="Text 14"/>
          <p:cNvSpPr/>
          <p:nvPr/>
        </p:nvSpPr>
        <p:spPr>
          <a:xfrm>
            <a:off x="457200" y="181965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7" name="Text 15"/>
          <p:cNvSpPr/>
          <p:nvPr/>
        </p:nvSpPr>
        <p:spPr>
          <a:xfrm>
            <a:off x="822960" y="1783080"/>
            <a:ext cx="4526280" cy="201168"/>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Margins — SOLID</a:t>
            </a:r>
            <a:endParaRPr lang="en-US" sz="950" dirty="0"/>
          </a:p>
        </p:txBody>
      </p:sp>
      <p:sp>
        <p:nvSpPr>
          <p:cNvPr id="18" name="Text 16"/>
          <p:cNvSpPr/>
          <p:nvPr/>
        </p:nvSpPr>
        <p:spPr>
          <a:xfrm>
            <a:off x="822960" y="1984248"/>
            <a:ext cx="4526280" cy="402336"/>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EBITDA margin expanding 23.5% → 27.5% (FY2020–2024). Gross margin 50% → 53%. Consistent year-on-year improvement.</a:t>
            </a:r>
            <a:endParaRPr lang="en-US" sz="800" dirty="0"/>
          </a:p>
        </p:txBody>
      </p:sp>
      <p:sp>
        <p:nvSpPr>
          <p:cNvPr id="19" name="Shape 17"/>
          <p:cNvSpPr/>
          <p:nvPr/>
        </p:nvSpPr>
        <p:spPr>
          <a:xfrm>
            <a:off x="365760" y="2496312"/>
            <a:ext cx="5120640" cy="694944"/>
          </a:xfrm>
          <a:prstGeom prst="rect">
            <a:avLst/>
          </a:prstGeom>
          <a:solidFill>
            <a:srgbClr val="EBF4FF"/>
          </a:solidFill>
          <a:ln w="9525">
            <a:solidFill>
              <a:srgbClr val="2E6DB4"/>
            </a:solidFill>
            <a:prstDash val="solid"/>
          </a:ln>
        </p:spPr>
      </p:sp>
      <p:sp>
        <p:nvSpPr>
          <p:cNvPr id="20" name="Shape 18"/>
          <p:cNvSpPr/>
          <p:nvPr/>
        </p:nvSpPr>
        <p:spPr>
          <a:xfrm>
            <a:off x="365760" y="2496312"/>
            <a:ext cx="45720" cy="694944"/>
          </a:xfrm>
          <a:prstGeom prst="rect">
            <a:avLst/>
          </a:prstGeom>
          <a:solidFill>
            <a:srgbClr val="2E6DB4"/>
          </a:solidFill>
          <a:ln/>
        </p:spPr>
      </p:sp>
      <p:sp>
        <p:nvSpPr>
          <p:cNvPr id="21" name="Shape 19"/>
          <p:cNvSpPr/>
          <p:nvPr/>
        </p:nvSpPr>
        <p:spPr>
          <a:xfrm>
            <a:off x="457200" y="2587752"/>
            <a:ext cx="292608" cy="292608"/>
          </a:xfrm>
          <a:prstGeom prst="rect">
            <a:avLst>
              <a:gd name="adj" fmla="val 15625"/>
            </a:avLst>
          </a:prstGeom>
          <a:solidFill>
            <a:srgbClr val="2E6DB4"/>
          </a:solidFill>
          <a:ln/>
        </p:spPr>
      </p:sp>
      <p:sp>
        <p:nvSpPr>
          <p:cNvPr id="22" name="Text 20"/>
          <p:cNvSpPr/>
          <p:nvPr/>
        </p:nvSpPr>
        <p:spPr>
          <a:xfrm>
            <a:off x="457200" y="25877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3" name="Text 21"/>
          <p:cNvSpPr/>
          <p:nvPr/>
        </p:nvSpPr>
        <p:spPr>
          <a:xfrm>
            <a:off x="822960" y="2551176"/>
            <a:ext cx="4526280" cy="201168"/>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Entry Leverage — ACCEPTABLE</a:t>
            </a:r>
            <a:endParaRPr lang="en-US" sz="950" dirty="0"/>
          </a:p>
        </p:txBody>
      </p:sp>
      <p:sp>
        <p:nvSpPr>
          <p:cNvPr id="24" name="Text 22"/>
          <p:cNvSpPr/>
          <p:nvPr/>
        </p:nvSpPr>
        <p:spPr>
          <a:xfrm>
            <a:off x="822960" y="2752344"/>
            <a:ext cx="4526280" cy="402336"/>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4.3x Net Debt/EBITDA at close. Within 4.0–5.5x adequate range. Covenant limit 6.5x provides headroom at entry.</a:t>
            </a:r>
            <a:endParaRPr lang="en-US" sz="800" dirty="0"/>
          </a:p>
        </p:txBody>
      </p:sp>
      <p:sp>
        <p:nvSpPr>
          <p:cNvPr id="25" name="Shape 23"/>
          <p:cNvSpPr/>
          <p:nvPr/>
        </p:nvSpPr>
        <p:spPr>
          <a:xfrm>
            <a:off x="365760" y="3264408"/>
            <a:ext cx="5120640" cy="694944"/>
          </a:xfrm>
          <a:prstGeom prst="rect">
            <a:avLst/>
          </a:prstGeom>
          <a:solidFill>
            <a:srgbClr val="FEF2F2"/>
          </a:solidFill>
          <a:ln w="9525">
            <a:solidFill>
              <a:srgbClr val="C00000"/>
            </a:solidFill>
            <a:prstDash val="solid"/>
          </a:ln>
        </p:spPr>
      </p:sp>
      <p:sp>
        <p:nvSpPr>
          <p:cNvPr id="26" name="Shape 24"/>
          <p:cNvSpPr/>
          <p:nvPr/>
        </p:nvSpPr>
        <p:spPr>
          <a:xfrm>
            <a:off x="365760" y="3264408"/>
            <a:ext cx="45720" cy="694944"/>
          </a:xfrm>
          <a:prstGeom prst="rect">
            <a:avLst/>
          </a:prstGeom>
          <a:solidFill>
            <a:srgbClr val="C00000"/>
          </a:solidFill>
          <a:ln/>
        </p:spPr>
      </p:sp>
      <p:sp>
        <p:nvSpPr>
          <p:cNvPr id="27" name="Shape 25"/>
          <p:cNvSpPr/>
          <p:nvPr/>
        </p:nvSpPr>
        <p:spPr>
          <a:xfrm>
            <a:off x="457200" y="3355848"/>
            <a:ext cx="292608" cy="292608"/>
          </a:xfrm>
          <a:prstGeom prst="rect">
            <a:avLst>
              <a:gd name="adj" fmla="val 15625"/>
            </a:avLst>
          </a:prstGeom>
          <a:solidFill>
            <a:srgbClr val="C00000"/>
          </a:solidFill>
          <a:ln/>
        </p:spPr>
      </p:sp>
      <p:sp>
        <p:nvSpPr>
          <p:cNvPr id="28" name="Text 26"/>
          <p:cNvSpPr/>
          <p:nvPr/>
        </p:nvSpPr>
        <p:spPr>
          <a:xfrm>
            <a:off x="457200" y="33558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9" name="Text 27"/>
          <p:cNvSpPr/>
          <p:nvPr/>
        </p:nvSpPr>
        <p:spPr>
          <a:xfrm>
            <a:off x="822960" y="3319272"/>
            <a:ext cx="4526280" cy="201168"/>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Model Errors — CRITICAL</a:t>
            </a:r>
            <a:endParaRPr lang="en-US" sz="950" dirty="0"/>
          </a:p>
        </p:txBody>
      </p:sp>
      <p:sp>
        <p:nvSpPr>
          <p:cNvPr id="30" name="Text 28"/>
          <p:cNvSpPr/>
          <p:nvPr/>
        </p:nvSpPr>
        <p:spPr>
          <a:xfrm>
            <a:off x="822960" y="3520440"/>
            <a:ext cx="4526280" cy="402336"/>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G&amp;A formula negative in FY2025–26E. EBITDA = Gross Profit for projection years. Balance sheet does not balance. All projection-year metrics unreliable until corrected.</a:t>
            </a:r>
            <a:endParaRPr lang="en-US" sz="800" dirty="0"/>
          </a:p>
        </p:txBody>
      </p:sp>
      <p:sp>
        <p:nvSpPr>
          <p:cNvPr id="31" name="Shape 29"/>
          <p:cNvSpPr/>
          <p:nvPr/>
        </p:nvSpPr>
        <p:spPr>
          <a:xfrm>
            <a:off x="365760" y="4032504"/>
            <a:ext cx="5120640" cy="694944"/>
          </a:xfrm>
          <a:prstGeom prst="rect">
            <a:avLst/>
          </a:prstGeom>
          <a:solidFill>
            <a:srgbClr val="FEF2F2"/>
          </a:solidFill>
          <a:ln w="9525">
            <a:solidFill>
              <a:srgbClr val="C00000"/>
            </a:solidFill>
            <a:prstDash val="solid"/>
          </a:ln>
        </p:spPr>
      </p:sp>
      <p:sp>
        <p:nvSpPr>
          <p:cNvPr id="32" name="Shape 30"/>
          <p:cNvSpPr/>
          <p:nvPr/>
        </p:nvSpPr>
        <p:spPr>
          <a:xfrm>
            <a:off x="365760" y="4032504"/>
            <a:ext cx="45720" cy="694944"/>
          </a:xfrm>
          <a:prstGeom prst="rect">
            <a:avLst/>
          </a:prstGeom>
          <a:solidFill>
            <a:srgbClr val="C00000"/>
          </a:solidFill>
          <a:ln/>
        </p:spPr>
      </p:sp>
      <p:sp>
        <p:nvSpPr>
          <p:cNvPr id="33" name="Shape 31"/>
          <p:cNvSpPr/>
          <p:nvPr/>
        </p:nvSpPr>
        <p:spPr>
          <a:xfrm>
            <a:off x="457200" y="4123944"/>
            <a:ext cx="292608" cy="292608"/>
          </a:xfrm>
          <a:prstGeom prst="rect">
            <a:avLst>
              <a:gd name="adj" fmla="val 15625"/>
            </a:avLst>
          </a:prstGeom>
          <a:solidFill>
            <a:srgbClr val="C00000"/>
          </a:solidFill>
          <a:ln/>
        </p:spPr>
      </p:sp>
      <p:sp>
        <p:nvSpPr>
          <p:cNvPr id="34" name="Text 32"/>
          <p:cNvSpPr/>
          <p:nvPr/>
        </p:nvSpPr>
        <p:spPr>
          <a:xfrm>
            <a:off x="457200" y="41239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5" name="Text 33"/>
          <p:cNvSpPr/>
          <p:nvPr/>
        </p:nvSpPr>
        <p:spPr>
          <a:xfrm>
            <a:off x="822960" y="4087368"/>
            <a:ext cx="4526280" cy="201168"/>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LBO Returns — HARD GATE</a:t>
            </a:r>
            <a:endParaRPr lang="en-US" sz="950" dirty="0"/>
          </a:p>
        </p:txBody>
      </p:sp>
      <p:sp>
        <p:nvSpPr>
          <p:cNvPr id="36" name="Text 34"/>
          <p:cNvSpPr/>
          <p:nvPr/>
        </p:nvSpPr>
        <p:spPr>
          <a:xfrm>
            <a:off x="822960" y="4288536"/>
            <a:ext cx="4526280" cy="402336"/>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Bear case IRR = 14% (&lt; 15% threshold). MOIC main table inconsistent with sensitivity table (implied base MOIC ~1.5x vs. stated 2.6x). 3.0x+ MOIC not achievable in any sensitivity scenario.</a:t>
            </a:r>
            <a:endParaRPr lang="en-US" sz="800" dirty="0"/>
          </a:p>
        </p:txBody>
      </p:sp>
      <p:sp>
        <p:nvSpPr>
          <p:cNvPr id="37" name="Shape 35"/>
          <p:cNvSpPr/>
          <p:nvPr/>
        </p:nvSpPr>
        <p:spPr>
          <a:xfrm>
            <a:off x="365760" y="960120"/>
            <a:ext cx="45720" cy="237744"/>
          </a:xfrm>
          <a:prstGeom prst="rect">
            <a:avLst/>
          </a:prstGeom>
          <a:solidFill>
            <a:srgbClr val="2E6DB4"/>
          </a:solidFill>
          <a:ln/>
        </p:spPr>
      </p:sp>
      <p:sp>
        <p:nvSpPr>
          <p:cNvPr id="38" name="Text 3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KEY FINANCIAL METRICS (FY2023A — LAST CLEAN YEAR)</a:t>
            </a:r>
            <a:endParaRPr lang="en-US" sz="950" dirty="0"/>
          </a:p>
        </p:txBody>
      </p:sp>
      <p:sp>
        <p:nvSpPr>
          <p:cNvPr id="39" name="Shape 37"/>
          <p:cNvSpPr/>
          <p:nvPr/>
        </p:nvSpPr>
        <p:spPr>
          <a:xfrm>
            <a:off x="5669280" y="1234440"/>
            <a:ext cx="3108960" cy="384048"/>
          </a:xfrm>
          <a:prstGeom prst="rect">
            <a:avLst/>
          </a:prstGeom>
          <a:solidFill>
            <a:srgbClr val="F7F8FA"/>
          </a:solidFill>
          <a:ln w="5080">
            <a:solidFill>
              <a:srgbClr val="D0D5DD"/>
            </a:solidFill>
            <a:prstDash val="solid"/>
          </a:ln>
        </p:spPr>
      </p:sp>
      <p:sp>
        <p:nvSpPr>
          <p:cNvPr id="40" name="Text 38"/>
          <p:cNvSpPr/>
          <p:nvPr/>
        </p:nvSpPr>
        <p:spPr>
          <a:xfrm>
            <a:off x="5760720" y="13075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Revenue</a:t>
            </a:r>
            <a:endParaRPr lang="en-US" sz="900" dirty="0"/>
          </a:p>
        </p:txBody>
      </p:sp>
      <p:sp>
        <p:nvSpPr>
          <p:cNvPr id="41" name="Text 39"/>
          <p:cNvSpPr/>
          <p:nvPr/>
        </p:nvSpPr>
        <p:spPr>
          <a:xfrm>
            <a:off x="7498080" y="12893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$248.1M</a:t>
            </a:r>
            <a:endParaRPr lang="en-US" sz="1100" dirty="0"/>
          </a:p>
        </p:txBody>
      </p:sp>
      <p:sp>
        <p:nvSpPr>
          <p:cNvPr id="42" name="Shape 40"/>
          <p:cNvSpPr/>
          <p:nvPr/>
        </p:nvSpPr>
        <p:spPr>
          <a:xfrm>
            <a:off x="5669280" y="1691640"/>
            <a:ext cx="3108960" cy="384048"/>
          </a:xfrm>
          <a:prstGeom prst="rect">
            <a:avLst/>
          </a:prstGeom>
          <a:solidFill>
            <a:srgbClr val="FFFFFF"/>
          </a:solidFill>
          <a:ln w="5080">
            <a:solidFill>
              <a:srgbClr val="D0D5DD"/>
            </a:solidFill>
            <a:prstDash val="solid"/>
          </a:ln>
        </p:spPr>
      </p:sp>
      <p:sp>
        <p:nvSpPr>
          <p:cNvPr id="43" name="Text 41"/>
          <p:cNvSpPr/>
          <p:nvPr/>
        </p:nvSpPr>
        <p:spPr>
          <a:xfrm>
            <a:off x="5760720" y="17647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EBITDA</a:t>
            </a:r>
            <a:endParaRPr lang="en-US" sz="900" dirty="0"/>
          </a:p>
        </p:txBody>
      </p:sp>
      <p:sp>
        <p:nvSpPr>
          <p:cNvPr id="44" name="Text 42"/>
          <p:cNvSpPr/>
          <p:nvPr/>
        </p:nvSpPr>
        <p:spPr>
          <a:xfrm>
            <a:off x="7498080" y="17465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$67.0M</a:t>
            </a:r>
            <a:endParaRPr lang="en-US" sz="1100" dirty="0"/>
          </a:p>
        </p:txBody>
      </p:sp>
      <p:sp>
        <p:nvSpPr>
          <p:cNvPr id="45" name="Shape 43"/>
          <p:cNvSpPr/>
          <p:nvPr/>
        </p:nvSpPr>
        <p:spPr>
          <a:xfrm>
            <a:off x="5669280" y="2148840"/>
            <a:ext cx="3108960" cy="384048"/>
          </a:xfrm>
          <a:prstGeom prst="rect">
            <a:avLst/>
          </a:prstGeom>
          <a:solidFill>
            <a:srgbClr val="F7F8FA"/>
          </a:solidFill>
          <a:ln w="5080">
            <a:solidFill>
              <a:srgbClr val="D0D5DD"/>
            </a:solidFill>
            <a:prstDash val="solid"/>
          </a:ln>
        </p:spPr>
      </p:sp>
      <p:sp>
        <p:nvSpPr>
          <p:cNvPr id="46" name="Text 44"/>
          <p:cNvSpPr/>
          <p:nvPr/>
        </p:nvSpPr>
        <p:spPr>
          <a:xfrm>
            <a:off x="5760720" y="22219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EBITDA Margin</a:t>
            </a:r>
            <a:endParaRPr lang="en-US" sz="900" dirty="0"/>
          </a:p>
        </p:txBody>
      </p:sp>
      <p:sp>
        <p:nvSpPr>
          <p:cNvPr id="47" name="Text 45"/>
          <p:cNvSpPr/>
          <p:nvPr/>
        </p:nvSpPr>
        <p:spPr>
          <a:xfrm>
            <a:off x="7498080" y="22037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27.0%</a:t>
            </a:r>
            <a:endParaRPr lang="en-US" sz="1100" dirty="0"/>
          </a:p>
        </p:txBody>
      </p:sp>
      <p:sp>
        <p:nvSpPr>
          <p:cNvPr id="48" name="Shape 46"/>
          <p:cNvSpPr/>
          <p:nvPr/>
        </p:nvSpPr>
        <p:spPr>
          <a:xfrm>
            <a:off x="5669280" y="2606040"/>
            <a:ext cx="3108960" cy="384048"/>
          </a:xfrm>
          <a:prstGeom prst="rect">
            <a:avLst/>
          </a:prstGeom>
          <a:solidFill>
            <a:srgbClr val="FFFFFF"/>
          </a:solidFill>
          <a:ln w="5080">
            <a:solidFill>
              <a:srgbClr val="D0D5DD"/>
            </a:solidFill>
            <a:prstDash val="solid"/>
          </a:ln>
        </p:spPr>
      </p:sp>
      <p:sp>
        <p:nvSpPr>
          <p:cNvPr id="49" name="Text 47"/>
          <p:cNvSpPr/>
          <p:nvPr/>
        </p:nvSpPr>
        <p:spPr>
          <a:xfrm>
            <a:off x="5760720" y="26791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Gross Margin</a:t>
            </a:r>
            <a:endParaRPr lang="en-US" sz="900" dirty="0"/>
          </a:p>
        </p:txBody>
      </p:sp>
      <p:sp>
        <p:nvSpPr>
          <p:cNvPr id="50" name="Text 48"/>
          <p:cNvSpPr/>
          <p:nvPr/>
        </p:nvSpPr>
        <p:spPr>
          <a:xfrm>
            <a:off x="7498080" y="26609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52.5%</a:t>
            </a:r>
            <a:endParaRPr lang="en-US" sz="1100" dirty="0"/>
          </a:p>
        </p:txBody>
      </p:sp>
      <p:sp>
        <p:nvSpPr>
          <p:cNvPr id="51" name="Shape 49"/>
          <p:cNvSpPr/>
          <p:nvPr/>
        </p:nvSpPr>
        <p:spPr>
          <a:xfrm>
            <a:off x="5669280" y="3063240"/>
            <a:ext cx="3108960" cy="384048"/>
          </a:xfrm>
          <a:prstGeom prst="rect">
            <a:avLst/>
          </a:prstGeom>
          <a:solidFill>
            <a:srgbClr val="F7F8FA"/>
          </a:solidFill>
          <a:ln w="5080">
            <a:solidFill>
              <a:srgbClr val="D0D5DD"/>
            </a:solidFill>
            <a:prstDash val="solid"/>
          </a:ln>
        </p:spPr>
      </p:sp>
      <p:sp>
        <p:nvSpPr>
          <p:cNvPr id="52" name="Text 50"/>
          <p:cNvSpPr/>
          <p:nvPr/>
        </p:nvSpPr>
        <p:spPr>
          <a:xfrm>
            <a:off x="5760720" y="31363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Recurring Revenue</a:t>
            </a:r>
            <a:endParaRPr lang="en-US" sz="900" dirty="0"/>
          </a:p>
        </p:txBody>
      </p:sp>
      <p:sp>
        <p:nvSpPr>
          <p:cNvPr id="53" name="Text 51"/>
          <p:cNvSpPr/>
          <p:nvPr/>
        </p:nvSpPr>
        <p:spPr>
          <a:xfrm>
            <a:off x="7498080" y="31181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&gt;80%</a:t>
            </a:r>
            <a:endParaRPr lang="en-US" sz="1100" dirty="0"/>
          </a:p>
        </p:txBody>
      </p:sp>
      <p:sp>
        <p:nvSpPr>
          <p:cNvPr id="54" name="Shape 52"/>
          <p:cNvSpPr/>
          <p:nvPr/>
        </p:nvSpPr>
        <p:spPr>
          <a:xfrm>
            <a:off x="5669280" y="3520440"/>
            <a:ext cx="3108960" cy="384048"/>
          </a:xfrm>
          <a:prstGeom prst="rect">
            <a:avLst/>
          </a:prstGeom>
          <a:solidFill>
            <a:srgbClr val="FFFFFF"/>
          </a:solidFill>
          <a:ln w="5080">
            <a:solidFill>
              <a:srgbClr val="D0D5DD"/>
            </a:solidFill>
            <a:prstDash val="solid"/>
          </a:ln>
        </p:spPr>
      </p:sp>
      <p:sp>
        <p:nvSpPr>
          <p:cNvPr id="55" name="Text 53"/>
          <p:cNvSpPr/>
          <p:nvPr/>
        </p:nvSpPr>
        <p:spPr>
          <a:xfrm>
            <a:off x="5760720" y="35935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NRR</a:t>
            </a:r>
            <a:endParaRPr lang="en-US" sz="900" dirty="0"/>
          </a:p>
        </p:txBody>
      </p:sp>
      <p:sp>
        <p:nvSpPr>
          <p:cNvPr id="56" name="Text 54"/>
          <p:cNvSpPr/>
          <p:nvPr/>
        </p:nvSpPr>
        <p:spPr>
          <a:xfrm>
            <a:off x="7498080" y="35753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~108%</a:t>
            </a:r>
            <a:endParaRPr lang="en-US" sz="1100" dirty="0"/>
          </a:p>
        </p:txBody>
      </p:sp>
      <p:sp>
        <p:nvSpPr>
          <p:cNvPr id="57" name="Shape 55"/>
          <p:cNvSpPr/>
          <p:nvPr/>
        </p:nvSpPr>
        <p:spPr>
          <a:xfrm>
            <a:off x="5669280" y="3977640"/>
            <a:ext cx="3108960" cy="384048"/>
          </a:xfrm>
          <a:prstGeom prst="rect">
            <a:avLst/>
          </a:prstGeom>
          <a:solidFill>
            <a:srgbClr val="F7F8FA"/>
          </a:solidFill>
          <a:ln w="5080">
            <a:solidFill>
              <a:srgbClr val="D0D5DD"/>
            </a:solidFill>
            <a:prstDash val="solid"/>
          </a:ln>
        </p:spPr>
      </p:sp>
      <p:sp>
        <p:nvSpPr>
          <p:cNvPr id="58" name="Text 56"/>
          <p:cNvSpPr/>
          <p:nvPr/>
        </p:nvSpPr>
        <p:spPr>
          <a:xfrm>
            <a:off x="5760720" y="40507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Net Debt/EBITDA</a:t>
            </a:r>
            <a:endParaRPr lang="en-US" sz="900" dirty="0"/>
          </a:p>
        </p:txBody>
      </p:sp>
      <p:sp>
        <p:nvSpPr>
          <p:cNvPr id="59" name="Text 57"/>
          <p:cNvSpPr/>
          <p:nvPr/>
        </p:nvSpPr>
        <p:spPr>
          <a:xfrm>
            <a:off x="7498080" y="4032504"/>
            <a:ext cx="1188720" cy="274320"/>
          </a:xfrm>
          <a:prstGeom prst="rect">
            <a:avLst/>
          </a:prstGeom>
          <a:noFill/>
          <a:ln/>
        </p:spPr>
        <p:txBody>
          <a:bodyPr wrap="square" lIns="0" tIns="0" rIns="0" bIns="0" rtlCol="0" anchor="ctr"/>
          <a:lstStyle/>
          <a:p>
            <a:pPr algn="r" indent="0" marL="0">
              <a:buNone/>
            </a:pPr>
            <a:r>
              <a:rPr lang="en-US" sz="1100" b="1" dirty="0">
                <a:solidFill>
                  <a:srgbClr val="1A7A2E"/>
                </a:solidFill>
                <a:latin typeface="Arial" pitchFamily="34" charset="0"/>
                <a:ea typeface="Arial" pitchFamily="34" charset="-122"/>
                <a:cs typeface="Arial" pitchFamily="34" charset="-120"/>
              </a:rPr>
              <a:t>4.3x</a:t>
            </a:r>
            <a:endParaRPr lang="en-US" sz="1100" dirty="0"/>
          </a:p>
        </p:txBody>
      </p:sp>
      <p:sp>
        <p:nvSpPr>
          <p:cNvPr id="60" name="Shape 58"/>
          <p:cNvSpPr/>
          <p:nvPr/>
        </p:nvSpPr>
        <p:spPr>
          <a:xfrm>
            <a:off x="5669280" y="4434840"/>
            <a:ext cx="3108960" cy="384048"/>
          </a:xfrm>
          <a:prstGeom prst="rect">
            <a:avLst/>
          </a:prstGeom>
          <a:solidFill>
            <a:srgbClr val="FFFFFF"/>
          </a:solidFill>
          <a:ln w="5080">
            <a:solidFill>
              <a:srgbClr val="D0D5DD"/>
            </a:solidFill>
            <a:prstDash val="solid"/>
          </a:ln>
        </p:spPr>
      </p:sp>
      <p:sp>
        <p:nvSpPr>
          <p:cNvPr id="61" name="Text 59"/>
          <p:cNvSpPr/>
          <p:nvPr/>
        </p:nvSpPr>
        <p:spPr>
          <a:xfrm>
            <a:off x="5760720" y="4507992"/>
            <a:ext cx="1920240" cy="237744"/>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Bear Case IRR</a:t>
            </a:r>
            <a:endParaRPr lang="en-US" sz="900" dirty="0"/>
          </a:p>
        </p:txBody>
      </p:sp>
      <p:sp>
        <p:nvSpPr>
          <p:cNvPr id="62" name="Text 60"/>
          <p:cNvSpPr/>
          <p:nvPr/>
        </p:nvSpPr>
        <p:spPr>
          <a:xfrm>
            <a:off x="7498080" y="4489704"/>
            <a:ext cx="1188720" cy="274320"/>
          </a:xfrm>
          <a:prstGeom prst="rect">
            <a:avLst/>
          </a:prstGeom>
          <a:noFill/>
          <a:ln/>
        </p:spPr>
        <p:txBody>
          <a:bodyPr wrap="square" lIns="0" tIns="0" rIns="0" bIns="0" rtlCol="0" anchor="ctr"/>
          <a:lstStyle/>
          <a:p>
            <a:pPr algn="r" indent="0" marL="0">
              <a:buNone/>
            </a:pPr>
            <a:r>
              <a:rPr lang="en-US" sz="1100" b="1" dirty="0">
                <a:solidFill>
                  <a:srgbClr val="C00000"/>
                </a:solidFill>
                <a:latin typeface="Arial" pitchFamily="34" charset="0"/>
                <a:ea typeface="Arial" pitchFamily="34" charset="-122"/>
                <a:cs typeface="Arial" pitchFamily="34" charset="-120"/>
              </a:rPr>
              <a:t>14%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3  |  Revenue Overview</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Revenue grew from $162M to $300M (FY2020–2024E) at a 16.6% CAGR — but FY2025–26 model figures are unreliable due to formula errors.</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TOTAL REVENUE ($M) — FY2020A TO FY2024E (ACTUALS) + CORRECTED PROJECTIONS</a:t>
            </a:r>
            <a:endParaRPr lang="en-US" sz="950" dirty="0"/>
          </a:p>
        </p:txBody>
      </p:sp>
      <p:graphicFrame>
        <p:nvGraphicFramePr>
          <p:cNvPr id="9" name="Chart 0" descr=""/>
          <p:cNvGraphicFramePr/>
          <p:nvPr/>
        </p:nvGraphicFramePr>
        <p:xfrm>
          <a:off x="274320" y="1234440"/>
          <a:ext cx="5303520" cy="26517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274320" y="3913632"/>
            <a:ext cx="5303520" cy="182880"/>
          </a:xfrm>
          <a:prstGeom prst="rect">
            <a:avLst/>
          </a:prstGeom>
          <a:noFill/>
          <a:ln/>
        </p:spPr>
        <p:txBody>
          <a:bodyPr wrap="square" lIns="0" tIns="0" rIns="0" bIns="0" rtlCol="0" anchor="ctr"/>
          <a:lstStyle/>
          <a:p>
            <a:pPr indent="0" marL="0">
              <a:buNone/>
            </a:pPr>
            <a:r>
              <a:rPr lang="en-US" sz="750" i="1" dirty="0">
                <a:solidFill>
                  <a:srgbClr val="B45309"/>
                </a:solidFill>
                <a:latin typeface="Arial" pitchFamily="34" charset="0"/>
                <a:ea typeface="Arial" pitchFamily="34" charset="-122"/>
                <a:cs typeface="Arial" pitchFamily="34" charset="-120"/>
              </a:rPr>
              <a:t>* FY2025E–26E: Corrected using Assumptions sheet inputs (model formula errors in IS)</a:t>
            </a:r>
            <a:endParaRPr lang="en-US" sz="750" dirty="0"/>
          </a:p>
        </p:txBody>
      </p:sp>
      <p:sp>
        <p:nvSpPr>
          <p:cNvPr id="11" name="Shape 8"/>
          <p:cNvSpPr/>
          <p:nvPr/>
        </p:nvSpPr>
        <p:spPr>
          <a:xfrm>
            <a:off x="365760" y="960120"/>
            <a:ext cx="45720" cy="237744"/>
          </a:xfrm>
          <a:prstGeom prst="rect">
            <a:avLst/>
          </a:prstGeom>
          <a:solidFill>
            <a:srgbClr val="2E6DB4"/>
          </a:solidFill>
          <a:ln/>
        </p:spPr>
      </p:sp>
      <p:sp>
        <p:nvSpPr>
          <p:cNvPr id="12" name="Text 9"/>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REVENUE BY PRODUCT LINE ($M)</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760720" y="1234440"/>
          <a:ext cx="3017520" cy="914400"/>
        </p:xfrm>
        <a:graphic>
          <a:graphicData uri="http://schemas.openxmlformats.org/drawingml/2006/table">
            <a:tbl>
              <a:tblPr/>
              <a:tblGrid>
                <a:gridCol w="1554480"/>
                <a:gridCol w="292608"/>
                <a:gridCol w="292608"/>
                <a:gridCol w="292608"/>
                <a:gridCol w="292608"/>
                <a:gridCol w="292608"/>
              </a:tblGrid>
              <a:tr h="0">
                <a:tc>
                  <a:txBody>
                    <a:bodyPr/>
                    <a:lstStyle/>
                    <a:p>
                      <a:pPr algn="ctr" indent="0" marL="0">
                        <a:buNone/>
                      </a:pPr>
                      <a:r>
                        <a:rPr lang="en-US" sz="850" b="1" dirty="0">
                          <a:solidFill>
                            <a:srgbClr val="FFFFFF"/>
                          </a:solidFill>
                        </a:rPr>
                        <a:t>Product Line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FY2020A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FY2021A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FY2022A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SaaS / Subscription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$78.0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$94.3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$114.6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$131.5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$165.0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Transaction / Payment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$45.5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$50.9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$57.3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$64.5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$75.0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Print &amp; Mail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$27.6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$30.2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$34.7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$39.0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Professional Services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$11.3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$13.3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$15.4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$17.4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FFFFFF"/>
                          </a:solidFill>
                        </a:rPr>
                        <a:t>Total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$162.4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$188.7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$220.3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$248.1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$300.0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760720" y="2834640"/>
          <a:ext cx="3017520" cy="914400"/>
        </p:xfrm>
        <a:graphic>
          <a:graphicData uri="http://schemas.openxmlformats.org/drawingml/2006/table">
            <a:tbl>
              <a:tblPr/>
              <a:tblGrid>
                <a:gridCol w="1828800"/>
                <a:gridCol w="548640"/>
                <a:gridCol w="548640"/>
                <a:gridCol w="548640"/>
                <a:gridCol w="54864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YoY Revenue Growth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16.2%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16.7%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B45309"/>
                          </a:solidFill>
                        </a:rPr>
                        <a:t>12.6%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20.9%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Recurring Revenue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79%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81%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82%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NRR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1.06x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1.07x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1.08x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1.08x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EBITDA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27.0%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5" name="Text 10"/>
          <p:cNvSpPr/>
          <p:nvPr/>
        </p:nvSpPr>
        <p:spPr>
          <a:xfrm>
            <a:off x="274320" y="4681728"/>
            <a:ext cx="8412480" cy="164592"/>
          </a:xfrm>
          <a:prstGeom prst="rect">
            <a:avLst/>
          </a:prstGeom>
          <a:noFill/>
          <a:ln/>
        </p:spPr>
        <p:txBody>
          <a:bodyPr wrap="square" lIns="0" tIns="0" rIns="0" bIns="0" rtlCol="0" anchor="ctr"/>
          <a:lstStyle/>
          <a:p>
            <a:pPr indent="0" marL="0">
              <a:buNone/>
            </a:pPr>
            <a:r>
              <a:rPr lang="en-US" sz="700" i="1" dirty="0">
                <a:solidFill>
                  <a:srgbClr val="64748B"/>
                </a:solidFill>
                <a:latin typeface="Arial" pitchFamily="34" charset="0"/>
                <a:ea typeface="Arial" pitchFamily="34" charset="-122"/>
                <a:cs typeface="Arial" pitchFamily="34" charset="-120"/>
              </a:rPr>
              <a:t>Source: Morsebridge Financial Model (actuals); Assumptions sheet (FY25–26E projections)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4  |  Revenue Quality</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Recurring revenue mix and NRR both meet mandate thresholds — but Professional Services anomaly (+188% jump in FY2025E) requires management explanation.</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RECURRING REVENUE % AND NRR TREND</a:t>
            </a:r>
            <a:endParaRPr lang="en-US" sz="950" dirty="0"/>
          </a:p>
        </p:txBody>
      </p:sp>
      <p:graphicFrame>
        <p:nvGraphicFramePr>
          <p:cNvPr id="9" name="Chart 0" descr=""/>
          <p:cNvGraphicFramePr/>
          <p:nvPr/>
        </p:nvGraphicFramePr>
        <p:xfrm>
          <a:off x="274320" y="1234440"/>
          <a:ext cx="4206240" cy="18288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65760" y="3127248"/>
            <a:ext cx="45720" cy="237744"/>
          </a:xfrm>
          <a:prstGeom prst="rect">
            <a:avLst/>
          </a:prstGeom>
          <a:solidFill>
            <a:srgbClr val="2E6DB4"/>
          </a:solidFill>
          <a:ln/>
        </p:spPr>
      </p:sp>
      <p:sp>
        <p:nvSpPr>
          <p:cNvPr id="11" name="Text 8"/>
          <p:cNvSpPr/>
          <p:nvPr/>
        </p:nvSpPr>
        <p:spPr>
          <a:xfrm>
            <a:off x="502920" y="3127248"/>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REVENUE QUALITY ASSESSMENT</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3364992"/>
          <a:ext cx="5120640" cy="914400"/>
        </p:xfrm>
        <a:graphic>
          <a:graphicData uri="http://schemas.openxmlformats.org/drawingml/2006/table">
            <a:tbl>
              <a:tblPr/>
              <a:tblGrid>
                <a:gridCol w="2011680"/>
                <a:gridCol w="914400"/>
                <a:gridCol w="914400"/>
                <a:gridCol w="1280160"/>
              </a:tblGrid>
              <a:tr h="0">
                <a:tc>
                  <a:txBody>
                    <a:bodyPr/>
                    <a:lstStyle/>
                    <a:p>
                      <a:pPr algn="ctr" indent="0" marL="0">
                        <a:buNone/>
                      </a:pPr>
                      <a:r>
                        <a:rPr lang="en-US" sz="850" b="1" dirty="0">
                          <a:solidFill>
                            <a:srgbClr val="FFFFFF"/>
                          </a:solidFill>
                        </a:rPr>
                        <a:t>Dimension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Recurring Revenue Mix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81%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82%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00" b="1" dirty="0">
                          <a:solidFill>
                            <a:srgbClr val="1A7A2E"/>
                          </a:solidFill>
                        </a:rPr>
                        <a:t>STRONG — meets 80%+ threshold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NRR (Net Revenue Retention)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1.08x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1.08x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00" b="1" dirty="0">
                          <a:solidFill>
                            <a:srgbClr val="1A7A2E"/>
                          </a:solidFill>
                        </a:rPr>
                        <a:t>STRONG — stable, above 1.05x floor</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Revenue Concentration (top client)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&lt;6%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&lt;6%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00" b="1" dirty="0">
                          <a:solidFill>
                            <a:srgbClr val="1A7A2E"/>
                          </a:solidFill>
                        </a:rPr>
                        <a:t>STRONG — no single client material</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Revenue Growth Trend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45309"/>
                          </a:solidFill>
                        </a:rPr>
                        <a:t>12.6%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7A2E"/>
                          </a:solidFill>
                        </a:rPr>
                        <a:t>20.9%E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00" b="1" dirty="0">
                          <a:solidFill>
                            <a:srgbClr val="B45309"/>
                          </a:solidFill>
                        </a:rPr>
                        <a:t>ADEQUATE — some decel in FY23 recovered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Prof. Services Growth (anomaly)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$17.4M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C00000"/>
                          </a:solidFill>
                        </a:rPr>
                        <a:t>$60.3M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indent="0" marL="0">
                        <a:buNone/>
                      </a:pPr>
                      <a:r>
                        <a:rPr lang="en-US" sz="800" b="1" dirty="0">
                          <a:solidFill>
                            <a:srgbClr val="C00000"/>
                          </a:solidFill>
                        </a:rPr>
                        <a:t>[FLAG] +188% jump — not explained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bl>
          </a:graphicData>
        </a:graphic>
      </p:graphicFrame>
      <p:sp>
        <p:nvSpPr>
          <p:cNvPr id="13" name="Shape 9"/>
          <p:cNvSpPr/>
          <p:nvPr/>
        </p:nvSpPr>
        <p:spPr>
          <a:xfrm>
            <a:off x="4754880" y="960120"/>
            <a:ext cx="45720" cy="237744"/>
          </a:xfrm>
          <a:prstGeom prst="rect">
            <a:avLst/>
          </a:prstGeom>
          <a:solidFill>
            <a:srgbClr val="2E6DB4"/>
          </a:solidFill>
          <a:ln/>
        </p:spPr>
      </p:sp>
      <p:sp>
        <p:nvSpPr>
          <p:cNvPr id="14" name="Text 10"/>
          <p:cNvSpPr/>
          <p:nvPr/>
        </p:nvSpPr>
        <p:spPr>
          <a:xfrm>
            <a:off x="4892040" y="960120"/>
            <a:ext cx="352044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PROFESSIONAL SERVICES ANOMALY — DD FLAG</a:t>
            </a:r>
            <a:endParaRPr lang="en-US" sz="950" dirty="0"/>
          </a:p>
        </p:txBody>
      </p:sp>
      <p:sp>
        <p:nvSpPr>
          <p:cNvPr id="15" name="Shape 11"/>
          <p:cNvSpPr/>
          <p:nvPr/>
        </p:nvSpPr>
        <p:spPr>
          <a:xfrm>
            <a:off x="4754880" y="1234440"/>
            <a:ext cx="4023360" cy="1554480"/>
          </a:xfrm>
          <a:prstGeom prst="rect">
            <a:avLst/>
          </a:prstGeom>
          <a:solidFill>
            <a:srgbClr val="FEF2F2"/>
          </a:solidFill>
          <a:ln w="12700">
            <a:solidFill>
              <a:srgbClr val="C00000"/>
            </a:solidFill>
            <a:prstDash val="solid"/>
          </a:ln>
        </p:spPr>
      </p:sp>
      <p:sp>
        <p:nvSpPr>
          <p:cNvPr id="16" name="Shape 12"/>
          <p:cNvSpPr/>
          <p:nvPr/>
        </p:nvSpPr>
        <p:spPr>
          <a:xfrm>
            <a:off x="4754880" y="1234440"/>
            <a:ext cx="54864" cy="1554480"/>
          </a:xfrm>
          <a:prstGeom prst="rect">
            <a:avLst/>
          </a:prstGeom>
          <a:solidFill>
            <a:srgbClr val="C00000"/>
          </a:solidFill>
          <a:ln/>
        </p:spPr>
      </p:sp>
      <p:sp>
        <p:nvSpPr>
          <p:cNvPr id="17" name="Text 13"/>
          <p:cNvSpPr/>
          <p:nvPr/>
        </p:nvSpPr>
        <p:spPr>
          <a:xfrm>
            <a:off x="4864608" y="1298448"/>
            <a:ext cx="3822192" cy="219456"/>
          </a:xfrm>
          <a:prstGeom prst="rect">
            <a:avLst/>
          </a:prstGeom>
          <a:noFill/>
          <a:ln/>
        </p:spPr>
        <p:txBody>
          <a:bodyPr wrap="square" lIns="0" tIns="0" rIns="0" bIns="0" rtlCol="0" anchor="ctr"/>
          <a:lstStyle/>
          <a:p>
            <a:pPr indent="0" marL="0">
              <a:buNone/>
            </a:pPr>
            <a:r>
              <a:rPr lang="en-US" sz="950" b="1" dirty="0">
                <a:solidFill>
                  <a:srgbClr val="C00000"/>
                </a:solidFill>
                <a:latin typeface="Arial" pitchFamily="34" charset="0"/>
                <a:ea typeface="Arial" pitchFamily="34" charset="-122"/>
                <a:cs typeface="Arial" pitchFamily="34" charset="-120"/>
              </a:rPr>
              <a:t>[DD FLAG — MATERIAL]</a:t>
            </a:r>
            <a:endParaRPr lang="en-US" sz="950" dirty="0"/>
          </a:p>
        </p:txBody>
      </p:sp>
      <p:sp>
        <p:nvSpPr>
          <p:cNvPr id="18" name="Text 14"/>
          <p:cNvSpPr/>
          <p:nvPr/>
        </p:nvSpPr>
        <p:spPr>
          <a:xfrm>
            <a:off x="4864608" y="1554480"/>
            <a:ext cx="3822192" cy="1115568"/>
          </a:xfrm>
          <a:prstGeom prst="rect">
            <a:avLst/>
          </a:prstGeom>
          <a:noFill/>
          <a:ln/>
        </p:spPr>
        <p:txBody>
          <a:bodyPr wrap="square" lIns="0" tIns="0" rIns="0" bIns="0" rtlCol="0" anchor="ctr"/>
          <a:lstStyle/>
          <a:p>
            <a:pPr indent="0" marL="0">
              <a:buNone/>
            </a:pPr>
            <a:r>
              <a:rPr lang="en-US" sz="850" dirty="0">
                <a:solidFill>
                  <a:srgbClr val="7F1D1D"/>
                </a:solidFill>
                <a:latin typeface="Arial" pitchFamily="34" charset="0"/>
                <a:ea typeface="Arial" pitchFamily="34" charset="-122"/>
                <a:cs typeface="Arial" pitchFamily="34" charset="-120"/>
              </a:rPr>
              <a:t>Professional Services revenue jumps from $21.0M (FY2024E) to $60.3M (FY2025E) — a 188% increase with no corresponding note in the model. This is inconsistent with the organic growth rate implied by the Assumptions sheet (13% growth). Possible explanations: (1) Kyruus Health or TrustCommerce revenue hard-coded into this line without labelling; (2) formula error referencing wrong row; (3) one-time revenue recognised in the projections. Revenue cannot be treated as organic until management confirms the source.</a:t>
            </a:r>
            <a:endParaRPr lang="en-US" sz="850" dirty="0"/>
          </a:p>
        </p:txBody>
      </p:sp>
      <p:sp>
        <p:nvSpPr>
          <p:cNvPr id="19" name="Shape 15"/>
          <p:cNvSpPr/>
          <p:nvPr/>
        </p:nvSpPr>
        <p:spPr>
          <a:xfrm>
            <a:off x="4754880" y="2880360"/>
            <a:ext cx="45720" cy="237744"/>
          </a:xfrm>
          <a:prstGeom prst="rect">
            <a:avLst/>
          </a:prstGeom>
          <a:solidFill>
            <a:srgbClr val="2E6DB4"/>
          </a:solidFill>
          <a:ln/>
        </p:spPr>
      </p:sp>
      <p:sp>
        <p:nvSpPr>
          <p:cNvPr id="20" name="Text 16"/>
          <p:cNvSpPr/>
          <p:nvPr/>
        </p:nvSpPr>
        <p:spPr>
          <a:xfrm>
            <a:off x="4892040" y="2880360"/>
            <a:ext cx="352044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DEFERRED REVENUE TREND ($M)</a:t>
            </a:r>
            <a:endParaRPr lang="en-US" sz="950" dirty="0"/>
          </a:p>
        </p:txBody>
      </p:sp>
      <p:graphicFrame>
        <p:nvGraphicFramePr>
          <p:cNvPr id="21" name="Chart 1" descr=""/>
          <p:cNvGraphicFramePr/>
          <p:nvPr/>
        </p:nvGraphicFramePr>
        <p:xfrm>
          <a:off x="4754880" y="3127248"/>
          <a:ext cx="4023360" cy="146304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p:nvPr/>
        </p:nvSpPr>
        <p:spPr>
          <a:xfrm>
            <a:off x="4754880" y="4626864"/>
            <a:ext cx="4023360" cy="182880"/>
          </a:xfrm>
          <a:prstGeom prst="rect">
            <a:avLst/>
          </a:prstGeom>
          <a:noFill/>
          <a:ln/>
        </p:spPr>
        <p:txBody>
          <a:bodyPr wrap="square" lIns="0" tIns="0" rIns="0" bIns="0" rtlCol="0" anchor="ctr"/>
          <a:lstStyle/>
          <a:p>
            <a:pPr indent="0" marL="0">
              <a:buNone/>
            </a:pPr>
            <a:r>
              <a:rPr lang="en-US" sz="750" i="1" dirty="0">
                <a:solidFill>
                  <a:srgbClr val="1A7A2E"/>
                </a:solidFill>
                <a:latin typeface="Arial" pitchFamily="34" charset="0"/>
                <a:ea typeface="Arial" pitchFamily="34" charset="-122"/>
                <a:cs typeface="Arial" pitchFamily="34" charset="-120"/>
              </a:rPr>
              <a:t>Deferred revenue growing $14.2M → $26.2M — positive quality signal; billing in advance of revenue recognition</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5  |  Margin Analysis</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EBITDA margin expanded 395bps from FY2020–2024E — consistent improvement with clear path toward 30%+ under base case assumptions.</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GROSS MARGIN &amp; EBITDA MARGIN TREND — FY2020A TO FY2024E</a:t>
            </a:r>
            <a:endParaRPr lang="en-US" sz="950" dirty="0"/>
          </a:p>
        </p:txBody>
      </p:sp>
      <p:graphicFrame>
        <p:nvGraphicFramePr>
          <p:cNvPr id="9" name="Chart 0" descr=""/>
          <p:cNvGraphicFramePr/>
          <p:nvPr/>
        </p:nvGraphicFramePr>
        <p:xfrm>
          <a:off x="274320" y="1234440"/>
          <a:ext cx="5212080" cy="25603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274320" y="3822192"/>
            <a:ext cx="5212080" cy="182880"/>
          </a:xfrm>
          <a:prstGeom prst="rect">
            <a:avLst/>
          </a:prstGeom>
          <a:noFill/>
          <a:ln/>
        </p:spPr>
        <p:txBody>
          <a:bodyPr wrap="square" lIns="0" tIns="0" rIns="0" bIns="0" rtlCol="0" anchor="ctr"/>
          <a:lstStyle/>
          <a:p>
            <a:pPr indent="0" marL="0">
              <a:buNone/>
            </a:pPr>
            <a:r>
              <a:rPr lang="en-US" sz="750" i="1" dirty="0">
                <a:solidFill>
                  <a:srgbClr val="B45309"/>
                </a:solidFill>
                <a:latin typeface="Arial" pitchFamily="34" charset="0"/>
                <a:ea typeface="Arial" pitchFamily="34" charset="-122"/>
                <a:cs typeface="Arial" pitchFamily="34" charset="-120"/>
              </a:rPr>
              <a:t>* FY2025–26E from Assumptions sheet; IS projection rows contain formula errors</a:t>
            </a:r>
            <a:endParaRPr lang="en-US" sz="750" dirty="0"/>
          </a:p>
        </p:txBody>
      </p:sp>
      <p:sp>
        <p:nvSpPr>
          <p:cNvPr id="11" name="Shape 8"/>
          <p:cNvSpPr/>
          <p:nvPr/>
        </p:nvSpPr>
        <p:spPr>
          <a:xfrm>
            <a:off x="365760" y="960120"/>
            <a:ext cx="45720" cy="237744"/>
          </a:xfrm>
          <a:prstGeom prst="rect">
            <a:avLst/>
          </a:prstGeom>
          <a:solidFill>
            <a:srgbClr val="2E6DB4"/>
          </a:solidFill>
          <a:ln/>
        </p:spPr>
      </p:sp>
      <p:sp>
        <p:nvSpPr>
          <p:cNvPr id="12" name="Text 9"/>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MARGIN SUMMARY</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0" y="1234440"/>
          <a:ext cx="3154680" cy="914400"/>
        </p:xfrm>
        <a:graphic>
          <a:graphicData uri="http://schemas.openxmlformats.org/drawingml/2006/table">
            <a:tbl>
              <a:tblPr/>
              <a:tblGrid>
                <a:gridCol w="1005840"/>
                <a:gridCol w="822960"/>
                <a:gridCol w="731520"/>
                <a:gridCol w="822960"/>
                <a:gridCol w="731520"/>
              </a:tblGrid>
              <a:tr h="0">
                <a:tc>
                  <a:txBody>
                    <a:bodyPr/>
                    <a:lstStyle/>
                    <a:p>
                      <a:pPr algn="ctr" indent="0" marL="0">
                        <a:buNone/>
                      </a:pPr>
                      <a:r>
                        <a:rPr lang="en-US" sz="850" b="1" dirty="0">
                          <a:solidFill>
                            <a:srgbClr val="FFFFFF"/>
                          </a:solidFill>
                        </a:rPr>
                        <a:t>Period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Gross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EBITDA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FY2020A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$162.4M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50.0%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$38.2M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FY2021A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$188.7M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51.0%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$47.2M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FY2022A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$220.3M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$57.3M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FY2023A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$248.1M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52.5%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$67.0M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27.0%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E293B"/>
                          </a:solidFill>
                        </a:rPr>
                        <a:t>$300.0M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53.0%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E293B"/>
                          </a:solidFill>
                        </a:rPr>
                        <a:t>$82.5M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2E6DB4"/>
                          </a:solidFill>
                        </a:rPr>
                        <a:t>FY2025E*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1E293B"/>
                          </a:solidFill>
                        </a:rPr>
                        <a:t>$336M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2E6DB4"/>
                          </a:solidFill>
                        </a:rPr>
                        <a:t>53.5%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1E293B"/>
                          </a:solidFill>
                        </a:rPr>
                        <a:t>$91.4M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2E6DB4"/>
                          </a:solidFill>
                        </a:rPr>
                        <a:t>27.2%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r>
              <a:tr h="0">
                <a:tc>
                  <a:txBody>
                    <a:bodyPr/>
                    <a:lstStyle/>
                    <a:p>
                      <a:pPr algn="l" indent="0" marL="0">
                        <a:buNone/>
                      </a:pPr>
                      <a:r>
                        <a:rPr lang="en-US" sz="850" b="1" dirty="0">
                          <a:solidFill>
                            <a:srgbClr val="2E6DB4"/>
                          </a:solidFill>
                        </a:rPr>
                        <a:t>FY2026E*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1E293B"/>
                          </a:solidFill>
                        </a:rPr>
                        <a:t>$379.7M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2E6DB4"/>
                          </a:solidFill>
                        </a:rPr>
                        <a:t>54.0%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1E293B"/>
                          </a:solidFill>
                        </a:rPr>
                        <a:t>$104.4M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c>
                  <a:txBody>
                    <a:bodyPr/>
                    <a:lstStyle/>
                    <a:p>
                      <a:pPr algn="ctr" indent="0" marL="0">
                        <a:buNone/>
                      </a:pPr>
                      <a:r>
                        <a:rPr lang="en-US" sz="850" dirty="0">
                          <a:solidFill>
                            <a:srgbClr val="2E6DB4"/>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BF4FF"/>
                    </a:solidFill>
                  </a:tcPr>
                </a:tc>
              </a:tr>
            </a:tbl>
          </a:graphicData>
        </a:graphic>
      </p:graphicFrame>
      <p:sp>
        <p:nvSpPr>
          <p:cNvPr id="14" name="Shape 10"/>
          <p:cNvSpPr/>
          <p:nvPr/>
        </p:nvSpPr>
        <p:spPr>
          <a:xfrm>
            <a:off x="365760" y="3273552"/>
            <a:ext cx="45720" cy="237744"/>
          </a:xfrm>
          <a:prstGeom prst="rect">
            <a:avLst/>
          </a:prstGeom>
          <a:solidFill>
            <a:srgbClr val="2E6DB4"/>
          </a:solidFill>
          <a:ln/>
        </p:spPr>
      </p:sp>
      <p:sp>
        <p:nvSpPr>
          <p:cNvPr id="15" name="Text 11"/>
          <p:cNvSpPr/>
          <p:nvPr/>
        </p:nvSpPr>
        <p:spPr>
          <a:xfrm>
            <a:off x="502920" y="3273552"/>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EBITDA MARGIN vs. PUBLIC HCIT COMPS</a:t>
            </a:r>
            <a:endParaRPr lang="en-US" sz="9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669280" y="3511296"/>
          <a:ext cx="3154680" cy="914400"/>
        </p:xfrm>
        <a:graphic>
          <a:graphicData uri="http://schemas.openxmlformats.org/drawingml/2006/table">
            <a:tbl>
              <a:tblPr/>
              <a:tblGrid>
                <a:gridCol w="1371600"/>
                <a:gridCol w="1097280"/>
                <a:gridCol w="731520"/>
              </a:tblGrid>
              <a:tr h="0">
                <a:tc>
                  <a:txBody>
                    <a:bodyPr/>
                    <a:lstStyle/>
                    <a:p>
                      <a:pPr algn="ctr" indent="0" marL="0">
                        <a:buNone/>
                      </a:pPr>
                      <a:r>
                        <a:rPr lang="en-US" sz="850" b="1" dirty="0">
                          <a:solidFill>
                            <a:srgbClr val="FFFFFF"/>
                          </a:solidFill>
                        </a:rPr>
                        <a:t>Company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Sector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EBITDA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Waystar (WAY)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RCM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28–30%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RevSpring (FY24E)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E293B"/>
                          </a:solidFill>
                        </a:rPr>
                        <a:t>Pt. Engagement/RCM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Inovalon (pre-acq.)</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HCIT Analytics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24–26%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R1 RCM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RCM Services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B45309"/>
                          </a:solidFill>
                        </a:rPr>
                        <a:t>14–17%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7" name="Text 12"/>
          <p:cNvSpPr/>
          <p:nvPr/>
        </p:nvSpPr>
        <p:spPr>
          <a:xfrm>
            <a:off x="274320" y="4681728"/>
            <a:ext cx="8412480" cy="164592"/>
          </a:xfrm>
          <a:prstGeom prst="rect">
            <a:avLst/>
          </a:prstGeom>
          <a:noFill/>
          <a:ln/>
        </p:spPr>
        <p:txBody>
          <a:bodyPr wrap="square" lIns="0" tIns="0" rIns="0" bIns="0" rtlCol="0" anchor="ctr"/>
          <a:lstStyle/>
          <a:p>
            <a:pPr indent="0" marL="0">
              <a:buNone/>
            </a:pPr>
            <a:r>
              <a:rPr lang="en-US" sz="700" i="1" dirty="0">
                <a:solidFill>
                  <a:srgbClr val="64748B"/>
                </a:solidFill>
                <a:latin typeface="Arial" pitchFamily="34" charset="0"/>
                <a:ea typeface="Arial" pitchFamily="34" charset="-122"/>
                <a:cs typeface="Arial" pitchFamily="34" charset="-120"/>
              </a:rPr>
              <a:t>Source: CIM (RevSpring); public filings (comps). * FY25–26E from Assumptions sheet.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6  |  Cost Structure &amp; Working Capital</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OpEx ratios are stable and capex intensity is declining — but G&amp;A formula error in projection years makes cost structure analysis unreliable beyond FY2024E.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COST STRUCTURE — FY2020A TO FY2024E ($M)</a:t>
            </a:r>
            <a:endParaRPr lang="en-US" sz="950" dirty="0"/>
          </a:p>
        </p:txBody>
      </p:sp>
      <p:graphicFrame>
        <p:nvGraphicFramePr>
          <p:cNvPr id="9" name="Chart 0" descr=""/>
          <p:cNvGraphicFramePr/>
          <p:nvPr/>
        </p:nvGraphicFramePr>
        <p:xfrm>
          <a:off x="274320" y="1234440"/>
          <a:ext cx="502920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274320" y="3566160"/>
            <a:ext cx="5029200" cy="475488"/>
          </a:xfrm>
          <a:prstGeom prst="rect">
            <a:avLst/>
          </a:prstGeom>
          <a:solidFill>
            <a:srgbClr val="FEF2F2"/>
          </a:solidFill>
          <a:ln w="9525">
            <a:solidFill>
              <a:srgbClr val="C00000"/>
            </a:solidFill>
            <a:prstDash val="solid"/>
          </a:ln>
        </p:spPr>
      </p:sp>
      <p:sp>
        <p:nvSpPr>
          <p:cNvPr id="11" name="Text 8"/>
          <p:cNvSpPr/>
          <p:nvPr/>
        </p:nvSpPr>
        <p:spPr>
          <a:xfrm>
            <a:off x="347472" y="3602736"/>
            <a:ext cx="4901184" cy="402336"/>
          </a:xfrm>
          <a:prstGeom prst="rect">
            <a:avLst/>
          </a:prstGeom>
          <a:noFill/>
          <a:ln/>
        </p:spPr>
        <p:txBody>
          <a:bodyPr wrap="square" lIns="0" tIns="0" rIns="0" bIns="0" rtlCol="0" anchor="ctr"/>
          <a:lstStyle/>
          <a:p>
            <a:pPr indent="0" marL="0">
              <a:buNone/>
            </a:pPr>
            <a:r>
              <a:rPr lang="en-US" sz="800" dirty="0">
                <a:solidFill>
                  <a:srgbClr val="7F1D1D"/>
                </a:solidFill>
                <a:latin typeface="Arial" pitchFamily="34" charset="0"/>
                <a:ea typeface="Arial" pitchFamily="34" charset="-122"/>
                <a:cs typeface="Arial" pitchFamily="34" charset="-120"/>
              </a:rPr>
              <a:t>[DD FLAG]  G&amp;A formula is negative in FY2025E (−$44.1M) and FY2026E (−$67.6M). Total OpEx = $0 in both years, causing EBITDA = Gross Profit. Model must be corrected before projection cost analysis can proceed.</a:t>
            </a:r>
            <a:endParaRPr lang="en-US" sz="800" dirty="0"/>
          </a:p>
        </p:txBody>
      </p:sp>
      <p:sp>
        <p:nvSpPr>
          <p:cNvPr id="12" name="Shape 9"/>
          <p:cNvSpPr/>
          <p:nvPr/>
        </p:nvSpPr>
        <p:spPr>
          <a:xfrm>
            <a:off x="365760" y="960120"/>
            <a:ext cx="45720" cy="237744"/>
          </a:xfrm>
          <a:prstGeom prst="rect">
            <a:avLst/>
          </a:prstGeom>
          <a:solidFill>
            <a:srgbClr val="2E6DB4"/>
          </a:solidFill>
          <a:ln/>
        </p:spPr>
      </p:sp>
      <p:sp>
        <p:nvSpPr>
          <p:cNvPr id="13" name="Text 10"/>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WORKING CAPITAL &amp; CAPEX METRICS</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40680" y="1234440"/>
          <a:ext cx="3383280" cy="914400"/>
        </p:xfrm>
        <a:graphic>
          <a:graphicData uri="http://schemas.openxmlformats.org/drawingml/2006/table">
            <a:tbl>
              <a:tblPr/>
              <a:tblGrid>
                <a:gridCol w="1645920"/>
                <a:gridCol w="640080"/>
                <a:gridCol w="640080"/>
                <a:gridCol w="640080"/>
                <a:gridCol w="64008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FY2021A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FY2022A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FY2023A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FY2024E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NWC %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5.2%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DSO (AR/Revenue×365)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43.7d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43.8d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43.8d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43.8d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Deferred Revenue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$16.5M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$19.3M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$21.7M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$26.2M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Capex %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7A2E"/>
                          </a:solidFill>
                        </a:rPr>
                        <a:t>3.6%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Cash from Operations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$24.0M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$31.6M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$38.6M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$51.0M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Unlevered FCF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$16.5M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$23.2M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$29.2M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$40.2M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5" name="Shape 11"/>
          <p:cNvSpPr/>
          <p:nvPr/>
        </p:nvSpPr>
        <p:spPr>
          <a:xfrm>
            <a:off x="365760" y="3310128"/>
            <a:ext cx="45720" cy="237744"/>
          </a:xfrm>
          <a:prstGeom prst="rect">
            <a:avLst/>
          </a:prstGeom>
          <a:solidFill>
            <a:srgbClr val="2E6DB4"/>
          </a:solidFill>
          <a:ln/>
        </p:spPr>
      </p:sp>
      <p:sp>
        <p:nvSpPr>
          <p:cNvPr id="16" name="Text 12"/>
          <p:cNvSpPr/>
          <p:nvPr/>
        </p:nvSpPr>
        <p:spPr>
          <a:xfrm>
            <a:off x="502920" y="3310128"/>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WORKING CAPITAL OBSERVATIONS</a:t>
            </a:r>
            <a:endParaRPr lang="en-US" sz="950" dirty="0"/>
          </a:p>
        </p:txBody>
      </p:sp>
      <p:sp>
        <p:nvSpPr>
          <p:cNvPr id="17" name="Shape 13"/>
          <p:cNvSpPr/>
          <p:nvPr/>
        </p:nvSpPr>
        <p:spPr>
          <a:xfrm>
            <a:off x="5440680" y="3547872"/>
            <a:ext cx="182880" cy="201168"/>
          </a:xfrm>
          <a:prstGeom prst="rect">
            <a:avLst/>
          </a:prstGeom>
          <a:solidFill>
            <a:srgbClr val="2E6DB4"/>
          </a:solidFill>
          <a:ln/>
        </p:spPr>
      </p:sp>
      <p:sp>
        <p:nvSpPr>
          <p:cNvPr id="18" name="Text 14"/>
          <p:cNvSpPr/>
          <p:nvPr/>
        </p:nvSpPr>
        <p:spPr>
          <a:xfrm>
            <a:off x="5687568" y="3547872"/>
            <a:ext cx="3090672" cy="201168"/>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DSO stable at 43–44 days across all periods — no deterioration in collections cycle.</a:t>
            </a:r>
            <a:endParaRPr lang="en-US" sz="850" dirty="0"/>
          </a:p>
        </p:txBody>
      </p:sp>
      <p:sp>
        <p:nvSpPr>
          <p:cNvPr id="19" name="Shape 15"/>
          <p:cNvSpPr/>
          <p:nvPr/>
        </p:nvSpPr>
        <p:spPr>
          <a:xfrm>
            <a:off x="5440680" y="3803904"/>
            <a:ext cx="182880" cy="201168"/>
          </a:xfrm>
          <a:prstGeom prst="rect">
            <a:avLst/>
          </a:prstGeom>
          <a:solidFill>
            <a:srgbClr val="2E6DB4"/>
          </a:solidFill>
          <a:ln/>
        </p:spPr>
      </p:sp>
      <p:sp>
        <p:nvSpPr>
          <p:cNvPr id="20" name="Text 16"/>
          <p:cNvSpPr/>
          <p:nvPr/>
        </p:nvSpPr>
        <p:spPr>
          <a:xfrm>
            <a:off x="5687568" y="3803904"/>
            <a:ext cx="3090672" cy="201168"/>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NWC as % of revenue declining (6.0% → 5.2%), indicating improving cash conversion.</a:t>
            </a:r>
            <a:endParaRPr lang="en-US" sz="850" dirty="0"/>
          </a:p>
        </p:txBody>
      </p:sp>
      <p:sp>
        <p:nvSpPr>
          <p:cNvPr id="21" name="Shape 17"/>
          <p:cNvSpPr/>
          <p:nvPr/>
        </p:nvSpPr>
        <p:spPr>
          <a:xfrm>
            <a:off x="5440680" y="4059936"/>
            <a:ext cx="182880" cy="201168"/>
          </a:xfrm>
          <a:prstGeom prst="rect">
            <a:avLst/>
          </a:prstGeom>
          <a:solidFill>
            <a:srgbClr val="2E6DB4"/>
          </a:solidFill>
          <a:ln/>
        </p:spPr>
      </p:sp>
      <p:sp>
        <p:nvSpPr>
          <p:cNvPr id="22" name="Text 18"/>
          <p:cNvSpPr/>
          <p:nvPr/>
        </p:nvSpPr>
        <p:spPr>
          <a:xfrm>
            <a:off x="5687568" y="4059936"/>
            <a:ext cx="3090672" cy="201168"/>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Deferred revenue growing consistently — positive billing-in-advance quality indicator.</a:t>
            </a:r>
            <a:endParaRPr lang="en-US" sz="850" dirty="0"/>
          </a:p>
        </p:txBody>
      </p:sp>
      <p:sp>
        <p:nvSpPr>
          <p:cNvPr id="23" name="Shape 19"/>
          <p:cNvSpPr/>
          <p:nvPr/>
        </p:nvSpPr>
        <p:spPr>
          <a:xfrm>
            <a:off x="5440680" y="4315968"/>
            <a:ext cx="182880" cy="201168"/>
          </a:xfrm>
          <a:prstGeom prst="rect">
            <a:avLst/>
          </a:prstGeom>
          <a:solidFill>
            <a:srgbClr val="2E6DB4"/>
          </a:solidFill>
          <a:ln/>
        </p:spPr>
      </p:sp>
      <p:sp>
        <p:nvSpPr>
          <p:cNvPr id="24" name="Text 20"/>
          <p:cNvSpPr/>
          <p:nvPr/>
        </p:nvSpPr>
        <p:spPr>
          <a:xfrm>
            <a:off x="5687568" y="4315968"/>
            <a:ext cx="3090672" cy="201168"/>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Capex intensity declining (4.0% → 3.6%) — software capitalization ratio improving.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7  |  Debt Structure</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Entry leverage of 4.3x is within acceptable range — but bear case covenant headroom needs confirmation once model formula errors are corrected.</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DEBT TRANCHE SUMMARY</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828800"/>
                <a:gridCol w="822960"/>
                <a:gridCol w="822960"/>
                <a:gridCol w="822960"/>
                <a:gridCol w="822960"/>
              </a:tblGrid>
              <a:tr h="0">
                <a:tc>
                  <a:txBody>
                    <a:bodyPr/>
                    <a:lstStyle/>
                    <a:p>
                      <a:pPr algn="ctr" indent="0" marL="0">
                        <a:buNone/>
                      </a:pPr>
                      <a:r>
                        <a:rPr lang="en-US" sz="850" b="1" dirty="0">
                          <a:solidFill>
                            <a:srgbClr val="FFFFFF"/>
                          </a:solidFill>
                        </a:rPr>
                        <a:t>Tranche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Balance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Interest Rate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Structure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Maturity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Senior Secured Term Loan 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$235M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SOFR + 4.50%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TLB, 1% annual amort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~2030E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Revolving Credit Facility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$0M (undrawn)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SOFR + 4.25%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Revolving — undrawn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~2029E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Second Lien / Mezzanine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$71M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SOFR + 8.25%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Second lien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~2031E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FFFFFF"/>
                          </a:solidFill>
                        </a:rPr>
                        <a:t>Total Debt at Close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$306M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Blended ~6.1%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indent="0" marL="0">
                        <a:buNone/>
                      </a:pP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indent="0" marL="0">
                        <a:buNone/>
                      </a:pP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bl>
          </a:graphicData>
        </a:graphic>
      </p:graphicFrame>
      <p:sp>
        <p:nvSpPr>
          <p:cNvPr id="10" name="Shape 7"/>
          <p:cNvSpPr/>
          <p:nvPr/>
        </p:nvSpPr>
        <p:spPr>
          <a:xfrm>
            <a:off x="365760" y="2432304"/>
            <a:ext cx="45720" cy="237744"/>
          </a:xfrm>
          <a:prstGeom prst="rect">
            <a:avLst/>
          </a:prstGeom>
          <a:solidFill>
            <a:srgbClr val="2E6DB4"/>
          </a:solidFill>
          <a:ln/>
        </p:spPr>
      </p:sp>
      <p:sp>
        <p:nvSpPr>
          <p:cNvPr id="11" name="Text 8"/>
          <p:cNvSpPr/>
          <p:nvPr/>
        </p:nvSpPr>
        <p:spPr>
          <a:xfrm>
            <a:off x="502920" y="2432304"/>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NET DEBT / EBITDA — HISTORICAL AND PROJECTED (BASE CASE)</a:t>
            </a:r>
            <a:endParaRPr lang="en-US" sz="950" dirty="0"/>
          </a:p>
        </p:txBody>
      </p:sp>
      <p:graphicFrame>
        <p:nvGraphicFramePr>
          <p:cNvPr id="12" name="Chart 0" descr=""/>
          <p:cNvGraphicFramePr/>
          <p:nvPr/>
        </p:nvGraphicFramePr>
        <p:xfrm>
          <a:off x="365760" y="2670048"/>
          <a:ext cx="4754880" cy="18288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365760" y="4535424"/>
            <a:ext cx="4754880" cy="182880"/>
          </a:xfrm>
          <a:prstGeom prst="rect">
            <a:avLst/>
          </a:prstGeom>
          <a:noFill/>
          <a:ln/>
        </p:spPr>
        <p:txBody>
          <a:bodyPr wrap="square" lIns="0" tIns="0" rIns="0" bIns="0" rtlCol="0" anchor="ctr"/>
          <a:lstStyle/>
          <a:p>
            <a:pPr indent="0" marL="0">
              <a:buNone/>
            </a:pPr>
            <a:r>
              <a:rPr lang="en-US" sz="750" i="1" dirty="0">
                <a:solidFill>
                  <a:srgbClr val="B45309"/>
                </a:solidFill>
                <a:latin typeface="Arial" pitchFamily="34" charset="0"/>
                <a:ea typeface="Arial" pitchFamily="34" charset="-122"/>
                <a:cs typeface="Arial" pitchFamily="34" charset="-120"/>
              </a:rPr>
              <a:t>* FY25–26E leverage uses corrected EBITDA from Assumptions sheet. Covenant limit: 6.5x.</a:t>
            </a:r>
            <a:endParaRPr lang="en-US" sz="750" dirty="0"/>
          </a:p>
        </p:txBody>
      </p:sp>
      <p:sp>
        <p:nvSpPr>
          <p:cNvPr id="14" name="Shape 10"/>
          <p:cNvSpPr/>
          <p:nvPr/>
        </p:nvSpPr>
        <p:spPr>
          <a:xfrm>
            <a:off x="365760" y="2432304"/>
            <a:ext cx="45720" cy="237744"/>
          </a:xfrm>
          <a:prstGeom prst="rect">
            <a:avLst/>
          </a:prstGeom>
          <a:solidFill>
            <a:srgbClr val="2E6DB4"/>
          </a:solidFill>
          <a:ln/>
        </p:spPr>
      </p:sp>
      <p:sp>
        <p:nvSpPr>
          <p:cNvPr id="15" name="Text 11"/>
          <p:cNvSpPr/>
          <p:nvPr/>
        </p:nvSpPr>
        <p:spPr>
          <a:xfrm>
            <a:off x="502920" y="2432304"/>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COVENANT HEADROOM ANALYSIS</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212080" y="2670048"/>
          <a:ext cx="3566160" cy="914400"/>
        </p:xfrm>
        <a:graphic>
          <a:graphicData uri="http://schemas.openxmlformats.org/drawingml/2006/table">
            <a:tbl>
              <a:tblPr/>
              <a:tblGrid>
                <a:gridCol w="1463040"/>
                <a:gridCol w="914400"/>
                <a:gridCol w="731520"/>
                <a:gridCol w="822960"/>
              </a:tblGrid>
              <a:tr h="0">
                <a:tc>
                  <a:txBody>
                    <a:bodyPr/>
                    <a:lstStyle/>
                    <a:p>
                      <a:pPr algn="ctr" indent="0" marL="0">
                        <a:buNone/>
                      </a:pPr>
                      <a:r>
                        <a:rPr lang="en-US" sz="850" b="1" dirty="0">
                          <a:solidFill>
                            <a:srgbClr val="FFFFFF"/>
                          </a:solidFill>
                        </a:rPr>
                        <a:t>Scenario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FY2025E 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Net Debt/EBITDA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vs. 6.5x limit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7F1D1D"/>
                          </a:solidFill>
                        </a:rPr>
                        <a:t>Bear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1E293B"/>
                          </a:solidFill>
                        </a:rPr>
                        <a:t>$84.2M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1A7A2E"/>
                          </a:solidFill>
                        </a:rPr>
                        <a:t>3.21x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b="1" dirty="0">
                          <a:solidFill>
                            <a:srgbClr val="1A7A2E"/>
                          </a:solidFill>
                        </a:rPr>
                        <a:t>+3.29x headroom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A5C2A"/>
                          </a:solidFill>
                        </a:rPr>
                        <a:t>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E293B"/>
                          </a:solidFill>
                        </a:rPr>
                        <a:t>$91.4M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2.95x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b="1" dirty="0">
                          <a:solidFill>
                            <a:srgbClr val="1A7A2E"/>
                          </a:solidFill>
                        </a:rPr>
                        <a:t>+3.55x headroom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A5C2A"/>
                          </a:solidFill>
                        </a:rPr>
                        <a:t>Bull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E293B"/>
                          </a:solidFill>
                        </a:rPr>
                        <a:t>$97.4M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2.77x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b="1" dirty="0">
                          <a:solidFill>
                            <a:srgbClr val="1A7A2E"/>
                          </a:solidFill>
                        </a:rPr>
                        <a:t>+3.73x headroom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bl>
          </a:graphicData>
        </a:graphic>
      </p:graphicFrame>
      <p:sp>
        <p:nvSpPr>
          <p:cNvPr id="17" name="Text 12"/>
          <p:cNvSpPr/>
          <p:nvPr/>
        </p:nvSpPr>
        <p:spPr>
          <a:xfrm>
            <a:off x="5212080" y="3529584"/>
            <a:ext cx="3566160" cy="475488"/>
          </a:xfrm>
          <a:prstGeom prst="rect">
            <a:avLst/>
          </a:prstGeom>
          <a:noFill/>
          <a:ln/>
        </p:spPr>
        <p:txBody>
          <a:bodyPr wrap="square" lIns="0" tIns="0" rIns="0" bIns="0" rtlCol="0" anchor="ctr"/>
          <a:lstStyle/>
          <a:p>
            <a:pPr indent="0" marL="0">
              <a:buNone/>
            </a:pPr>
            <a:r>
              <a:rPr lang="en-US" sz="750" i="1" dirty="0">
                <a:solidFill>
                  <a:srgbClr val="B45309"/>
                </a:solidFill>
                <a:latin typeface="Arial" pitchFamily="34" charset="0"/>
                <a:ea typeface="Arial" pitchFamily="34" charset="-122"/>
                <a:cs typeface="Arial" pitchFamily="34" charset="-120"/>
              </a:rPr>
              <a:t>Note: FY2020A model shows 7.56x leverage — breach of 6.5x covenant limit. This pre-dates Frazier entry and is a GTCR-era balance. Entry leverage at acquisition close (March 2024) is 4.3x.</a:t>
            </a:r>
            <a:endParaRPr lang="en-US" sz="750" dirty="0"/>
          </a:p>
        </p:txBody>
      </p:sp>
      <p:sp>
        <p:nvSpPr>
          <p:cNvPr id="18" name="Text 13"/>
          <p:cNvSpPr/>
          <p:nvPr/>
        </p:nvSpPr>
        <p:spPr>
          <a:xfrm>
            <a:off x="5212080" y="4078224"/>
            <a:ext cx="3566160" cy="274320"/>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Interest Coverage (FY2023A): $67.0M EBITDA / $22.4M interest = 3.0x — adequate (2.5–3.9x band)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8  |  Scenario Analysis</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Base case projects $91.4M EBITDA by FY2025E — a 10.8% increase from FY2024E — but bear case growth of 8% still delivers adequate covenant coverage.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BEAR / BASE / BULL PROJECTIONS — FY2025E AND FY2026E (CORRECTED FROM ASSUMPTIONS SHEET)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194560"/>
                <a:gridCol w="640080"/>
                <a:gridCol w="640080"/>
                <a:gridCol w="640080"/>
                <a:gridCol w="640080"/>
                <a:gridCol w="640080"/>
                <a:gridCol w="64008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Bear FY25E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FY25E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Bull FY25E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Bear FY26E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FY26E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Bull FY26E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Revenue Growth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Revenue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$336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$348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$404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EBITDA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27.2%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26.2%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27.5%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28.5%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EBITDA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45309"/>
                          </a:solidFill>
                        </a:rPr>
                        <a:t>$84.2M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$91.4M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$97.4M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B45309"/>
                          </a:solidFill>
                        </a:rPr>
                        <a:t>$91.7M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$104.4M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$115.1M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Gross Margin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53.5%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54.5%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53.0%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54.0%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55.0%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Net Debt / 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7A2E"/>
                          </a:solidFill>
                        </a:rPr>
                        <a:t>3.21x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2.95x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2.77x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2.94x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2.58x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2.33x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bl>
          </a:graphicData>
        </a:graphic>
      </p:graphicFrame>
      <p:sp>
        <p:nvSpPr>
          <p:cNvPr id="10" name="Shape 7"/>
          <p:cNvSpPr/>
          <p:nvPr/>
        </p:nvSpPr>
        <p:spPr>
          <a:xfrm>
            <a:off x="365760" y="2926080"/>
            <a:ext cx="8412480" cy="475488"/>
          </a:xfrm>
          <a:prstGeom prst="rect">
            <a:avLst/>
          </a:prstGeom>
          <a:solidFill>
            <a:srgbClr val="EBF4FF"/>
          </a:solidFill>
          <a:ln w="6350">
            <a:solidFill>
              <a:srgbClr val="2E6DB4"/>
            </a:solidFill>
            <a:prstDash val="solid"/>
          </a:ln>
        </p:spPr>
      </p:sp>
      <p:sp>
        <p:nvSpPr>
          <p:cNvPr id="11" name="Text 8"/>
          <p:cNvSpPr/>
          <p:nvPr/>
        </p:nvSpPr>
        <p:spPr>
          <a:xfrm>
            <a:off x="475488" y="2962656"/>
            <a:ext cx="8229600" cy="402336"/>
          </a:xfrm>
          <a:prstGeom prst="rect">
            <a:avLst/>
          </a:prstGeom>
          <a:noFill/>
          <a:ln/>
        </p:spPr>
        <p:txBody>
          <a:bodyPr wrap="square" lIns="0" tIns="0" rIns="0" bIns="0" rtlCol="0" anchor="ctr"/>
          <a:lstStyle/>
          <a:p>
            <a:pPr indent="0" marL="0">
              <a:buNone/>
            </a:pPr>
            <a:r>
              <a:rPr lang="en-US" sz="850" dirty="0">
                <a:solidFill>
                  <a:srgbClr val="1E40AF"/>
                </a:solidFill>
                <a:latin typeface="Arial" pitchFamily="34" charset="0"/>
                <a:ea typeface="Arial" pitchFamily="34" charset="-122"/>
                <a:cs typeface="Arial" pitchFamily="34" charset="-120"/>
              </a:rPr>
              <a:t>Key assumptions (from model): Bear revenue growth 8%/8% | Base 12%/13% | Bull 16%/16%. EBITDA margin: Bear 26.0%/26.2% | Base 27.2%/27.5% | Bull 28.0%/28.5%. Note: These are Morsebridge recalculations using the Assumptions sheet — the Income Statement projection rows contain formula errors and cannot be relied upon.</a:t>
            </a:r>
            <a:endParaRPr lang="en-US" sz="850" dirty="0"/>
          </a:p>
        </p:txBody>
      </p:sp>
      <p:sp>
        <p:nvSpPr>
          <p:cNvPr id="12" name="Shape 9"/>
          <p:cNvSpPr/>
          <p:nvPr/>
        </p:nvSpPr>
        <p:spPr>
          <a:xfrm>
            <a:off x="365760" y="3511296"/>
            <a:ext cx="45720" cy="237744"/>
          </a:xfrm>
          <a:prstGeom prst="rect">
            <a:avLst/>
          </a:prstGeom>
          <a:solidFill>
            <a:srgbClr val="2E6DB4"/>
          </a:solidFill>
          <a:ln/>
        </p:spPr>
      </p:sp>
      <p:sp>
        <p:nvSpPr>
          <p:cNvPr id="13" name="Text 10"/>
          <p:cNvSpPr/>
          <p:nvPr/>
        </p:nvSpPr>
        <p:spPr>
          <a:xfrm>
            <a:off x="502920" y="3511296"/>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UNLEVERED FCF ESTIMATE — BASE CASE</a:t>
            </a:r>
            <a:endParaRPr lang="en-US" sz="9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65760" y="3749040"/>
          <a:ext cx="5303520" cy="914400"/>
        </p:xfrm>
        <a:graphic>
          <a:graphicData uri="http://schemas.openxmlformats.org/drawingml/2006/table">
            <a:tbl>
              <a:tblPr/>
              <a:tblGrid>
                <a:gridCol w="2377440"/>
                <a:gridCol w="1463040"/>
                <a:gridCol w="1463040"/>
              </a:tblGrid>
              <a:tr h="0">
                <a:tc>
                  <a:txBody>
                    <a:bodyPr/>
                    <a:lstStyle/>
                    <a:p>
                      <a:pPr algn="ctr" indent="0" marL="0">
                        <a:buNone/>
                      </a:pPr>
                      <a:r>
                        <a:rPr lang="en-US" sz="850" b="1" dirty="0">
                          <a:solidFill>
                            <a:srgbClr val="FFFFFF"/>
                          </a:solidFill>
                        </a:rPr>
                        <a:t>Item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FY2025E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FY2026E (Base)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$91.4M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A7A2E"/>
                          </a:solidFill>
                        </a:rPr>
                        <a:t>$104.4M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Less: D&amp;A (~8.2% of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($27.6M)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($31.1M)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Less: Capex (~3.5% of revenue)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($13.3M)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Less: NWC change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($4.8M)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FFFFFF"/>
                          </a:solidFill>
                        </a:rPr>
                        <a:t>Unlevered FCF (Est.)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950" b="1" dirty="0">
                          <a:solidFill>
                            <a:srgbClr val="FFFFFF"/>
                          </a:solidFill>
                        </a:rPr>
                        <a:t>~$47.8M</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7A2E"/>
                    </a:solidFill>
                  </a:tcPr>
                </a:tc>
                <a:tc>
                  <a:txBody>
                    <a:bodyPr/>
                    <a:lstStyle/>
                    <a:p>
                      <a:pPr algn="ctr" indent="0" marL="0">
                        <a:buNone/>
                      </a:pPr>
                      <a:r>
                        <a:rPr lang="en-US" sz="950" b="1" dirty="0">
                          <a:solidFill>
                            <a:srgbClr val="FFFFFF"/>
                          </a:solidFill>
                        </a:rPr>
                        <a:t>~$55.2M</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7A2E"/>
                    </a:solidFill>
                  </a:tcPr>
                </a:tc>
              </a:tr>
            </a:tbl>
          </a:graphicData>
        </a:graphic>
      </p:graphicFrame>
      <p:sp>
        <p:nvSpPr>
          <p:cNvPr id="15" name="Text 11"/>
          <p:cNvSpPr/>
          <p:nvPr/>
        </p:nvSpPr>
        <p:spPr>
          <a:xfrm>
            <a:off x="5806440" y="3749040"/>
            <a:ext cx="2926080" cy="548640"/>
          </a:xfrm>
          <a:prstGeom prst="rect">
            <a:avLst/>
          </a:prstGeom>
          <a:noFill/>
          <a:ln/>
        </p:spPr>
        <p:txBody>
          <a:bodyPr wrap="square" lIns="0" tIns="0" rIns="0" bIns="0" rtlCol="0" anchor="ctr"/>
          <a:lstStyle/>
          <a:p>
            <a:pPr indent="0" marL="0">
              <a:buNone/>
            </a:pPr>
            <a:r>
              <a:rPr lang="en-US" sz="950" b="1" dirty="0">
                <a:solidFill>
                  <a:srgbClr val="1A7A2E"/>
                </a:solidFill>
                <a:latin typeface="Arial" pitchFamily="34" charset="0"/>
                <a:ea typeface="Arial" pitchFamily="34" charset="-122"/>
                <a:cs typeface="Arial" pitchFamily="34" charset="-120"/>
              </a:rPr>
              <a:t>FCF positive in both projected years — no hard gate on FCF negativity. Cash conversion rate ~52% (FCF/EBITDA).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9  |  LBO Returns</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Hard gate triggered: bear case IRR = 14% &lt; 15% threshold. MOIC sensitivity table implies base case MOIC of ~1.52x — inconsistent with stated 2.6x in main returns table.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LBO RETURNS — MODEL OUTPUT (5-YEAR HOLD)</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120640" cy="914400"/>
        </p:xfrm>
        <a:graphic>
          <a:graphicData uri="http://schemas.openxmlformats.org/drawingml/2006/table">
            <a:tbl>
              <a:tblPr/>
              <a:tblGrid>
                <a:gridCol w="1737360"/>
                <a:gridCol w="731520"/>
                <a:gridCol w="731520"/>
                <a:gridCol w="731520"/>
                <a:gridCol w="731520"/>
              </a:tblGrid>
              <a:tr h="0">
                <a:tc>
                  <a:txBody>
                    <a:bodyPr/>
                    <a:lstStyle/>
                    <a:p>
                      <a:pPr algn="ctr" indent="0" marL="0">
                        <a:buNone/>
                      </a:pPr>
                      <a:r>
                        <a:rPr lang="en-US" sz="850" b="1" dirty="0">
                          <a:solidFill>
                            <a:srgbClr val="FFFFFF"/>
                          </a:solidFill>
                        </a:rPr>
                        <a:t>Metric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Bear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Bull (5yr)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Base (4yr)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Exit EBITDA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$76.7M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$91.8M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$110.6M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$84.2M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Exit EV/EBITDA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14.0x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16.0x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18.0x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15.0x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Exit EV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$1,074M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$1,469M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$1,991M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$1,263M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Exit Equity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$782M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$1,181M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$1,707M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$968M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C00000"/>
                          </a:solidFill>
                        </a:rPr>
                        <a:t>MOIC (Stated)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C00000"/>
                          </a:solidFill>
                        </a:rPr>
                        <a:t>1.8x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2.6x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3.5x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B45309"/>
                          </a:solidFill>
                        </a:rPr>
                        <a:t>2.4x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C00000"/>
                          </a:solidFill>
                        </a:rPr>
                        <a:t>IRR (Stated)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C00000"/>
                          </a:solidFill>
                        </a:rPr>
                        <a:t>14% ⚠ GATE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1A7A2E"/>
                          </a:solidFill>
                        </a:rPr>
                        <a:t>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B45309"/>
                          </a:solidFill>
                        </a:rPr>
                        <a:t>21%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bl>
          </a:graphicData>
        </a:graphic>
      </p:graphicFrame>
      <p:sp>
        <p:nvSpPr>
          <p:cNvPr id="10" name="Shape 7"/>
          <p:cNvSpPr/>
          <p:nvPr/>
        </p:nvSpPr>
        <p:spPr>
          <a:xfrm>
            <a:off x="365760" y="3017520"/>
            <a:ext cx="5120640" cy="585216"/>
          </a:xfrm>
          <a:prstGeom prst="rect">
            <a:avLst/>
          </a:prstGeom>
          <a:solidFill>
            <a:srgbClr val="FEF2F2"/>
          </a:solidFill>
          <a:ln w="12700">
            <a:solidFill>
              <a:srgbClr val="C00000"/>
            </a:solidFill>
            <a:prstDash val="solid"/>
          </a:ln>
        </p:spPr>
      </p:sp>
      <p:sp>
        <p:nvSpPr>
          <p:cNvPr id="11" name="Text 8"/>
          <p:cNvSpPr/>
          <p:nvPr/>
        </p:nvSpPr>
        <p:spPr>
          <a:xfrm>
            <a:off x="475488" y="3054096"/>
            <a:ext cx="4901184" cy="512064"/>
          </a:xfrm>
          <a:prstGeom prst="rect">
            <a:avLst/>
          </a:prstGeom>
          <a:noFill/>
          <a:ln/>
        </p:spPr>
        <p:txBody>
          <a:bodyPr wrap="square" lIns="0" tIns="0" rIns="0" bIns="0" rtlCol="0" anchor="ctr"/>
          <a:lstStyle/>
          <a:p>
            <a:pPr indent="0" marL="0">
              <a:buNone/>
            </a:pPr>
            <a:r>
              <a:rPr lang="en-US" sz="800" dirty="0">
                <a:solidFill>
                  <a:srgbClr val="7F1D1D"/>
                </a:solidFill>
                <a:latin typeface="Arial" pitchFamily="34" charset="0"/>
                <a:ea typeface="Arial" pitchFamily="34" charset="-122"/>
                <a:cs typeface="Arial" pitchFamily="34" charset="-120"/>
              </a:rPr>
              <a:t>[DD FLAG — HARD GATE TRIGGERED]  Bear case IRR = 14%, below the 15% minimum threshold. Recommendation is automatically HOLD regardless of overall score. Resolution requires either (a) revised assumptions that improve bear IRR above 15%, or (b) partner sign-off on a lower return floor.</a:t>
            </a:r>
            <a:endParaRPr lang="en-US" sz="800" dirty="0"/>
          </a:p>
        </p:txBody>
      </p:sp>
      <p:sp>
        <p:nvSpPr>
          <p:cNvPr id="12" name="Shape 9"/>
          <p:cNvSpPr/>
          <p:nvPr/>
        </p:nvSpPr>
        <p:spPr>
          <a:xfrm>
            <a:off x="365760" y="960120"/>
            <a:ext cx="45720" cy="237744"/>
          </a:xfrm>
          <a:prstGeom prst="rect">
            <a:avLst/>
          </a:prstGeom>
          <a:solidFill>
            <a:srgbClr val="2E6DB4"/>
          </a:solidFill>
          <a:ln/>
        </p:spPr>
      </p:sp>
      <p:sp>
        <p:nvSpPr>
          <p:cNvPr id="13" name="Text 10"/>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MOIC RECONCILIATION — MAIN TABLE vs. SENSITIVITY TABLE</a:t>
            </a:r>
            <a:endParaRPr lang="en-US" sz="950" dirty="0"/>
          </a:p>
        </p:txBody>
      </p:sp>
      <p:sp>
        <p:nvSpPr>
          <p:cNvPr id="14" name="Shape 11"/>
          <p:cNvSpPr/>
          <p:nvPr/>
        </p:nvSpPr>
        <p:spPr>
          <a:xfrm>
            <a:off x="5669280" y="1234440"/>
            <a:ext cx="3108960" cy="1463040"/>
          </a:xfrm>
          <a:prstGeom prst="rect">
            <a:avLst/>
          </a:prstGeom>
          <a:solidFill>
            <a:srgbClr val="FEF2F2"/>
          </a:solidFill>
          <a:ln w="9525">
            <a:solidFill>
              <a:srgbClr val="C00000"/>
            </a:solidFill>
            <a:prstDash val="solid"/>
          </a:ln>
        </p:spPr>
      </p:sp>
      <p:sp>
        <p:nvSpPr>
          <p:cNvPr id="15" name="Text 12"/>
          <p:cNvSpPr/>
          <p:nvPr/>
        </p:nvSpPr>
        <p:spPr>
          <a:xfrm>
            <a:off x="5760720" y="1298448"/>
            <a:ext cx="2926080" cy="219456"/>
          </a:xfrm>
          <a:prstGeom prst="rect">
            <a:avLst/>
          </a:prstGeom>
          <a:noFill/>
          <a:ln/>
        </p:spPr>
        <p:txBody>
          <a:bodyPr wrap="square" lIns="0" tIns="0" rIns="0" bIns="0" rtlCol="0" anchor="ctr"/>
          <a:lstStyle/>
          <a:p>
            <a:pPr indent="0" marL="0">
              <a:buNone/>
            </a:pPr>
            <a:r>
              <a:rPr lang="en-US" sz="950" b="1" dirty="0">
                <a:solidFill>
                  <a:srgbClr val="C00000"/>
                </a:solidFill>
                <a:latin typeface="Arial" pitchFamily="34" charset="0"/>
                <a:ea typeface="Arial" pitchFamily="34" charset="-122"/>
                <a:cs typeface="Arial" pitchFamily="34" charset="-120"/>
              </a:rPr>
              <a:t>[DD FLAG — MATERIAL]</a:t>
            </a:r>
            <a:endParaRPr lang="en-US" sz="950" dirty="0"/>
          </a:p>
        </p:txBody>
      </p:sp>
      <p:sp>
        <p:nvSpPr>
          <p:cNvPr id="16" name="Text 13"/>
          <p:cNvSpPr/>
          <p:nvPr/>
        </p:nvSpPr>
        <p:spPr>
          <a:xfrm>
            <a:off x="5760720" y="1554480"/>
            <a:ext cx="2926080" cy="1097280"/>
          </a:xfrm>
          <a:prstGeom prst="rect">
            <a:avLst/>
          </a:prstGeom>
          <a:noFill/>
          <a:ln/>
        </p:spPr>
        <p:txBody>
          <a:bodyPr wrap="square" lIns="0" tIns="0" rIns="0" bIns="0" rtlCol="0" anchor="ctr"/>
          <a:lstStyle/>
          <a:p>
            <a:pPr indent="0" marL="0">
              <a:buNone/>
            </a:pPr>
            <a:r>
              <a:rPr lang="en-US" sz="850" dirty="0">
                <a:solidFill>
                  <a:srgbClr val="7F1D1D"/>
                </a:solidFill>
                <a:latin typeface="Arial" pitchFamily="34" charset="0"/>
                <a:ea typeface="Arial" pitchFamily="34" charset="-122"/>
                <a:cs typeface="Arial" pitchFamily="34" charset="-120"/>
              </a:rPr>
              <a:t>The model's main returns table states Base MOIC = 2.6x. However, the sensitivity table calculates: Exit EV = 16x × $91.8M = $1,469M; Exit Equity = $1,469M − $288M = $1,181M; MOIC = $1,181M / $775M = 1.52x. The discrepancy (~1.1x) is unexplained and suggests a formula error in the Returned Equity row. At 1.52x MOIC, base case returns do not meet the 3.0x+ target.</a:t>
            </a:r>
            <a:endParaRPr lang="en-US" sz="850" dirty="0"/>
          </a:p>
        </p:txBody>
      </p:sp>
      <p:sp>
        <p:nvSpPr>
          <p:cNvPr id="17" name="Shape 14"/>
          <p:cNvSpPr/>
          <p:nvPr/>
        </p:nvSpPr>
        <p:spPr>
          <a:xfrm>
            <a:off x="365760" y="2798064"/>
            <a:ext cx="45720" cy="237744"/>
          </a:xfrm>
          <a:prstGeom prst="rect">
            <a:avLst/>
          </a:prstGeom>
          <a:solidFill>
            <a:srgbClr val="2E6DB4"/>
          </a:solidFill>
          <a:ln/>
        </p:spPr>
      </p:sp>
      <p:sp>
        <p:nvSpPr>
          <p:cNvPr id="18" name="Text 15"/>
          <p:cNvSpPr/>
          <p:nvPr/>
        </p:nvSpPr>
        <p:spPr>
          <a:xfrm>
            <a:off x="502920" y="2798064"/>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MOIC SENSITIVITY — EXIT MULTIPLE vs. EXIT EBITDA ($M)</a:t>
            </a:r>
            <a:endParaRPr lang="en-US" sz="9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669280" y="3035808"/>
          <a:ext cx="3108960" cy="914400"/>
        </p:xfrm>
        <a:graphic>
          <a:graphicData uri="http://schemas.openxmlformats.org/drawingml/2006/table">
            <a:tbl>
              <a:tblPr/>
              <a:tblGrid>
                <a:gridCol w="1005840"/>
                <a:gridCol w="640080"/>
                <a:gridCol w="640080"/>
                <a:gridCol w="640080"/>
                <a:gridCol w="640080"/>
                <a:gridCol w="640080"/>
              </a:tblGrid>
              <a:tr h="0">
                <a:tc>
                  <a:txBody>
                    <a:bodyPr/>
                    <a:lstStyle/>
                    <a:p>
                      <a:pPr algn="ctr" indent="0" marL="0">
                        <a:buNone/>
                      </a:pPr>
                      <a:r>
                        <a:rPr lang="en-US" sz="850" b="1" dirty="0">
                          <a:solidFill>
                            <a:srgbClr val="FFFFFF"/>
                          </a:solidFill>
                        </a:rPr>
                        <a:t>Exit Multiple ↓ \ EBITDA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$76.7M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$84.0M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$91.8M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$100.0M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$110.6M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ctr" indent="0" marL="0">
                        <a:buNone/>
                      </a:pPr>
                      <a:r>
                        <a:rPr lang="en-US" sz="850" b="1" dirty="0">
                          <a:solidFill>
                            <a:srgbClr val="1E293B"/>
                          </a:solidFill>
                        </a:rPr>
                        <a:t>12x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C00000"/>
                          </a:solidFill>
                        </a:rPr>
                        <a:t>0.81x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0.93x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1.05x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1.17x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1.34x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1E293B"/>
                          </a:solidFill>
                        </a:rPr>
                        <a:t>14x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C00000"/>
                          </a:solidFill>
                        </a:rPr>
                        <a:t>1.01x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1.14x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1.28x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1.43x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1.62x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1E293B"/>
                          </a:solidFill>
                        </a:rPr>
                        <a:t>16x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C00000"/>
                          </a:solidFill>
                        </a:rPr>
                        <a:t>1.21x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1.36x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B45309"/>
                          </a:solidFill>
                        </a:rPr>
                        <a:t>1.52x ◀</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dirty="0">
                          <a:solidFill>
                            <a:srgbClr val="C00000"/>
                          </a:solidFill>
                        </a:rPr>
                        <a:t>1.69x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1E293B"/>
                          </a:solidFill>
                        </a:rPr>
                        <a:t>18x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C00000"/>
                          </a:solidFill>
                        </a:rPr>
                        <a:t>1.41x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1.58x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1.76x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1.95x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2.19x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1E293B"/>
                          </a:solidFill>
                        </a:rPr>
                        <a:t>20x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C00000"/>
                          </a:solidFill>
                        </a:rPr>
                        <a:t>1.61x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1.79x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1.99x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C00000"/>
                          </a:solidFill>
                        </a:rPr>
                        <a:t>2.21x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dirty="0">
                          <a:solidFill>
                            <a:srgbClr val="B45309"/>
                          </a:solidFill>
                        </a:rPr>
                        <a:t>2.48x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bl>
          </a:graphicData>
        </a:graphic>
      </p:graphicFrame>
      <p:sp>
        <p:nvSpPr>
          <p:cNvPr id="20" name="Text 16"/>
          <p:cNvSpPr/>
          <p:nvPr/>
        </p:nvSpPr>
        <p:spPr>
          <a:xfrm>
            <a:off x="5669280" y="4553712"/>
            <a:ext cx="3108960" cy="256032"/>
          </a:xfrm>
          <a:prstGeom prst="rect">
            <a:avLst/>
          </a:prstGeom>
          <a:noFill/>
          <a:ln/>
        </p:spPr>
        <p:txBody>
          <a:bodyPr wrap="square" lIns="0" tIns="0" rIns="0" bIns="0" rtlCol="0" anchor="ctr"/>
          <a:lstStyle/>
          <a:p>
            <a:pPr indent="0" marL="0">
              <a:buNone/>
            </a:pPr>
            <a:r>
              <a:rPr lang="en-US" sz="800" i="1" dirty="0">
                <a:solidFill>
                  <a:srgbClr val="C00000"/>
                </a:solidFill>
                <a:latin typeface="Arial" pitchFamily="34" charset="0"/>
                <a:ea typeface="Arial" pitchFamily="34" charset="-122"/>
                <a:cs typeface="Arial" pitchFamily="34" charset="-120"/>
              </a:rPr>
              <a:t>No scenario in the sensitivity table achieves 3.0x+ MOIC. Max observed: 2.48x at 20x exit / $110.6M EBITDA.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10  |  Red Flag Summary</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Three Critical flags identified — one hard gate trigger, one model integrity failure, and one returns inconsistency. All three must be resolved before IC can proceed.</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914400"/>
        </p:xfrm>
        <a:graphic>
          <a:graphicData uri="http://schemas.openxmlformats.org/drawingml/2006/table">
            <a:tbl>
              <a:tblPr/>
              <a:tblGrid>
                <a:gridCol w="256032"/>
                <a:gridCol w="2286000"/>
                <a:gridCol w="640080"/>
                <a:gridCol w="640080"/>
                <a:gridCol w="640080"/>
                <a:gridCol w="2743200"/>
              </a:tblGrid>
              <a:tr h="0">
                <a:tc>
                  <a:txBody>
                    <a:bodyPr/>
                    <a:lstStyle/>
                    <a:p>
                      <a:pPr algn="ctr" indent="0" marL="0">
                        <a:buNone/>
                      </a:pPr>
                      <a:r>
                        <a:rPr lang="en-US" sz="850" b="1" dirty="0">
                          <a:solidFill>
                            <a:srgbClr val="FFFFFF"/>
                          </a:solidFill>
                        </a:rPr>
                        <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Red Flag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Severity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Hard Gate?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Status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Resolution Required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ctr" indent="0" marL="0">
                        <a:buNone/>
                      </a:pPr>
                      <a:r>
                        <a:rPr lang="en-US" sz="850" b="1" dirty="0">
                          <a:solidFill>
                            <a:srgbClr val="C00000"/>
                          </a:solidFill>
                        </a:rPr>
                        <a:t>1</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Bear case IRR = 14% — below 15% hard gate threshold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00" b="1" dirty="0">
                          <a:solidFill>
                            <a:srgbClr val="FFFFFF"/>
                          </a:solidFill>
                        </a:rPr>
                        <a:t>CRITICAL</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YES</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7F1D1D"/>
                          </a:solidFill>
                        </a:rPr>
                        <a:t>Revise assumptions or obtain partner sign-off on lower return floor before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C00000"/>
                          </a:solidFill>
                        </a:rPr>
                        <a:t>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MOIC inconsistency: main table 2.6x (base) vs. sensitivity table implied ~1.52x</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00" b="1" dirty="0">
                          <a:solidFill>
                            <a:srgbClr val="FFFFFF"/>
                          </a:solidFill>
                        </a:rPr>
                        <a:t>CRITICAL</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YES</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7F1D1D"/>
                          </a:solidFill>
                        </a:rPr>
                        <a:t>Identify and correct formula error in Returned Equity row; recalculate all MOIC/IRR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C00000"/>
                          </a:solidFill>
                        </a:rPr>
                        <a:t>3</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7F1D1D"/>
                          </a:solidFill>
                        </a:rPr>
                        <a:t>G&amp;A formula error: negative values in FY2025–26E corrupt all projection-year outputs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00" b="1" dirty="0">
                          <a:solidFill>
                            <a:srgbClr val="FFFFFF"/>
                          </a:solidFill>
                        </a:rPr>
                        <a:t>CRITICAL</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YES</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l" indent="0" marL="0">
                        <a:buNone/>
                      </a:pPr>
                      <a:r>
                        <a:rPr lang="en-US" sz="850" dirty="0">
                          <a:solidFill>
                            <a:srgbClr val="7F1D1D"/>
                          </a:solidFill>
                        </a:rPr>
                        <a:t>Repair G&amp;A formula; re-derive EBITDA, OpEx, and all downstream rows for FY2025–26E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ctr" indent="0" marL="0">
                        <a:buNone/>
                      </a:pPr>
                      <a:r>
                        <a:rPr lang="en-US" sz="850" b="1" dirty="0">
                          <a:solidFill>
                            <a:srgbClr val="B45309"/>
                          </a:solidFill>
                        </a:rPr>
                        <a:t>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Professional Services revenue +188% jump (FY2024E: $21M → FY2025E: $60.3M) — unexplained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00" b="1" dirty="0">
                          <a:solidFill>
                            <a:srgbClr val="FFFFFF"/>
                          </a:solidFill>
                        </a:rPr>
                        <a:t>SIGNIFICANT</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ctr" indent="0" marL="0">
                        <a:buNone/>
                      </a:pPr>
                      <a:r>
                        <a:rPr lang="en-US" sz="800" b="1" dirty="0">
                          <a:solidFill>
                            <a:srgbClr val="FFFFFF"/>
                          </a:solidFill>
                        </a:rPr>
                        <a:t>NO</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78350F"/>
                          </a:solidFill>
                        </a:rPr>
                        <a:t>Confirm whether jump reflects Kyruus acquisition revenue, formula cross-reference error, or organic assumption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ctr" indent="0" marL="0">
                        <a:buNone/>
                      </a:pPr>
                      <a:r>
                        <a:rPr lang="en-US" sz="850" b="1" dirty="0">
                          <a:solidFill>
                            <a:srgbClr val="B45309"/>
                          </a:solidFill>
                        </a:rPr>
                        <a:t>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Print &amp; Mail revenue declines FY2024E→FY2025E ($39M→$29.5M) then rises FY2026E ($45.3M) — inconsistent with secular decline narrative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00" b="1" dirty="0">
                          <a:solidFill>
                            <a:srgbClr val="FFFFFF"/>
                          </a:solidFill>
                        </a:rPr>
                        <a:t>SIGNIFICANT</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ctr" indent="0" marL="0">
                        <a:buNone/>
                      </a:pPr>
                      <a:r>
                        <a:rPr lang="en-US" sz="800" b="1" dirty="0">
                          <a:solidFill>
                            <a:srgbClr val="FFFFFF"/>
                          </a:solidFill>
                        </a:rPr>
                        <a:t>NO</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78350F"/>
                          </a:solidFill>
                        </a:rPr>
                        <a:t>Clarify Print &amp; Mail growth assumption and whether FY2026E figure reflects correct directional trend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ctr" indent="0" marL="0">
                        <a:buNone/>
                      </a:pPr>
                      <a:r>
                        <a:rPr lang="en-US" sz="850" b="1" dirty="0">
                          <a:solidFill>
                            <a:srgbClr val="B45309"/>
                          </a:solidFill>
                        </a:rPr>
                        <a:t>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78350F"/>
                          </a:solidFill>
                        </a:rPr>
                        <a:t>Balance sheet does not balance (Assets − L+E ≠ 0 in all periods)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00" b="1" dirty="0">
                          <a:solidFill>
                            <a:srgbClr val="FFFFFF"/>
                          </a:solidFill>
                        </a:rPr>
                        <a:t>SIGNIFICANT</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ctr" indent="0" marL="0">
                        <a:buNone/>
                      </a:pPr>
                      <a:r>
                        <a:rPr lang="en-US" sz="800" b="1" dirty="0">
                          <a:solidFill>
                            <a:srgbClr val="FFFFFF"/>
                          </a:solidFill>
                        </a:rPr>
                        <a:t>NO</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64748B"/>
                    </a:solidFill>
                  </a:tcPr>
                </a:tc>
                <a:tc>
                  <a:txBody>
                    <a:bodyPr/>
                    <a:lstStyle/>
                    <a:p>
                      <a:pPr algn="ctr" indent="0" marL="0">
                        <a:buNone/>
                      </a:pPr>
                      <a:r>
                        <a:rPr lang="en-US" sz="800" b="1" dirty="0">
                          <a:solidFill>
                            <a:srgbClr val="FFFFFF"/>
                          </a:solidFill>
                        </a:rPr>
                        <a:t>OPEN</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c>
                  <a:txBody>
                    <a:bodyPr/>
                    <a:lstStyle/>
                    <a:p>
                      <a:pPr algn="l" indent="0" marL="0">
                        <a:buNone/>
                      </a:pPr>
                      <a:r>
                        <a:rPr lang="en-US" sz="850" dirty="0">
                          <a:solidFill>
                            <a:srgbClr val="78350F"/>
                          </a:solidFill>
                        </a:rPr>
                        <a:t>Identify missing plug item (retained earnings, equity, or intercompany); correct balance check row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ctr" indent="0" marL="0">
                        <a:buNone/>
                      </a:pPr>
                      <a:r>
                        <a:rPr lang="en-US" sz="850" dirty="0">
                          <a:solidFill>
                            <a:srgbClr val="1E293B"/>
                          </a:solidFill>
                        </a:rPr>
                        <a:t>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374151"/>
                          </a:solidFill>
                        </a:rPr>
                        <a:t>FY2020A leverage = 7.56x — covenant breach under 6.5x limit (pre-Frazier, GTCR-era)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00" b="1" dirty="0">
                          <a:solidFill>
                            <a:srgbClr val="64748B"/>
                          </a:solidFill>
                        </a:rPr>
                        <a:t>MINOR</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00" b="1" dirty="0">
                          <a:solidFill>
                            <a:srgbClr val="64748B"/>
                          </a:solidFill>
                        </a:rPr>
                        <a:t>NO</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00" b="1" dirty="0">
                          <a:solidFill>
                            <a:srgbClr val="64748B"/>
                          </a:solidFill>
                        </a:rPr>
                        <a:t>NOTE</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374151"/>
                          </a:solidFill>
                        </a:rPr>
                        <a:t>Informational only — Frazier entry leverage is 4.3x (within mandate). No action required.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11  |  Financial DD Score &amp; Recommendation</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Score of 63.2/100 combined with hard gate trigger produces a HOLD recommendation — deal cannot proceed to IC until three Critical flags are resolved.</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45720" cy="237744"/>
          </a:xfrm>
          <a:prstGeom prst="rect">
            <a:avLst/>
          </a:prstGeom>
          <a:solidFill>
            <a:srgbClr val="2E6DB4"/>
          </a:solidFill>
          <a:ln/>
        </p:spPr>
      </p:sp>
      <p:sp>
        <p:nvSpPr>
          <p:cNvPr id="8" name="Text 6"/>
          <p:cNvSpPr/>
          <p:nvPr/>
        </p:nvSpPr>
        <p:spPr>
          <a:xfrm>
            <a:off x="502920" y="960120"/>
            <a:ext cx="790956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FINANCIAL DD SCORECARD</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5120640" cy="914400"/>
        </p:xfrm>
        <a:graphic>
          <a:graphicData uri="http://schemas.openxmlformats.org/drawingml/2006/table">
            <a:tbl>
              <a:tblPr/>
              <a:tblGrid>
                <a:gridCol w="2926080"/>
                <a:gridCol w="548640"/>
                <a:gridCol w="640080"/>
                <a:gridCol w="731520"/>
              </a:tblGrid>
              <a:tr h="0">
                <a:tc>
                  <a:txBody>
                    <a:bodyPr/>
                    <a:lstStyle/>
                    <a:p>
                      <a:pPr algn="ctr" indent="0" marL="0">
                        <a:buNone/>
                      </a:pPr>
                      <a:r>
                        <a:rPr lang="en-US" sz="850" b="1" dirty="0">
                          <a:solidFill>
                            <a:srgbClr val="FFFFFF"/>
                          </a:solidFill>
                        </a:rPr>
                        <a:t>Criterion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Score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Weight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Wtd Score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dirty="0">
                          <a:solidFill>
                            <a:srgbClr val="1E293B"/>
                          </a:solidFill>
                        </a:rPr>
                        <a:t>Recurring Revenue Mix — 82% recurring, 3-5yr contracts, improving trend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1E293B"/>
                          </a:solidFill>
                        </a:rPr>
                        <a:t>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0.96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NRR Trend — 1.08x stable; improving from 1.05x in FY2020A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1E293B"/>
                          </a:solidFill>
                        </a:rPr>
                        <a:t>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0.80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Revenue Concentration — top client &lt;6%; top 20 = 38% (manageable)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0.64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EBITDA Margin Level &amp; Trend — 27.5% (FY24E), expanding +395bps since FY2020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1E293B"/>
                          </a:solidFill>
                        </a:rPr>
                        <a:t>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0.96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Gross Margin Quality — 53.0% (FY24E); adequate for hybrid SaaS/services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0.48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Quality of Earnings — add-backs not quantified; model errors prevent full QoE 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2</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9999"/>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0.32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Entry Leverage — 4.3x Net Debt/EBITDA; within 4.0–5.5x acceptable range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1E293B"/>
                          </a:solidFill>
                        </a:rPr>
                        <a:t>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Covenant Headroom — bear case EBITDA ~3.2x above floor (corrected assumptions)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1E293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0.64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Interest Coverage — 3.0x (FY2023A); adequate, in 2.5–3.9x band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1E293B"/>
                          </a:solidFill>
                        </a:rPr>
                        <a:t>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0.42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dirty="0">
                          <a:solidFill>
                            <a:srgbClr val="1E293B"/>
                          </a:solidFill>
                        </a:rPr>
                        <a:t>Base Case MOIC — sensitivity table implies ~1.52x; main table states 2.6x (discrepancy unresolved)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rPr>
                        <a:t>1</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50" dirty="0">
                          <a:solidFill>
                            <a:srgbClr val="1E293B"/>
                          </a:solidFill>
                        </a:rPr>
                        <a:t>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0.20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dirty="0">
                          <a:solidFill>
                            <a:srgbClr val="1E293B"/>
                          </a:solidFill>
                        </a:rPr>
                        <a:t>Bear Case IRR — 14% per model; below 15% hard gate threshold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900" b="1" dirty="0">
                          <a:solidFill>
                            <a:srgbClr val="FFFFFF"/>
                          </a:solidFill>
                        </a:rPr>
                        <a:t>1</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C00000"/>
                    </a:solidFill>
                  </a:tcPr>
                </a:tc>
                <a:tc>
                  <a:txBody>
                    <a:bodyPr/>
                    <a:lstStyle/>
                    <a:p>
                      <a:pPr algn="ctr" indent="0" marL="0">
                        <a:buNone/>
                      </a:pPr>
                      <a:r>
                        <a:rPr lang="en-US" sz="850" dirty="0">
                          <a:solidFill>
                            <a:srgbClr val="1E293B"/>
                          </a:solidFill>
                        </a:rPr>
                        <a:t>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0.14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gridSpan="3">
                  <a:txBody>
                    <a:bodyPr/>
                    <a:lstStyle/>
                    <a:p>
                      <a:pPr algn="l" indent="0" marL="0">
                        <a:buNone/>
                      </a:pPr>
                      <a:r>
                        <a:rPr lang="en-US" sz="900" b="1" dirty="0">
                          <a:solidFill>
                            <a:srgbClr val="FFFFFF"/>
                          </a:solidFill>
                        </a:rPr>
                        <a:t>TOTAL</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hMerge="1">
                  <a:tcPr/>
                </a:tc>
                <a:tc hMerge="1">
                  <a:tcPr/>
                </a:tc>
                <a:tc>
                  <a:txBody>
                    <a:bodyPr/>
                    <a:lstStyle/>
                    <a:p>
                      <a:pPr indent="0" marL="0">
                        <a:buNone/>
                      </a:pP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indent="0" marL="0">
                        <a:buNone/>
                      </a:pP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rPr>
                        <a:t>63.2 / 100</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bl>
          </a:graphicData>
        </a:graphic>
      </p:graphicFrame>
      <p:sp>
        <p:nvSpPr>
          <p:cNvPr id="10" name="Shape 7"/>
          <p:cNvSpPr/>
          <p:nvPr/>
        </p:nvSpPr>
        <p:spPr>
          <a:xfrm>
            <a:off x="5669280" y="1216152"/>
            <a:ext cx="859536" cy="438912"/>
          </a:xfrm>
          <a:prstGeom prst="rect">
            <a:avLst/>
          </a:prstGeom>
          <a:solidFill>
            <a:srgbClr val="1B3A5C"/>
          </a:solidFill>
          <a:ln/>
        </p:spPr>
      </p:sp>
      <p:sp>
        <p:nvSpPr>
          <p:cNvPr id="11" name="Text 8"/>
          <p:cNvSpPr/>
          <p:nvPr/>
        </p:nvSpPr>
        <p:spPr>
          <a:xfrm>
            <a:off x="5669280" y="1216152"/>
            <a:ext cx="85953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80–100</a:t>
            </a:r>
            <a:endParaRPr lang="en-US" sz="850" dirty="0"/>
          </a:p>
        </p:txBody>
      </p:sp>
      <p:sp>
        <p:nvSpPr>
          <p:cNvPr id="12" name="Text 9"/>
          <p:cNvSpPr/>
          <p:nvPr/>
        </p:nvSpPr>
        <p:spPr>
          <a:xfrm>
            <a:off x="5669280" y="1435608"/>
            <a:ext cx="859536" cy="219456"/>
          </a:xfrm>
          <a:prstGeom prst="rect">
            <a:avLst/>
          </a:prstGeom>
          <a:noFill/>
          <a:ln/>
        </p:spPr>
        <p:txBody>
          <a:bodyPr wrap="square" lIns="0" tIns="0" rIns="0" bIns="0" rtlCol="0" anchor="ctr"/>
          <a:lstStyle/>
          <a:p>
            <a:pPr algn="ctr" indent="0" marL="0">
              <a:buNone/>
            </a:pPr>
            <a:r>
              <a:rPr lang="en-US" sz="750" dirty="0">
                <a:solidFill>
                  <a:srgbClr val="FFFFFF"/>
                </a:solidFill>
                <a:latin typeface="Arial" pitchFamily="34" charset="0"/>
                <a:ea typeface="Arial" pitchFamily="34" charset="-122"/>
                <a:cs typeface="Arial" pitchFamily="34" charset="-120"/>
              </a:rPr>
              <a:t>Strong Proceed</a:t>
            </a:r>
            <a:endParaRPr lang="en-US" sz="750" dirty="0"/>
          </a:p>
        </p:txBody>
      </p:sp>
      <p:sp>
        <p:nvSpPr>
          <p:cNvPr id="13" name="Shape 10"/>
          <p:cNvSpPr/>
          <p:nvPr/>
        </p:nvSpPr>
        <p:spPr>
          <a:xfrm>
            <a:off x="6620256" y="1216152"/>
            <a:ext cx="859536" cy="438912"/>
          </a:xfrm>
          <a:prstGeom prst="rect">
            <a:avLst/>
          </a:prstGeom>
          <a:solidFill>
            <a:srgbClr val="B45309"/>
          </a:solidFill>
          <a:ln/>
        </p:spPr>
      </p:sp>
      <p:sp>
        <p:nvSpPr>
          <p:cNvPr id="14" name="Text 11"/>
          <p:cNvSpPr/>
          <p:nvPr/>
        </p:nvSpPr>
        <p:spPr>
          <a:xfrm>
            <a:off x="6620256" y="1216152"/>
            <a:ext cx="85953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65–79</a:t>
            </a:r>
            <a:endParaRPr lang="en-US" sz="850" dirty="0"/>
          </a:p>
        </p:txBody>
      </p:sp>
      <p:sp>
        <p:nvSpPr>
          <p:cNvPr id="15" name="Text 12"/>
          <p:cNvSpPr/>
          <p:nvPr/>
        </p:nvSpPr>
        <p:spPr>
          <a:xfrm>
            <a:off x="6620256" y="1435608"/>
            <a:ext cx="859536" cy="219456"/>
          </a:xfrm>
          <a:prstGeom prst="rect">
            <a:avLst/>
          </a:prstGeom>
          <a:noFill/>
          <a:ln/>
        </p:spPr>
        <p:txBody>
          <a:bodyPr wrap="square" lIns="0" tIns="0" rIns="0" bIns="0" rtlCol="0" anchor="ctr"/>
          <a:lstStyle/>
          <a:p>
            <a:pPr algn="ctr" indent="0" marL="0">
              <a:buNone/>
            </a:pPr>
            <a:r>
              <a:rPr lang="en-US" sz="750" dirty="0">
                <a:solidFill>
                  <a:srgbClr val="FFFFFF"/>
                </a:solidFill>
                <a:latin typeface="Arial" pitchFamily="34" charset="0"/>
                <a:ea typeface="Arial" pitchFamily="34" charset="-122"/>
                <a:cs typeface="Arial" pitchFamily="34" charset="-120"/>
              </a:rPr>
              <a:t>Conditional</a:t>
            </a:r>
            <a:endParaRPr lang="en-US" sz="750" dirty="0"/>
          </a:p>
        </p:txBody>
      </p:sp>
      <p:sp>
        <p:nvSpPr>
          <p:cNvPr id="16" name="Shape 13"/>
          <p:cNvSpPr/>
          <p:nvPr/>
        </p:nvSpPr>
        <p:spPr>
          <a:xfrm>
            <a:off x="7571232" y="1216152"/>
            <a:ext cx="859536" cy="438912"/>
          </a:xfrm>
          <a:prstGeom prst="rect">
            <a:avLst/>
          </a:prstGeom>
          <a:solidFill>
            <a:srgbClr val="C00000"/>
          </a:solidFill>
          <a:ln/>
        </p:spPr>
      </p:sp>
      <p:sp>
        <p:nvSpPr>
          <p:cNvPr id="17" name="Text 14"/>
          <p:cNvSpPr/>
          <p:nvPr/>
        </p:nvSpPr>
        <p:spPr>
          <a:xfrm>
            <a:off x="7571232" y="1216152"/>
            <a:ext cx="85953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&lt; 65</a:t>
            </a:r>
            <a:endParaRPr lang="en-US" sz="850" dirty="0"/>
          </a:p>
        </p:txBody>
      </p:sp>
      <p:sp>
        <p:nvSpPr>
          <p:cNvPr id="18" name="Text 15"/>
          <p:cNvSpPr/>
          <p:nvPr/>
        </p:nvSpPr>
        <p:spPr>
          <a:xfrm>
            <a:off x="7571232" y="1435608"/>
            <a:ext cx="859536" cy="219456"/>
          </a:xfrm>
          <a:prstGeom prst="rect">
            <a:avLst/>
          </a:prstGeom>
          <a:noFill/>
          <a:ln/>
        </p:spPr>
        <p:txBody>
          <a:bodyPr wrap="square" lIns="0" tIns="0" rIns="0" bIns="0" rtlCol="0" anchor="ctr"/>
          <a:lstStyle/>
          <a:p>
            <a:pPr algn="ctr" indent="0" marL="0">
              <a:buNone/>
            </a:pPr>
            <a:r>
              <a:rPr lang="en-US" sz="750" dirty="0">
                <a:solidFill>
                  <a:srgbClr val="FFFFFF"/>
                </a:solidFill>
                <a:latin typeface="Arial" pitchFamily="34" charset="0"/>
                <a:ea typeface="Arial" pitchFamily="34" charset="-122"/>
                <a:cs typeface="Arial" pitchFamily="34" charset="-120"/>
              </a:rPr>
              <a:t>Pass</a:t>
            </a:r>
            <a:endParaRPr lang="en-US" sz="750" dirty="0"/>
          </a:p>
        </p:txBody>
      </p:sp>
      <p:sp>
        <p:nvSpPr>
          <p:cNvPr id="19" name="Text 16"/>
          <p:cNvSpPr/>
          <p:nvPr/>
        </p:nvSpPr>
        <p:spPr>
          <a:xfrm>
            <a:off x="5669280" y="1719072"/>
            <a:ext cx="2852928" cy="292608"/>
          </a:xfrm>
          <a:prstGeom prst="rect">
            <a:avLst/>
          </a:prstGeom>
          <a:noFill/>
          <a:ln/>
        </p:spPr>
        <p:txBody>
          <a:bodyPr wrap="square" lIns="0" tIns="0" rIns="0" bIns="0" rtlCol="0" anchor="ctr"/>
          <a:lstStyle/>
          <a:p>
            <a:pPr algn="ctr" indent="0" marL="0">
              <a:buNone/>
            </a:pPr>
            <a:r>
              <a:rPr lang="en-US" sz="1800" b="1" dirty="0">
                <a:solidFill>
                  <a:srgbClr val="B45309"/>
                </a:solidFill>
                <a:latin typeface="Arial" pitchFamily="34" charset="0"/>
                <a:ea typeface="Arial" pitchFamily="34" charset="-122"/>
                <a:cs typeface="Arial" pitchFamily="34" charset="-120"/>
              </a:rPr>
              <a:t>Score: 63.2</a:t>
            </a:r>
            <a:endParaRPr lang="en-US" sz="1800" dirty="0"/>
          </a:p>
        </p:txBody>
      </p:sp>
      <p:sp>
        <p:nvSpPr>
          <p:cNvPr id="20" name="Shape 17"/>
          <p:cNvSpPr/>
          <p:nvPr/>
        </p:nvSpPr>
        <p:spPr>
          <a:xfrm>
            <a:off x="5669280" y="2084832"/>
            <a:ext cx="3108960" cy="1005840"/>
          </a:xfrm>
          <a:prstGeom prst="rect">
            <a:avLst/>
          </a:prstGeom>
          <a:solidFill>
            <a:srgbClr val="FFF9E6"/>
          </a:solidFill>
          <a:ln w="19050">
            <a:solidFill>
              <a:srgbClr val="B45309"/>
            </a:solidFill>
            <a:prstDash val="solid"/>
          </a:ln>
        </p:spPr>
      </p:sp>
      <p:sp>
        <p:nvSpPr>
          <p:cNvPr id="21" name="Shape 18"/>
          <p:cNvSpPr/>
          <p:nvPr/>
        </p:nvSpPr>
        <p:spPr>
          <a:xfrm>
            <a:off x="5669280" y="2084832"/>
            <a:ext cx="54864" cy="1005840"/>
          </a:xfrm>
          <a:prstGeom prst="rect">
            <a:avLst/>
          </a:prstGeom>
          <a:solidFill>
            <a:srgbClr val="B45309"/>
          </a:solidFill>
          <a:ln/>
        </p:spPr>
      </p:sp>
      <p:sp>
        <p:nvSpPr>
          <p:cNvPr id="22" name="Text 19"/>
          <p:cNvSpPr/>
          <p:nvPr/>
        </p:nvSpPr>
        <p:spPr>
          <a:xfrm>
            <a:off x="5779008" y="2121408"/>
            <a:ext cx="2926080" cy="329184"/>
          </a:xfrm>
          <a:prstGeom prst="rect">
            <a:avLst/>
          </a:prstGeom>
          <a:noFill/>
          <a:ln/>
        </p:spPr>
        <p:txBody>
          <a:bodyPr wrap="square" lIns="0" tIns="0" rIns="0" bIns="0" rtlCol="0" anchor="ctr"/>
          <a:lstStyle/>
          <a:p>
            <a:pPr indent="0" marL="0">
              <a:buNone/>
            </a:pPr>
            <a:r>
              <a:rPr lang="en-US" sz="1300" b="1" dirty="0">
                <a:solidFill>
                  <a:srgbClr val="78350F"/>
                </a:solidFill>
                <a:latin typeface="Arial" pitchFamily="34" charset="0"/>
                <a:ea typeface="Arial" pitchFamily="34" charset="-122"/>
                <a:cs typeface="Arial" pitchFamily="34" charset="-120"/>
              </a:rPr>
              <a:t>⚠  HOLD — PENDING RESOLUTION</a:t>
            </a:r>
            <a:endParaRPr lang="en-US" sz="1300" dirty="0"/>
          </a:p>
        </p:txBody>
      </p:sp>
      <p:sp>
        <p:nvSpPr>
          <p:cNvPr id="23" name="Text 20"/>
          <p:cNvSpPr/>
          <p:nvPr/>
        </p:nvSpPr>
        <p:spPr>
          <a:xfrm>
            <a:off x="5779008" y="2487168"/>
            <a:ext cx="2926080" cy="530352"/>
          </a:xfrm>
          <a:prstGeom prst="rect">
            <a:avLst/>
          </a:prstGeom>
          <a:noFill/>
          <a:ln/>
        </p:spPr>
        <p:txBody>
          <a:bodyPr wrap="square" lIns="0" tIns="0" rIns="0" bIns="0" rtlCol="0" anchor="ctr"/>
          <a:lstStyle/>
          <a:p>
            <a:pPr indent="0" marL="0">
              <a:buNone/>
            </a:pPr>
            <a:r>
              <a:rPr lang="en-US" sz="900" dirty="0">
                <a:solidFill>
                  <a:srgbClr val="78350F"/>
                </a:solidFill>
                <a:latin typeface="Arial" pitchFamily="34" charset="0"/>
                <a:ea typeface="Arial" pitchFamily="34" charset="-122"/>
                <a:cs typeface="Arial" pitchFamily="34" charset="-120"/>
              </a:rPr>
              <a:t>Hard gate triggered: Bear IRR = 14% &lt; 15%.</a:t>
            </a:r>
            <a:endParaRPr lang="en-US" sz="900" dirty="0"/>
          </a:p>
          <a:p>
            <a:pPr indent="0" marL="0">
              <a:buNone/>
            </a:pPr>
            <a:r>
              <a:rPr lang="en-US" sz="900" dirty="0">
                <a:solidFill>
                  <a:srgbClr val="78350F"/>
                </a:solidFill>
                <a:latin typeface="Arial" pitchFamily="34" charset="0"/>
                <a:ea typeface="Arial" pitchFamily="34" charset="-122"/>
                <a:cs typeface="Arial" pitchFamily="34" charset="-120"/>
              </a:rPr>
              <a:t>Resolve 3 Critical flags before IC submission.</a:t>
            </a:r>
            <a:endParaRPr lang="en-US" sz="900" dirty="0"/>
          </a:p>
        </p:txBody>
      </p:sp>
      <p:sp>
        <p:nvSpPr>
          <p:cNvPr id="24" name="Shape 21"/>
          <p:cNvSpPr/>
          <p:nvPr/>
        </p:nvSpPr>
        <p:spPr>
          <a:xfrm>
            <a:off x="5669280" y="3218688"/>
            <a:ext cx="45720" cy="237744"/>
          </a:xfrm>
          <a:prstGeom prst="rect">
            <a:avLst/>
          </a:prstGeom>
          <a:solidFill>
            <a:srgbClr val="2E6DB4"/>
          </a:solidFill>
          <a:ln/>
        </p:spPr>
      </p:sp>
      <p:sp>
        <p:nvSpPr>
          <p:cNvPr id="25" name="Text 22"/>
          <p:cNvSpPr/>
          <p:nvPr/>
        </p:nvSpPr>
        <p:spPr>
          <a:xfrm>
            <a:off x="5806440" y="3218688"/>
            <a:ext cx="2606040" cy="237744"/>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CONDITIONS TO RESOLVE BEFORE IC</a:t>
            </a:r>
            <a:endParaRPr lang="en-US" sz="950" dirty="0"/>
          </a:p>
        </p:txBody>
      </p:sp>
      <p:sp>
        <p:nvSpPr>
          <p:cNvPr id="26" name="Shape 23"/>
          <p:cNvSpPr/>
          <p:nvPr/>
        </p:nvSpPr>
        <p:spPr>
          <a:xfrm>
            <a:off x="5669280" y="3456432"/>
            <a:ext cx="256032" cy="237744"/>
          </a:xfrm>
          <a:prstGeom prst="rect">
            <a:avLst/>
          </a:prstGeom>
          <a:solidFill>
            <a:srgbClr val="B45309"/>
          </a:solidFill>
          <a:ln/>
        </p:spPr>
      </p:sp>
      <p:sp>
        <p:nvSpPr>
          <p:cNvPr id="27" name="Text 24"/>
          <p:cNvSpPr/>
          <p:nvPr/>
        </p:nvSpPr>
        <p:spPr>
          <a:xfrm>
            <a:off x="5669280" y="3456432"/>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28" name="Text 25"/>
          <p:cNvSpPr/>
          <p:nvPr/>
        </p:nvSpPr>
        <p:spPr>
          <a:xfrm>
            <a:off x="5989320" y="3456432"/>
            <a:ext cx="278892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Repair G&amp;A formula error and re-derive all FY2025–26E projection rows; provide corrected model to Morsebridge.</a:t>
            </a:r>
            <a:endParaRPr lang="en-US" sz="800" dirty="0"/>
          </a:p>
        </p:txBody>
      </p:sp>
      <p:sp>
        <p:nvSpPr>
          <p:cNvPr id="29" name="Shape 26"/>
          <p:cNvSpPr/>
          <p:nvPr/>
        </p:nvSpPr>
        <p:spPr>
          <a:xfrm>
            <a:off x="5669280" y="3749040"/>
            <a:ext cx="256032" cy="237744"/>
          </a:xfrm>
          <a:prstGeom prst="rect">
            <a:avLst/>
          </a:prstGeom>
          <a:solidFill>
            <a:srgbClr val="B45309"/>
          </a:solidFill>
          <a:ln/>
        </p:spPr>
      </p:sp>
      <p:sp>
        <p:nvSpPr>
          <p:cNvPr id="30" name="Text 27"/>
          <p:cNvSpPr/>
          <p:nvPr/>
        </p:nvSpPr>
        <p:spPr>
          <a:xfrm>
            <a:off x="5669280" y="3749040"/>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1" name="Text 28"/>
          <p:cNvSpPr/>
          <p:nvPr/>
        </p:nvSpPr>
        <p:spPr>
          <a:xfrm>
            <a:off x="5989320" y="3749040"/>
            <a:ext cx="278892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Reconcile MOIC discrepancy: identify and correct formula error in Returned Equity row; recalculate all MOIC and IRR figures.</a:t>
            </a:r>
            <a:endParaRPr lang="en-US" sz="800" dirty="0"/>
          </a:p>
        </p:txBody>
      </p:sp>
      <p:sp>
        <p:nvSpPr>
          <p:cNvPr id="32" name="Shape 29"/>
          <p:cNvSpPr/>
          <p:nvPr/>
        </p:nvSpPr>
        <p:spPr>
          <a:xfrm>
            <a:off x="5669280" y="4041648"/>
            <a:ext cx="256032" cy="237744"/>
          </a:xfrm>
          <a:prstGeom prst="rect">
            <a:avLst/>
          </a:prstGeom>
          <a:solidFill>
            <a:srgbClr val="B45309"/>
          </a:solidFill>
          <a:ln/>
        </p:spPr>
      </p:sp>
      <p:sp>
        <p:nvSpPr>
          <p:cNvPr id="33" name="Text 30"/>
          <p:cNvSpPr/>
          <p:nvPr/>
        </p:nvSpPr>
        <p:spPr>
          <a:xfrm>
            <a:off x="5669280" y="4041648"/>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4" name="Text 31"/>
          <p:cNvSpPr/>
          <p:nvPr/>
        </p:nvSpPr>
        <p:spPr>
          <a:xfrm>
            <a:off x="5989320" y="4041648"/>
            <a:ext cx="278892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Confirm whether corrected model produces bear case IRR ≥ 15%; if not, partner discussion required before proceeding.</a:t>
            </a:r>
            <a:endParaRPr lang="en-US" sz="800" dirty="0"/>
          </a:p>
        </p:txBody>
      </p:sp>
      <p:sp>
        <p:nvSpPr>
          <p:cNvPr id="35" name="Shape 32"/>
          <p:cNvSpPr/>
          <p:nvPr/>
        </p:nvSpPr>
        <p:spPr>
          <a:xfrm>
            <a:off x="5669280" y="4334256"/>
            <a:ext cx="256032" cy="237744"/>
          </a:xfrm>
          <a:prstGeom prst="rect">
            <a:avLst/>
          </a:prstGeom>
          <a:solidFill>
            <a:srgbClr val="B45309"/>
          </a:solidFill>
          <a:ln/>
        </p:spPr>
      </p:sp>
      <p:sp>
        <p:nvSpPr>
          <p:cNvPr id="36" name="Text 33"/>
          <p:cNvSpPr/>
          <p:nvPr/>
        </p:nvSpPr>
        <p:spPr>
          <a:xfrm>
            <a:off x="5669280" y="4334256"/>
            <a:ext cx="256032"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7" name="Text 34"/>
          <p:cNvSpPr/>
          <p:nvPr/>
        </p:nvSpPr>
        <p:spPr>
          <a:xfrm>
            <a:off x="5989320" y="4334256"/>
            <a:ext cx="278892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Explain Professional Services +188% jump in FY2025E — confirm whether reflects Kyruus revenue, formula error, or other assumption.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12  |  Key Questions for Management</a:t>
            </a:r>
            <a:endParaRPr lang="en-US" sz="2100" dirty="0"/>
          </a:p>
        </p:txBody>
      </p:sp>
      <p:sp>
        <p:nvSpPr>
          <p:cNvPr id="3" name="Shape 1"/>
          <p:cNvSpPr/>
          <p:nvPr/>
        </p:nvSpPr>
        <p:spPr>
          <a:xfrm>
            <a:off x="365760" y="621792"/>
            <a:ext cx="822960" cy="201168"/>
          </a:xfrm>
          <a:prstGeom prst="rect">
            <a:avLst/>
          </a:prstGeom>
          <a:solidFill>
            <a:srgbClr val="1B3A5C"/>
          </a:solidFill>
          <a:ln/>
        </p:spPr>
      </p:sp>
      <p:sp>
        <p:nvSpPr>
          <p:cNvPr id="4" name="Text 2"/>
          <p:cNvSpPr/>
          <p:nvPr/>
        </p:nvSpPr>
        <p:spPr>
          <a:xfrm>
            <a:off x="365760" y="621792"/>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43584" y="621792"/>
            <a:ext cx="749808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Seven financial questions must be answered by Frazier/RevSpring management before the corrected model can be used for IC memo preparation.</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Financial DD  |  RevSpring  |  June 5, 2026</a:t>
            </a:r>
            <a:endParaRPr lang="en-US" sz="750" dirty="0"/>
          </a:p>
        </p:txBody>
      </p:sp>
      <p:sp>
        <p:nvSpPr>
          <p:cNvPr id="7" name="Shape 5"/>
          <p:cNvSpPr/>
          <p:nvPr/>
        </p:nvSpPr>
        <p:spPr>
          <a:xfrm>
            <a:off x="365760" y="960120"/>
            <a:ext cx="8412480" cy="493776"/>
          </a:xfrm>
          <a:prstGeom prst="rect">
            <a:avLst/>
          </a:prstGeom>
          <a:solidFill>
            <a:srgbClr val="F7F8FA"/>
          </a:solidFill>
          <a:ln w="5080">
            <a:solidFill>
              <a:srgbClr val="D0D5DD"/>
            </a:solidFill>
            <a:prstDash val="solid"/>
          </a:ln>
        </p:spPr>
      </p:sp>
      <p:sp>
        <p:nvSpPr>
          <p:cNvPr id="8" name="Shape 6"/>
          <p:cNvSpPr/>
          <p:nvPr/>
        </p:nvSpPr>
        <p:spPr>
          <a:xfrm>
            <a:off x="365760" y="960120"/>
            <a:ext cx="45720" cy="493776"/>
          </a:xfrm>
          <a:prstGeom prst="rect">
            <a:avLst/>
          </a:prstGeom>
          <a:solidFill>
            <a:srgbClr val="C00000"/>
          </a:solidFill>
          <a:ln/>
        </p:spPr>
      </p:sp>
      <p:sp>
        <p:nvSpPr>
          <p:cNvPr id="9" name="Text 7"/>
          <p:cNvSpPr/>
          <p:nvPr/>
        </p:nvSpPr>
        <p:spPr>
          <a:xfrm>
            <a:off x="502920" y="996696"/>
            <a:ext cx="1737360" cy="182880"/>
          </a:xfrm>
          <a:prstGeom prst="rect">
            <a:avLst/>
          </a:prstGeom>
          <a:noFill/>
          <a:ln/>
        </p:spPr>
        <p:txBody>
          <a:bodyPr wrap="square" lIns="0" tIns="0" rIns="0" bIns="0" rtlCol="0" anchor="ctr"/>
          <a:lstStyle/>
          <a:p>
            <a:pPr indent="0" marL="0">
              <a:buNone/>
            </a:pPr>
            <a:r>
              <a:rPr lang="en-US" sz="850" b="1" dirty="0">
                <a:solidFill>
                  <a:srgbClr val="C00000"/>
                </a:solidFill>
                <a:latin typeface="Arial" pitchFamily="34" charset="0"/>
                <a:ea typeface="Arial" pitchFamily="34" charset="-122"/>
                <a:cs typeface="Arial" pitchFamily="34" charset="-120"/>
              </a:rPr>
              <a:t>MODEL INTEGRITY</a:t>
            </a:r>
            <a:endParaRPr lang="en-US" sz="850" dirty="0"/>
          </a:p>
        </p:txBody>
      </p:sp>
      <p:sp>
        <p:nvSpPr>
          <p:cNvPr id="10" name="Shape 8"/>
          <p:cNvSpPr/>
          <p:nvPr/>
        </p:nvSpPr>
        <p:spPr>
          <a:xfrm>
            <a:off x="7296912" y="996696"/>
            <a:ext cx="1417320" cy="182880"/>
          </a:xfrm>
          <a:prstGeom prst="rect">
            <a:avLst>
              <a:gd name="adj" fmla="val 15000"/>
            </a:avLst>
          </a:prstGeom>
          <a:solidFill>
            <a:srgbClr val="C00000"/>
          </a:solidFill>
          <a:ln/>
        </p:spPr>
      </p:sp>
      <p:sp>
        <p:nvSpPr>
          <p:cNvPr id="11" name="Text 9"/>
          <p:cNvSpPr/>
          <p:nvPr/>
        </p:nvSpPr>
        <p:spPr>
          <a:xfrm>
            <a:off x="7296912" y="996696"/>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Critical — blocks IC</a:t>
            </a:r>
            <a:endParaRPr lang="en-US" sz="700" dirty="0"/>
          </a:p>
        </p:txBody>
      </p:sp>
      <p:sp>
        <p:nvSpPr>
          <p:cNvPr id="12" name="Text 10"/>
          <p:cNvSpPr/>
          <p:nvPr/>
        </p:nvSpPr>
        <p:spPr>
          <a:xfrm>
            <a:off x="502920" y="1179576"/>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Please provide a corrected financial model addressing: (1) G&amp;A formula producing negative values in FY2025–26E; (2) Returned Equity formula in LBO Returns sheet producing MOIC inconsistent with sensitivity table; (3) balance sheet plug that causes Assets ≠ Liabilities + Equity in all periods.</a:t>
            </a:r>
            <a:endParaRPr lang="en-US" sz="800" dirty="0"/>
          </a:p>
        </p:txBody>
      </p:sp>
      <p:sp>
        <p:nvSpPr>
          <p:cNvPr id="13" name="Shape 11"/>
          <p:cNvSpPr/>
          <p:nvPr/>
        </p:nvSpPr>
        <p:spPr>
          <a:xfrm>
            <a:off x="365760" y="1527048"/>
            <a:ext cx="8412480" cy="493776"/>
          </a:xfrm>
          <a:prstGeom prst="rect">
            <a:avLst/>
          </a:prstGeom>
          <a:solidFill>
            <a:srgbClr val="FFFFFF"/>
          </a:solidFill>
          <a:ln w="5080">
            <a:solidFill>
              <a:srgbClr val="D0D5DD"/>
            </a:solidFill>
            <a:prstDash val="solid"/>
          </a:ln>
        </p:spPr>
      </p:sp>
      <p:sp>
        <p:nvSpPr>
          <p:cNvPr id="14" name="Shape 12"/>
          <p:cNvSpPr/>
          <p:nvPr/>
        </p:nvSpPr>
        <p:spPr>
          <a:xfrm>
            <a:off x="365760" y="1527048"/>
            <a:ext cx="45720" cy="493776"/>
          </a:xfrm>
          <a:prstGeom prst="rect">
            <a:avLst/>
          </a:prstGeom>
          <a:solidFill>
            <a:srgbClr val="C00000"/>
          </a:solidFill>
          <a:ln/>
        </p:spPr>
      </p:sp>
      <p:sp>
        <p:nvSpPr>
          <p:cNvPr id="15" name="Text 13"/>
          <p:cNvSpPr/>
          <p:nvPr/>
        </p:nvSpPr>
        <p:spPr>
          <a:xfrm>
            <a:off x="502920" y="1563624"/>
            <a:ext cx="1737360" cy="182880"/>
          </a:xfrm>
          <a:prstGeom prst="rect">
            <a:avLst/>
          </a:prstGeom>
          <a:noFill/>
          <a:ln/>
        </p:spPr>
        <p:txBody>
          <a:bodyPr wrap="square" lIns="0" tIns="0" rIns="0" bIns="0" rtlCol="0" anchor="ctr"/>
          <a:lstStyle/>
          <a:p>
            <a:pPr indent="0" marL="0">
              <a:buNone/>
            </a:pPr>
            <a:r>
              <a:rPr lang="en-US" sz="850" b="1" dirty="0">
                <a:solidFill>
                  <a:srgbClr val="C00000"/>
                </a:solidFill>
                <a:latin typeface="Arial" pitchFamily="34" charset="0"/>
                <a:ea typeface="Arial" pitchFamily="34" charset="-122"/>
                <a:cs typeface="Arial" pitchFamily="34" charset="-120"/>
              </a:rPr>
              <a:t>PROFESSIONAL SERVICES REVENUE</a:t>
            </a:r>
            <a:endParaRPr lang="en-US" sz="850" dirty="0"/>
          </a:p>
        </p:txBody>
      </p:sp>
      <p:sp>
        <p:nvSpPr>
          <p:cNvPr id="16" name="Shape 14"/>
          <p:cNvSpPr/>
          <p:nvPr/>
        </p:nvSpPr>
        <p:spPr>
          <a:xfrm>
            <a:off x="7296912" y="1563624"/>
            <a:ext cx="1417320" cy="182880"/>
          </a:xfrm>
          <a:prstGeom prst="rect">
            <a:avLst>
              <a:gd name="adj" fmla="val 15000"/>
            </a:avLst>
          </a:prstGeom>
          <a:solidFill>
            <a:srgbClr val="C00000"/>
          </a:solidFill>
          <a:ln/>
        </p:spPr>
      </p:sp>
      <p:sp>
        <p:nvSpPr>
          <p:cNvPr id="17" name="Text 15"/>
          <p:cNvSpPr/>
          <p:nvPr/>
        </p:nvSpPr>
        <p:spPr>
          <a:xfrm>
            <a:off x="7296912" y="1563624"/>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Critical — revenue quality</a:t>
            </a:r>
            <a:endParaRPr lang="en-US" sz="700" dirty="0"/>
          </a:p>
        </p:txBody>
      </p:sp>
      <p:sp>
        <p:nvSpPr>
          <p:cNvPr id="18" name="Text 16"/>
          <p:cNvSpPr/>
          <p:nvPr/>
        </p:nvSpPr>
        <p:spPr>
          <a:xfrm>
            <a:off x="502920" y="1746504"/>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Professional Services revenue jumps from $21.0M (FY2024E) to $60.3M (FY2025E). Please confirm: (a) does this reflect Kyruus Health revenue post-acquisition? (b) if so, provide Kyruus standalone P&amp;L; (c) if organic, what products and contracts support this growth?</a:t>
            </a:r>
            <a:endParaRPr lang="en-US" sz="800" dirty="0"/>
          </a:p>
        </p:txBody>
      </p:sp>
      <p:sp>
        <p:nvSpPr>
          <p:cNvPr id="19" name="Shape 17"/>
          <p:cNvSpPr/>
          <p:nvPr/>
        </p:nvSpPr>
        <p:spPr>
          <a:xfrm>
            <a:off x="365760" y="2093976"/>
            <a:ext cx="8412480" cy="493776"/>
          </a:xfrm>
          <a:prstGeom prst="rect">
            <a:avLst/>
          </a:prstGeom>
          <a:solidFill>
            <a:srgbClr val="F7F8FA"/>
          </a:solidFill>
          <a:ln w="5080">
            <a:solidFill>
              <a:srgbClr val="D0D5DD"/>
            </a:solidFill>
            <a:prstDash val="solid"/>
          </a:ln>
        </p:spPr>
      </p:sp>
      <p:sp>
        <p:nvSpPr>
          <p:cNvPr id="20" name="Shape 18"/>
          <p:cNvSpPr/>
          <p:nvPr/>
        </p:nvSpPr>
        <p:spPr>
          <a:xfrm>
            <a:off x="365760" y="2093976"/>
            <a:ext cx="45720" cy="493776"/>
          </a:xfrm>
          <a:prstGeom prst="rect">
            <a:avLst/>
          </a:prstGeom>
          <a:solidFill>
            <a:srgbClr val="2E6DB4"/>
          </a:solidFill>
          <a:ln/>
        </p:spPr>
      </p:sp>
      <p:sp>
        <p:nvSpPr>
          <p:cNvPr id="21" name="Text 19"/>
          <p:cNvSpPr/>
          <p:nvPr/>
        </p:nvSpPr>
        <p:spPr>
          <a:xfrm>
            <a:off x="502920" y="2130552"/>
            <a:ext cx="1737360" cy="182880"/>
          </a:xfrm>
          <a:prstGeom prst="rect">
            <a:avLst/>
          </a:prstGeom>
          <a:noFill/>
          <a:ln/>
        </p:spPr>
        <p:txBody>
          <a:bodyPr wrap="square" lIns="0" tIns="0" rIns="0" bIns="0" rtlCol="0" anchor="ctr"/>
          <a:lstStyle/>
          <a:p>
            <a:pPr indent="0" marL="0">
              <a:buNone/>
            </a:pPr>
            <a:r>
              <a:rPr lang="en-US" sz="850" b="1" dirty="0">
                <a:solidFill>
                  <a:srgbClr val="2E6DB4"/>
                </a:solidFill>
                <a:latin typeface="Arial" pitchFamily="34" charset="0"/>
                <a:ea typeface="Arial" pitchFamily="34" charset="-122"/>
                <a:cs typeface="Arial" pitchFamily="34" charset="-120"/>
              </a:rPr>
              <a:t>PRINT &amp; MAIL TRAJECTORY</a:t>
            </a:r>
            <a:endParaRPr lang="en-US" sz="850" dirty="0"/>
          </a:p>
        </p:txBody>
      </p:sp>
      <p:sp>
        <p:nvSpPr>
          <p:cNvPr id="22" name="Shape 20"/>
          <p:cNvSpPr/>
          <p:nvPr/>
        </p:nvSpPr>
        <p:spPr>
          <a:xfrm>
            <a:off x="7296912" y="2130552"/>
            <a:ext cx="1417320" cy="182880"/>
          </a:xfrm>
          <a:prstGeom prst="rect">
            <a:avLst>
              <a:gd name="adj" fmla="val 15000"/>
            </a:avLst>
          </a:prstGeom>
          <a:solidFill>
            <a:srgbClr val="2E6DB4"/>
          </a:solidFill>
          <a:ln/>
        </p:spPr>
      </p:sp>
      <p:sp>
        <p:nvSpPr>
          <p:cNvPr id="23" name="Text 21"/>
          <p:cNvSpPr/>
          <p:nvPr/>
        </p:nvSpPr>
        <p:spPr>
          <a:xfrm>
            <a:off x="7296912" y="2130552"/>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Material — margin modeling</a:t>
            </a:r>
            <a:endParaRPr lang="en-US" sz="700" dirty="0"/>
          </a:p>
        </p:txBody>
      </p:sp>
      <p:sp>
        <p:nvSpPr>
          <p:cNvPr id="24" name="Text 22"/>
          <p:cNvSpPr/>
          <p:nvPr/>
        </p:nvSpPr>
        <p:spPr>
          <a:xfrm>
            <a:off x="502920" y="2313432"/>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Print &amp; Mail revenue shows $39.0M (FY2024E) → $29.5M (FY2025E) → $45.3M (FY2026E). Please confirm the FY2026E figure is not a formula error, and provide a Print &amp; Mail revenue bridge with client-level detail.</a:t>
            </a:r>
            <a:endParaRPr lang="en-US" sz="800" dirty="0"/>
          </a:p>
        </p:txBody>
      </p:sp>
      <p:sp>
        <p:nvSpPr>
          <p:cNvPr id="25" name="Shape 23"/>
          <p:cNvSpPr/>
          <p:nvPr/>
        </p:nvSpPr>
        <p:spPr>
          <a:xfrm>
            <a:off x="365760" y="2660904"/>
            <a:ext cx="8412480" cy="493776"/>
          </a:xfrm>
          <a:prstGeom prst="rect">
            <a:avLst/>
          </a:prstGeom>
          <a:solidFill>
            <a:srgbClr val="FFFFFF"/>
          </a:solidFill>
          <a:ln w="5080">
            <a:solidFill>
              <a:srgbClr val="D0D5DD"/>
            </a:solidFill>
            <a:prstDash val="solid"/>
          </a:ln>
        </p:spPr>
      </p:sp>
      <p:sp>
        <p:nvSpPr>
          <p:cNvPr id="26" name="Shape 24"/>
          <p:cNvSpPr/>
          <p:nvPr/>
        </p:nvSpPr>
        <p:spPr>
          <a:xfrm>
            <a:off x="365760" y="2660904"/>
            <a:ext cx="45720" cy="493776"/>
          </a:xfrm>
          <a:prstGeom prst="rect">
            <a:avLst/>
          </a:prstGeom>
          <a:solidFill>
            <a:srgbClr val="C00000"/>
          </a:solidFill>
          <a:ln/>
        </p:spPr>
      </p:sp>
      <p:sp>
        <p:nvSpPr>
          <p:cNvPr id="27" name="Text 25"/>
          <p:cNvSpPr/>
          <p:nvPr/>
        </p:nvSpPr>
        <p:spPr>
          <a:xfrm>
            <a:off x="502920" y="2697480"/>
            <a:ext cx="1737360" cy="182880"/>
          </a:xfrm>
          <a:prstGeom prst="rect">
            <a:avLst/>
          </a:prstGeom>
          <a:noFill/>
          <a:ln/>
        </p:spPr>
        <p:txBody>
          <a:bodyPr wrap="square" lIns="0" tIns="0" rIns="0" bIns="0" rtlCol="0" anchor="ctr"/>
          <a:lstStyle/>
          <a:p>
            <a:pPr indent="0" marL="0">
              <a:buNone/>
            </a:pPr>
            <a:r>
              <a:rPr lang="en-US" sz="850" b="1" dirty="0">
                <a:solidFill>
                  <a:srgbClr val="C00000"/>
                </a:solidFill>
                <a:latin typeface="Arial" pitchFamily="34" charset="0"/>
                <a:ea typeface="Arial" pitchFamily="34" charset="-122"/>
                <a:cs typeface="Arial" pitchFamily="34" charset="-120"/>
              </a:rPr>
              <a:t>BEAR CASE IRR</a:t>
            </a:r>
            <a:endParaRPr lang="en-US" sz="850" dirty="0"/>
          </a:p>
        </p:txBody>
      </p:sp>
      <p:sp>
        <p:nvSpPr>
          <p:cNvPr id="28" name="Shape 26"/>
          <p:cNvSpPr/>
          <p:nvPr/>
        </p:nvSpPr>
        <p:spPr>
          <a:xfrm>
            <a:off x="7296912" y="2697480"/>
            <a:ext cx="1417320" cy="182880"/>
          </a:xfrm>
          <a:prstGeom prst="rect">
            <a:avLst>
              <a:gd name="adj" fmla="val 15000"/>
            </a:avLst>
          </a:prstGeom>
          <a:solidFill>
            <a:srgbClr val="C00000"/>
          </a:solidFill>
          <a:ln/>
        </p:spPr>
      </p:sp>
      <p:sp>
        <p:nvSpPr>
          <p:cNvPr id="29" name="Text 27"/>
          <p:cNvSpPr/>
          <p:nvPr/>
        </p:nvSpPr>
        <p:spPr>
          <a:xfrm>
            <a:off x="7296912" y="2697480"/>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Critical — deal approval</a:t>
            </a:r>
            <a:endParaRPr lang="en-US" sz="700" dirty="0"/>
          </a:p>
        </p:txBody>
      </p:sp>
      <p:sp>
        <p:nvSpPr>
          <p:cNvPr id="30" name="Text 28"/>
          <p:cNvSpPr/>
          <p:nvPr/>
        </p:nvSpPr>
        <p:spPr>
          <a:xfrm>
            <a:off x="502920" y="2880360"/>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The corrected model's bear case IRR of 14% falls below Morsebridge's 15% hard gate. What specific assumptions would need to change to bring bear case IRR to 15%+? Are management prepared to commit to these operationally?</a:t>
            </a:r>
            <a:endParaRPr lang="en-US" sz="800" dirty="0"/>
          </a:p>
        </p:txBody>
      </p:sp>
      <p:sp>
        <p:nvSpPr>
          <p:cNvPr id="31" name="Shape 29"/>
          <p:cNvSpPr/>
          <p:nvPr/>
        </p:nvSpPr>
        <p:spPr>
          <a:xfrm>
            <a:off x="365760" y="3227832"/>
            <a:ext cx="8412480" cy="493776"/>
          </a:xfrm>
          <a:prstGeom prst="rect">
            <a:avLst/>
          </a:prstGeom>
          <a:solidFill>
            <a:srgbClr val="F7F8FA"/>
          </a:solidFill>
          <a:ln w="5080">
            <a:solidFill>
              <a:srgbClr val="D0D5DD"/>
            </a:solidFill>
            <a:prstDash val="solid"/>
          </a:ln>
        </p:spPr>
      </p:sp>
      <p:sp>
        <p:nvSpPr>
          <p:cNvPr id="32" name="Shape 30"/>
          <p:cNvSpPr/>
          <p:nvPr/>
        </p:nvSpPr>
        <p:spPr>
          <a:xfrm>
            <a:off x="365760" y="3227832"/>
            <a:ext cx="45720" cy="493776"/>
          </a:xfrm>
          <a:prstGeom prst="rect">
            <a:avLst/>
          </a:prstGeom>
          <a:solidFill>
            <a:srgbClr val="2E6DB4"/>
          </a:solidFill>
          <a:ln/>
        </p:spPr>
      </p:sp>
      <p:sp>
        <p:nvSpPr>
          <p:cNvPr id="33" name="Text 31"/>
          <p:cNvSpPr/>
          <p:nvPr/>
        </p:nvSpPr>
        <p:spPr>
          <a:xfrm>
            <a:off x="502920" y="3264408"/>
            <a:ext cx="1737360" cy="182880"/>
          </a:xfrm>
          <a:prstGeom prst="rect">
            <a:avLst/>
          </a:prstGeom>
          <a:noFill/>
          <a:ln/>
        </p:spPr>
        <p:txBody>
          <a:bodyPr wrap="square" lIns="0" tIns="0" rIns="0" bIns="0" rtlCol="0" anchor="ctr"/>
          <a:lstStyle/>
          <a:p>
            <a:pPr indent="0" marL="0">
              <a:buNone/>
            </a:pPr>
            <a:r>
              <a:rPr lang="en-US" sz="850" b="1" dirty="0">
                <a:solidFill>
                  <a:srgbClr val="2E6DB4"/>
                </a:solidFill>
                <a:latin typeface="Arial" pitchFamily="34" charset="0"/>
                <a:ea typeface="Arial" pitchFamily="34" charset="-122"/>
                <a:cs typeface="Arial" pitchFamily="34" charset="-120"/>
              </a:rPr>
              <a:t>QUALITY OF EARNINGS</a:t>
            </a:r>
            <a:endParaRPr lang="en-US" sz="850" dirty="0"/>
          </a:p>
        </p:txBody>
      </p:sp>
      <p:sp>
        <p:nvSpPr>
          <p:cNvPr id="34" name="Shape 32"/>
          <p:cNvSpPr/>
          <p:nvPr/>
        </p:nvSpPr>
        <p:spPr>
          <a:xfrm>
            <a:off x="7296912" y="3264408"/>
            <a:ext cx="1417320" cy="182880"/>
          </a:xfrm>
          <a:prstGeom prst="rect">
            <a:avLst>
              <a:gd name="adj" fmla="val 15000"/>
            </a:avLst>
          </a:prstGeom>
          <a:solidFill>
            <a:srgbClr val="2E6DB4"/>
          </a:solidFill>
          <a:ln/>
        </p:spPr>
      </p:sp>
      <p:sp>
        <p:nvSpPr>
          <p:cNvPr id="35" name="Text 33"/>
          <p:cNvSpPr/>
          <p:nvPr/>
        </p:nvSpPr>
        <p:spPr>
          <a:xfrm>
            <a:off x="7296912" y="3264408"/>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Material — IC scoring</a:t>
            </a:r>
            <a:endParaRPr lang="en-US" sz="700" dirty="0"/>
          </a:p>
        </p:txBody>
      </p:sp>
      <p:sp>
        <p:nvSpPr>
          <p:cNvPr id="36" name="Text 34"/>
          <p:cNvSpPr/>
          <p:nvPr/>
        </p:nvSpPr>
        <p:spPr>
          <a:xfrm>
            <a:off x="502920" y="3447288"/>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Please provide a QoE analysis identifying all EBITDA add-backs and one-time items for FY2022A–FY2024E. What is pro forma recurring EBITDA before any add-backs?</a:t>
            </a:r>
            <a:endParaRPr lang="en-US" sz="800" dirty="0"/>
          </a:p>
        </p:txBody>
      </p:sp>
      <p:sp>
        <p:nvSpPr>
          <p:cNvPr id="37" name="Shape 35"/>
          <p:cNvSpPr/>
          <p:nvPr/>
        </p:nvSpPr>
        <p:spPr>
          <a:xfrm>
            <a:off x="365760" y="3794760"/>
            <a:ext cx="8412480" cy="493776"/>
          </a:xfrm>
          <a:prstGeom prst="rect">
            <a:avLst/>
          </a:prstGeom>
          <a:solidFill>
            <a:srgbClr val="FFFFFF"/>
          </a:solidFill>
          <a:ln w="5080">
            <a:solidFill>
              <a:srgbClr val="D0D5DD"/>
            </a:solidFill>
            <a:prstDash val="solid"/>
          </a:ln>
        </p:spPr>
      </p:sp>
      <p:sp>
        <p:nvSpPr>
          <p:cNvPr id="38" name="Shape 36"/>
          <p:cNvSpPr/>
          <p:nvPr/>
        </p:nvSpPr>
        <p:spPr>
          <a:xfrm>
            <a:off x="365760" y="3794760"/>
            <a:ext cx="45720" cy="493776"/>
          </a:xfrm>
          <a:prstGeom prst="rect">
            <a:avLst/>
          </a:prstGeom>
          <a:solidFill>
            <a:srgbClr val="2E6DB4"/>
          </a:solidFill>
          <a:ln/>
        </p:spPr>
      </p:sp>
      <p:sp>
        <p:nvSpPr>
          <p:cNvPr id="39" name="Text 37"/>
          <p:cNvSpPr/>
          <p:nvPr/>
        </p:nvSpPr>
        <p:spPr>
          <a:xfrm>
            <a:off x="502920" y="3831336"/>
            <a:ext cx="1737360" cy="182880"/>
          </a:xfrm>
          <a:prstGeom prst="rect">
            <a:avLst/>
          </a:prstGeom>
          <a:noFill/>
          <a:ln/>
        </p:spPr>
        <p:txBody>
          <a:bodyPr wrap="square" lIns="0" tIns="0" rIns="0" bIns="0" rtlCol="0" anchor="ctr"/>
          <a:lstStyle/>
          <a:p>
            <a:pPr indent="0" marL="0">
              <a:buNone/>
            </a:pPr>
            <a:r>
              <a:rPr lang="en-US" sz="850" b="1" dirty="0">
                <a:solidFill>
                  <a:srgbClr val="2E6DB4"/>
                </a:solidFill>
                <a:latin typeface="Arial" pitchFamily="34" charset="0"/>
                <a:ea typeface="Arial" pitchFamily="34" charset="-122"/>
                <a:cs typeface="Arial" pitchFamily="34" charset="-120"/>
              </a:rPr>
              <a:t>CFO TRANSITION</a:t>
            </a:r>
            <a:endParaRPr lang="en-US" sz="850" dirty="0"/>
          </a:p>
        </p:txBody>
      </p:sp>
      <p:sp>
        <p:nvSpPr>
          <p:cNvPr id="40" name="Shape 38"/>
          <p:cNvSpPr/>
          <p:nvPr/>
        </p:nvSpPr>
        <p:spPr>
          <a:xfrm>
            <a:off x="7296912" y="3831336"/>
            <a:ext cx="1417320" cy="182880"/>
          </a:xfrm>
          <a:prstGeom prst="rect">
            <a:avLst>
              <a:gd name="adj" fmla="val 15000"/>
            </a:avLst>
          </a:prstGeom>
          <a:solidFill>
            <a:srgbClr val="2E6DB4"/>
          </a:solidFill>
          <a:ln/>
        </p:spPr>
      </p:sp>
      <p:sp>
        <p:nvSpPr>
          <p:cNvPr id="41" name="Text 39"/>
          <p:cNvSpPr/>
          <p:nvPr/>
        </p:nvSpPr>
        <p:spPr>
          <a:xfrm>
            <a:off x="7296912" y="3831336"/>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Material — reporting risk</a:t>
            </a:r>
            <a:endParaRPr lang="en-US" sz="700" dirty="0"/>
          </a:p>
        </p:txBody>
      </p:sp>
      <p:sp>
        <p:nvSpPr>
          <p:cNvPr id="42" name="Text 40"/>
          <p:cNvSpPr/>
          <p:nvPr/>
        </p:nvSpPr>
        <p:spPr>
          <a:xfrm>
            <a:off x="502920" y="4014216"/>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Confirm that David Smith (CFO, joined July 2024) has full ownership of this financial model and that no restatements of FY2024E actuals are anticipated. Are the FY2024E figures actuals or still management estimates?</a:t>
            </a:r>
            <a:endParaRPr lang="en-US" sz="800" dirty="0"/>
          </a:p>
        </p:txBody>
      </p:sp>
      <p:sp>
        <p:nvSpPr>
          <p:cNvPr id="43" name="Shape 41"/>
          <p:cNvSpPr/>
          <p:nvPr/>
        </p:nvSpPr>
        <p:spPr>
          <a:xfrm>
            <a:off x="365760" y="4361688"/>
            <a:ext cx="8412480" cy="493776"/>
          </a:xfrm>
          <a:prstGeom prst="rect">
            <a:avLst/>
          </a:prstGeom>
          <a:solidFill>
            <a:srgbClr val="F7F8FA"/>
          </a:solidFill>
          <a:ln w="5080">
            <a:solidFill>
              <a:srgbClr val="D0D5DD"/>
            </a:solidFill>
            <a:prstDash val="solid"/>
          </a:ln>
        </p:spPr>
      </p:sp>
      <p:sp>
        <p:nvSpPr>
          <p:cNvPr id="44" name="Shape 42"/>
          <p:cNvSpPr/>
          <p:nvPr/>
        </p:nvSpPr>
        <p:spPr>
          <a:xfrm>
            <a:off x="365760" y="4361688"/>
            <a:ext cx="45720" cy="493776"/>
          </a:xfrm>
          <a:prstGeom prst="rect">
            <a:avLst/>
          </a:prstGeom>
          <a:solidFill>
            <a:srgbClr val="2E6DB4"/>
          </a:solidFill>
          <a:ln/>
        </p:spPr>
      </p:sp>
      <p:sp>
        <p:nvSpPr>
          <p:cNvPr id="45" name="Text 43"/>
          <p:cNvSpPr/>
          <p:nvPr/>
        </p:nvSpPr>
        <p:spPr>
          <a:xfrm>
            <a:off x="502920" y="4398264"/>
            <a:ext cx="1737360" cy="182880"/>
          </a:xfrm>
          <a:prstGeom prst="rect">
            <a:avLst/>
          </a:prstGeom>
          <a:noFill/>
          <a:ln/>
        </p:spPr>
        <p:txBody>
          <a:bodyPr wrap="square" lIns="0" tIns="0" rIns="0" bIns="0" rtlCol="0" anchor="ctr"/>
          <a:lstStyle/>
          <a:p>
            <a:pPr indent="0" marL="0">
              <a:buNone/>
            </a:pPr>
            <a:r>
              <a:rPr lang="en-US" sz="850" b="1" dirty="0">
                <a:solidFill>
                  <a:srgbClr val="2E6DB4"/>
                </a:solidFill>
                <a:latin typeface="Arial" pitchFamily="34" charset="0"/>
                <a:ea typeface="Arial" pitchFamily="34" charset="-122"/>
                <a:cs typeface="Arial" pitchFamily="34" charset="-120"/>
              </a:rPr>
              <a:t>KYRUUS + TRUSTCOMMERCE FINANCIALS</a:t>
            </a:r>
            <a:endParaRPr lang="en-US" sz="850" dirty="0"/>
          </a:p>
        </p:txBody>
      </p:sp>
      <p:sp>
        <p:nvSpPr>
          <p:cNvPr id="46" name="Shape 44"/>
          <p:cNvSpPr/>
          <p:nvPr/>
        </p:nvSpPr>
        <p:spPr>
          <a:xfrm>
            <a:off x="7296912" y="4398264"/>
            <a:ext cx="1417320" cy="182880"/>
          </a:xfrm>
          <a:prstGeom prst="rect">
            <a:avLst>
              <a:gd name="adj" fmla="val 15000"/>
            </a:avLst>
          </a:prstGeom>
          <a:solidFill>
            <a:srgbClr val="2E6DB4"/>
          </a:solidFill>
          <a:ln/>
        </p:spPr>
      </p:sp>
      <p:sp>
        <p:nvSpPr>
          <p:cNvPr id="47" name="Text 45"/>
          <p:cNvSpPr/>
          <p:nvPr/>
        </p:nvSpPr>
        <p:spPr>
          <a:xfrm>
            <a:off x="7296912" y="4398264"/>
            <a:ext cx="14173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Material — return model</a:t>
            </a:r>
            <a:endParaRPr lang="en-US" sz="700" dirty="0"/>
          </a:p>
        </p:txBody>
      </p:sp>
      <p:sp>
        <p:nvSpPr>
          <p:cNvPr id="48" name="Text 46"/>
          <p:cNvSpPr/>
          <p:nvPr/>
        </p:nvSpPr>
        <p:spPr>
          <a:xfrm>
            <a:off x="502920" y="4581144"/>
            <a:ext cx="6720840" cy="23774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Provide post-close revenue run rates, NRR, and EBITDA contributions for Kyruus Health (closed Q4 2025) and TrustCommerce (closed February 2026) to enable pro forma model update.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RevSpring Financial DD</dc:title>
  <dc:subject>PptxGenJS Presentation</dc:subject>
  <dc:creator>PptxGenJS</dc:creator>
  <cp:lastModifiedBy>PptxGenJS</cp:lastModifiedBy>
  <cp:revision>1</cp:revision>
  <dcterms:created xsi:type="dcterms:W3CDTF">2026-06-08T10:53:19Z</dcterms:created>
  <dcterms:modified xsi:type="dcterms:W3CDTF">2026-06-08T10:53:19Z</dcterms:modified>
</cp:coreProperties>
</file>