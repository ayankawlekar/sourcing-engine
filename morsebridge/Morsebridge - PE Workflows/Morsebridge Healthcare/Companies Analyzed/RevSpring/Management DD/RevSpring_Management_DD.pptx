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2.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Tenure (yrs)</c:v>
                </c:pt>
              </c:strCache>
            </c:strRef>
          </c:tx>
          <c:spPr>
            <a:solidFill>
              <a:srgbClr val="1A7A2E"/>
            </a:solidFill>
            <a:effectLst/>
          </c:spPr>
          <c:invertIfNegative val="0"/>
          <c:dLbls>
            <c:numFmt formatCode="#,##0" sourceLinked="0"/>
            <c:txPr>
              <a:bodyPr/>
              <a:lstStyle/>
              <a:p>
                <a:pPr>
                  <a:defRPr b="0" i="0" strike="noStrike" sz="800" u="none">
                    <a:solidFill>
                      <a:srgbClr val="000000"/>
                    </a:solidFill>
                    <a:latin typeface="Arial"/>
                  </a:defRPr>
                </a:pPr>
              </a:p>
            </c:txPr>
            <c:showLegendKey val="0"/>
            <c:showVal val="1"/>
            <c:showCatName val="0"/>
            <c:showSerName val="0"/>
            <c:showPercent val="0"/>
            <c:showBubbleSize val="0"/>
            <c:showLeaderLines val="0"/>
          </c:dLbls>
          <c:dPt>
            <c:idx val="0"/>
            <c:invertIfNegative val="0"/>
            <c:bubble3D val="0"/>
            <c:spPr>
              <a:solidFill>
                <a:srgbClr val="1A7A2E"/>
              </a:solidFill>
              <a:effectLst/>
            </c:spPr>
          </c:dPt>
          <c:dPt>
            <c:idx val="1"/>
            <c:invertIfNegative val="0"/>
            <c:bubble3D val="0"/>
            <c:spPr>
              <a:solidFill>
                <a:srgbClr val="1A7A2E"/>
              </a:solidFill>
              <a:effectLst/>
            </c:spPr>
          </c:dPt>
          <c:dPt>
            <c:idx val="2"/>
            <c:invertIfNegative val="0"/>
            <c:bubble3D val="0"/>
            <c:spPr>
              <a:solidFill>
                <a:srgbClr val="2E6DB4"/>
              </a:solidFill>
              <a:effectLst/>
            </c:spPr>
          </c:dPt>
          <c:dPt>
            <c:idx val="3"/>
            <c:invertIfNegative val="0"/>
            <c:bubble3D val="0"/>
            <c:spPr>
              <a:solidFill>
                <a:srgbClr val="B45309"/>
              </a:solidFill>
              <a:effectLst/>
            </c:spPr>
          </c:dPt>
          <c:dPt>
            <c:idx val="4"/>
            <c:invertIfNegative val="0"/>
            <c:bubble3D val="0"/>
            <c:spPr>
              <a:solidFill>
                <a:srgbClr val="C00000"/>
              </a:solidFill>
              <a:effectLst/>
            </c:spPr>
          </c:dPt>
          <c:cat>
            <c:multiLvlStrRef>
              <c:f>Sheet1!$A$2:$A$6</c:f>
              <c:multiLvlStrCache>
                <c:ptCount val="5"/>
                <c:lvl>
                  <c:pt idx="0">
                    <c:v>MacKenzie
(CEO)</c:v>
                  </c:pt>
                  <c:pt idx="1">
                    <c:v>Bright
(CTO)</c:v>
                  </c:pt>
                  <c:pt idx="2">
                    <c:v>Davis
(Chairman)</c:v>
                  </c:pt>
                  <c:pt idx="3">
                    <c:v>Smith
(CFO)</c:v>
                  </c:pt>
                  <c:pt idx="4">
                    <c:v>Rogas
(President)</c:v>
                  </c:pt>
                </c:lvl>
              </c:multiLvlStrCache>
            </c:multiLvlStrRef>
          </c:cat>
          <c:val>
            <c:numRef>
              <c:f>Sheet1!$B$2:$B$6</c:f>
              <c:numCache>
                <c:formatCode>General</c:formatCode>
                <c:ptCount val="5"/>
                <c:pt idx="0">
                  <c:v>7.2</c:v>
                </c:pt>
                <c:pt idx="1">
                  <c:v>5</c:v>
                </c:pt>
                <c:pt idx="2">
                  <c:v>2.2</c:v>
                </c:pt>
                <c:pt idx="3">
                  <c:v>0.9</c:v>
                </c:pt>
                <c:pt idx="4">
                  <c:v>0.4</c:v>
                </c:pt>
              </c:numCache>
            </c:numRef>
          </c:val>
        </c:ser>
        <c:dLbls>
          <c:numFmt formatCode="#,##0" sourceLinked="0"/>
          <c:txPr>
            <a:bodyPr/>
            <a:lstStyle/>
            <a:p>
              <a:pPr>
                <a:defRPr b="0" i="0" strike="noStrike" sz="8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75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9"/>
        </c:scaling>
        <c:delete val="0"/>
        <c:axPos val="b"/>
        <c:majorGridlines>
          <c:spPr>
            <a:ln w="6350" cap="flat">
              <a:solidFill>
                <a:srgbClr val="E2E8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75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Headcount</c:v>
                </c:pt>
              </c:strCache>
            </c:strRef>
          </c:tx>
          <c:spPr>
            <a:solidFill>
              <a:srgbClr val="1B3A5C"/>
            </a:solidFill>
            <a:effectLst/>
          </c:spPr>
          <c:invertIfNegative val="0"/>
          <c:dLbls>
            <c:numFmt formatCode="#,##0" sourceLinked="0"/>
            <c:txPr>
              <a:bodyPr/>
              <a:lstStyle/>
              <a:p>
                <a:pPr>
                  <a:defRPr b="0" i="0" strike="noStrike" sz="750" u="none">
                    <a:solidFill>
                      <a:srgbClr val="000000"/>
                    </a:solidFill>
                    <a:latin typeface="Arial"/>
                  </a:defRPr>
                </a:pPr>
              </a:p>
            </c:txPr>
            <c:showLegendKey val="0"/>
            <c:showVal val="1"/>
            <c:showCatName val="0"/>
            <c:showSerName val="0"/>
            <c:showPercent val="0"/>
            <c:showBubbleSize val="0"/>
            <c:showLeaderLines val="0"/>
          </c:dLbls>
          <c:cat>
            <c:multiLvlStrRef>
              <c:f>Sheet1!$A$2:$A$6</c:f>
              <c:multiLvlStrCache>
                <c:ptCount val="5"/>
                <c:lvl>
                  <c:pt idx="0">
                    <c:v>Ops/Client Svc</c:v>
                  </c:pt>
                  <c:pt idx="1">
                    <c:v>Tech/Eng</c:v>
                  </c:pt>
                  <c:pt idx="2">
                    <c:v>Sales/Mktg</c:v>
                  </c:pt>
                  <c:pt idx="3">
                    <c:v>G&amp;A/Other</c:v>
                  </c:pt>
                  <c:pt idx="4">
                    <c:v>Finance/Compliance</c:v>
                  </c:pt>
                </c:lvl>
              </c:multiLvlStrCache>
            </c:multiLvlStrRef>
          </c:cat>
          <c:val>
            <c:numRef>
              <c:f>Sheet1!$B$2:$B$6</c:f>
              <c:numCache>
                <c:formatCode>General</c:formatCode>
                <c:ptCount val="5"/>
                <c:pt idx="0">
                  <c:v>420</c:v>
                </c:pt>
                <c:pt idx="1">
                  <c:v>310</c:v>
                </c:pt>
                <c:pt idx="2">
                  <c:v>185</c:v>
                </c:pt>
                <c:pt idx="3">
                  <c:v>225</c:v>
                </c:pt>
                <c:pt idx="4">
                  <c:v>125</c:v>
                </c:pt>
              </c:numCache>
            </c:numRef>
          </c:val>
        </c:ser>
        <c:dLbls>
          <c:numFmt formatCode="#,##0" sourceLinked="0"/>
          <c:txPr>
            <a:bodyPr/>
            <a:lstStyle/>
            <a:p>
              <a:pPr>
                <a:defRPr b="0" i="0" strike="noStrike" sz="75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75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b"/>
        <c:numFmt formatCode="General" sourceLinked="0"/>
        <c:majorTickMark val="out"/>
        <c:minorTickMark val="none"/>
        <c:tickLblPos val="low"/>
        <c:spPr>
          <a:ln w="12700" cap="flat">
            <a:solidFill>
              <a:srgbClr val="888888"/>
            </a:solidFill>
            <a:prstDash val="solid"/>
            <a:round/>
          </a:ln>
        </c:spPr>
        <c:txPr>
          <a:bodyPr/>
          <a:lstStyle/>
          <a:p>
            <a:pPr>
              <a:defRPr sz="75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3474720"/>
            <a:ext cx="9144000" cy="1668780"/>
          </a:xfrm>
          <a:prstGeom prst="rect">
            <a:avLst/>
          </a:prstGeom>
          <a:solidFill>
            <a:srgbClr val="111E2B"/>
          </a:solidFill>
          <a:ln/>
        </p:spPr>
      </p:sp>
      <p:sp>
        <p:nvSpPr>
          <p:cNvPr id="3" name="Text 1"/>
          <p:cNvSpPr/>
          <p:nvPr/>
        </p:nvSpPr>
        <p:spPr>
          <a:xfrm>
            <a:off x="457200" y="822960"/>
            <a:ext cx="8229600" cy="502920"/>
          </a:xfrm>
          <a:prstGeom prst="rect">
            <a:avLst/>
          </a:prstGeom>
          <a:noFill/>
          <a:ln/>
        </p:spPr>
        <p:txBody>
          <a:bodyPr wrap="square" rtlCol="0" anchor="ctr"/>
          <a:lstStyle/>
          <a:p>
            <a:pPr indent="0" marL="0">
              <a:buNone/>
            </a:pPr>
            <a:r>
              <a:rPr lang="en-US" sz="3600" b="1" spc="300" kern="0" dirty="0">
                <a:solidFill>
                  <a:srgbClr val="FFFFFF"/>
                </a:solidFill>
                <a:latin typeface="Arial" pitchFamily="34" charset="0"/>
                <a:ea typeface="Arial" pitchFamily="34" charset="-122"/>
                <a:cs typeface="Arial" pitchFamily="34" charset="-120"/>
              </a:rPr>
              <a:t>MANAGEMENT DUE DILIGENCE</a:t>
            </a:r>
            <a:endParaRPr lang="en-US" sz="3600" dirty="0"/>
          </a:p>
        </p:txBody>
      </p:sp>
      <p:sp>
        <p:nvSpPr>
          <p:cNvPr id="4" name="Text 2"/>
          <p:cNvSpPr/>
          <p:nvPr/>
        </p:nvSpPr>
        <p:spPr>
          <a:xfrm>
            <a:off x="457200" y="1417320"/>
            <a:ext cx="8229600" cy="310896"/>
          </a:xfrm>
          <a:prstGeom prst="rect">
            <a:avLst/>
          </a:prstGeom>
          <a:noFill/>
          <a:ln/>
        </p:spPr>
        <p:txBody>
          <a:bodyPr wrap="square" rtlCol="0" anchor="ctr"/>
          <a:lstStyle/>
          <a:p>
            <a:pPr indent="0" marL="0">
              <a:buNone/>
            </a:pPr>
            <a:r>
              <a:rPr lang="en-US" sz="1500" dirty="0">
                <a:solidFill>
                  <a:srgbClr val="8BAED4"/>
                </a:solidFill>
                <a:latin typeface="Arial" pitchFamily="34" charset="0"/>
                <a:ea typeface="Arial" pitchFamily="34" charset="-122"/>
                <a:cs typeface="Arial" pitchFamily="34" charset="-120"/>
              </a:rPr>
              <a:t>RevSpring, Inc.  |  Patient Engagement &amp; Revenue Cycle Management</a:t>
            </a:r>
            <a:endParaRPr lang="en-US" sz="1500" dirty="0"/>
          </a:p>
        </p:txBody>
      </p:sp>
      <p:sp>
        <p:nvSpPr>
          <p:cNvPr id="5" name="Shape 3"/>
          <p:cNvSpPr/>
          <p:nvPr/>
        </p:nvSpPr>
        <p:spPr>
          <a:xfrm>
            <a:off x="457200" y="1847088"/>
            <a:ext cx="3200400" cy="36576"/>
          </a:xfrm>
          <a:prstGeom prst="rect">
            <a:avLst/>
          </a:prstGeom>
          <a:solidFill>
            <a:srgbClr val="2E6DB4"/>
          </a:solidFill>
          <a:ln/>
        </p:spPr>
      </p:sp>
      <p:sp>
        <p:nvSpPr>
          <p:cNvPr id="6" name="Text 4"/>
          <p:cNvSpPr/>
          <p:nvPr/>
        </p:nvSpPr>
        <p:spPr>
          <a:xfrm>
            <a:off x="457200" y="2011680"/>
            <a:ext cx="1645920" cy="274320"/>
          </a:xfrm>
          <a:prstGeom prst="rect">
            <a:avLst/>
          </a:prstGeom>
          <a:noFill/>
          <a:ln/>
        </p:spPr>
        <p:txBody>
          <a:bodyPr wrap="square" lIns="0" tIns="0" rIns="0" bIns="0" rtlCol="0" anchor="ctr"/>
          <a:lstStyle/>
          <a:p>
            <a:pPr indent="0" marL="0">
              <a:buNone/>
            </a:pPr>
            <a:r>
              <a:rPr lang="en-US" sz="1000" b="1" dirty="0">
                <a:solidFill>
                  <a:srgbClr val="8BAED4"/>
                </a:solidFill>
                <a:latin typeface="Arial" pitchFamily="34" charset="0"/>
                <a:ea typeface="Arial" pitchFamily="34" charset="-122"/>
                <a:cs typeface="Arial" pitchFamily="34" charset="-120"/>
              </a:rPr>
              <a:t>Prepared by:</a:t>
            </a:r>
            <a:endParaRPr lang="en-US" sz="1000" dirty="0"/>
          </a:p>
        </p:txBody>
      </p:sp>
      <p:sp>
        <p:nvSpPr>
          <p:cNvPr id="7" name="Text 5"/>
          <p:cNvSpPr/>
          <p:nvPr/>
        </p:nvSpPr>
        <p:spPr>
          <a:xfrm>
            <a:off x="2194560" y="2011680"/>
            <a:ext cx="6400800" cy="274320"/>
          </a:xfrm>
          <a:prstGeom prst="rect">
            <a:avLst/>
          </a:prstGeom>
          <a:noFill/>
          <a:ln/>
        </p:spPr>
        <p:txBody>
          <a:bodyPr wrap="square" lIns="0" tIns="0" rIns="0" bIns="0" rtlCol="0" anchor="ctr"/>
          <a:lstStyle/>
          <a:p>
            <a:pPr indent="0" marL="0">
              <a:buNone/>
            </a:pPr>
            <a:r>
              <a:rPr lang="en-US" sz="1000" dirty="0">
                <a:solidFill>
                  <a:srgbClr val="FFFFFF"/>
                </a:solidFill>
                <a:latin typeface="Arial" pitchFamily="34" charset="0"/>
                <a:ea typeface="Arial" pitchFamily="34" charset="-122"/>
                <a:cs typeface="Arial" pitchFamily="34" charset="-120"/>
              </a:rPr>
              <a:t>Morsebridge Healthcare — AI Deal Team</a:t>
            </a:r>
            <a:endParaRPr lang="en-US" sz="1000" dirty="0"/>
          </a:p>
        </p:txBody>
      </p:sp>
      <p:sp>
        <p:nvSpPr>
          <p:cNvPr id="8" name="Text 6"/>
          <p:cNvSpPr/>
          <p:nvPr/>
        </p:nvSpPr>
        <p:spPr>
          <a:xfrm>
            <a:off x="457200" y="2340864"/>
            <a:ext cx="1645920" cy="274320"/>
          </a:xfrm>
          <a:prstGeom prst="rect">
            <a:avLst/>
          </a:prstGeom>
          <a:noFill/>
          <a:ln/>
        </p:spPr>
        <p:txBody>
          <a:bodyPr wrap="square" lIns="0" tIns="0" rIns="0" bIns="0" rtlCol="0" anchor="ctr"/>
          <a:lstStyle/>
          <a:p>
            <a:pPr indent="0" marL="0">
              <a:buNone/>
            </a:pPr>
            <a:r>
              <a:rPr lang="en-US" sz="1000" b="1" dirty="0">
                <a:solidFill>
                  <a:srgbClr val="8BAED4"/>
                </a:solidFill>
                <a:latin typeface="Arial" pitchFamily="34" charset="0"/>
                <a:ea typeface="Arial" pitchFamily="34" charset="-122"/>
                <a:cs typeface="Arial" pitchFamily="34" charset="-120"/>
              </a:rPr>
              <a:t>Date:</a:t>
            </a:r>
            <a:endParaRPr lang="en-US" sz="1000" dirty="0"/>
          </a:p>
        </p:txBody>
      </p:sp>
      <p:sp>
        <p:nvSpPr>
          <p:cNvPr id="9" name="Text 7"/>
          <p:cNvSpPr/>
          <p:nvPr/>
        </p:nvSpPr>
        <p:spPr>
          <a:xfrm>
            <a:off x="2194560" y="2340864"/>
            <a:ext cx="6400800" cy="274320"/>
          </a:xfrm>
          <a:prstGeom prst="rect">
            <a:avLst/>
          </a:prstGeom>
          <a:noFill/>
          <a:ln/>
        </p:spPr>
        <p:txBody>
          <a:bodyPr wrap="square" lIns="0" tIns="0" rIns="0" bIns="0" rtlCol="0" anchor="ctr"/>
          <a:lstStyle/>
          <a:p>
            <a:pPr indent="0" marL="0">
              <a:buNone/>
            </a:pPr>
            <a:r>
              <a:rPr lang="en-US" sz="1000" dirty="0">
                <a:solidFill>
                  <a:srgbClr val="FFFFFF"/>
                </a:solidFill>
                <a:latin typeface="Arial" pitchFamily="34" charset="0"/>
                <a:ea typeface="Arial" pitchFamily="34" charset="-122"/>
                <a:cs typeface="Arial" pitchFamily="34" charset="-120"/>
              </a:rPr>
              <a:t>June 5, 2026</a:t>
            </a:r>
            <a:endParaRPr lang="en-US" sz="1000" dirty="0"/>
          </a:p>
        </p:txBody>
      </p:sp>
      <p:sp>
        <p:nvSpPr>
          <p:cNvPr id="10" name="Text 8"/>
          <p:cNvSpPr/>
          <p:nvPr/>
        </p:nvSpPr>
        <p:spPr>
          <a:xfrm>
            <a:off x="457200" y="2670048"/>
            <a:ext cx="1645920" cy="274320"/>
          </a:xfrm>
          <a:prstGeom prst="rect">
            <a:avLst/>
          </a:prstGeom>
          <a:noFill/>
          <a:ln/>
        </p:spPr>
        <p:txBody>
          <a:bodyPr wrap="square" lIns="0" tIns="0" rIns="0" bIns="0" rtlCol="0" anchor="ctr"/>
          <a:lstStyle/>
          <a:p>
            <a:pPr indent="0" marL="0">
              <a:buNone/>
            </a:pPr>
            <a:r>
              <a:rPr lang="en-US" sz="1000" b="1" dirty="0">
                <a:solidFill>
                  <a:srgbClr val="8BAED4"/>
                </a:solidFill>
                <a:latin typeface="Arial" pitchFamily="34" charset="0"/>
                <a:ea typeface="Arial" pitchFamily="34" charset="-122"/>
                <a:cs typeface="Arial" pitchFamily="34" charset="-120"/>
              </a:rPr>
              <a:t>Status:</a:t>
            </a:r>
            <a:endParaRPr lang="en-US" sz="1000" dirty="0"/>
          </a:p>
        </p:txBody>
      </p:sp>
      <p:sp>
        <p:nvSpPr>
          <p:cNvPr id="11" name="Text 9"/>
          <p:cNvSpPr/>
          <p:nvPr/>
        </p:nvSpPr>
        <p:spPr>
          <a:xfrm>
            <a:off x="2194560" y="2670048"/>
            <a:ext cx="6400800" cy="274320"/>
          </a:xfrm>
          <a:prstGeom prst="rect">
            <a:avLst/>
          </a:prstGeom>
          <a:noFill/>
          <a:ln/>
        </p:spPr>
        <p:txBody>
          <a:bodyPr wrap="square" lIns="0" tIns="0" rIns="0" bIns="0" rtlCol="0" anchor="ctr"/>
          <a:lstStyle/>
          <a:p>
            <a:pPr indent="0" marL="0">
              <a:buNone/>
            </a:pPr>
            <a:r>
              <a:rPr lang="en-US" sz="1000" dirty="0">
                <a:solidFill>
                  <a:srgbClr val="FFFFFF"/>
                </a:solidFill>
                <a:latin typeface="Arial" pitchFamily="34" charset="0"/>
                <a:ea typeface="Arial" pitchFamily="34" charset="-122"/>
                <a:cs typeface="Arial" pitchFamily="34" charset="-120"/>
              </a:rPr>
              <a:t>Pre-Interview Assessment  |  To be updated after CEO and CFO sessions</a:t>
            </a:r>
            <a:endParaRPr lang="en-US" sz="1000" dirty="0"/>
          </a:p>
        </p:txBody>
      </p:sp>
      <p:sp>
        <p:nvSpPr>
          <p:cNvPr id="12" name="Text 10"/>
          <p:cNvSpPr/>
          <p:nvPr/>
        </p:nvSpPr>
        <p:spPr>
          <a:xfrm>
            <a:off x="457200" y="2999232"/>
            <a:ext cx="1645920" cy="274320"/>
          </a:xfrm>
          <a:prstGeom prst="rect">
            <a:avLst/>
          </a:prstGeom>
          <a:noFill/>
          <a:ln/>
        </p:spPr>
        <p:txBody>
          <a:bodyPr wrap="square" lIns="0" tIns="0" rIns="0" bIns="0" rtlCol="0" anchor="ctr"/>
          <a:lstStyle/>
          <a:p>
            <a:pPr indent="0" marL="0">
              <a:buNone/>
            </a:pPr>
            <a:r>
              <a:rPr lang="en-US" sz="1000" b="1" dirty="0">
                <a:solidFill>
                  <a:srgbClr val="8BAED4"/>
                </a:solidFill>
                <a:latin typeface="Arial" pitchFamily="34" charset="0"/>
                <a:ea typeface="Arial" pitchFamily="34" charset="-122"/>
                <a:cs typeface="Arial" pitchFamily="34" charset="-120"/>
              </a:rPr>
              <a:t>Interviewees:</a:t>
            </a:r>
            <a:endParaRPr lang="en-US" sz="1000" dirty="0"/>
          </a:p>
        </p:txBody>
      </p:sp>
      <p:sp>
        <p:nvSpPr>
          <p:cNvPr id="13" name="Text 11"/>
          <p:cNvSpPr/>
          <p:nvPr/>
        </p:nvSpPr>
        <p:spPr>
          <a:xfrm>
            <a:off x="2194560" y="2999232"/>
            <a:ext cx="6400800" cy="274320"/>
          </a:xfrm>
          <a:prstGeom prst="rect">
            <a:avLst/>
          </a:prstGeom>
          <a:noFill/>
          <a:ln/>
        </p:spPr>
        <p:txBody>
          <a:bodyPr wrap="square" lIns="0" tIns="0" rIns="0" bIns="0" rtlCol="0" anchor="ctr"/>
          <a:lstStyle/>
          <a:p>
            <a:pPr indent="0" marL="0">
              <a:buNone/>
            </a:pPr>
            <a:r>
              <a:rPr lang="en-US" sz="1000" dirty="0">
                <a:solidFill>
                  <a:srgbClr val="FFFFFF"/>
                </a:solidFill>
                <a:latin typeface="Arial" pitchFamily="34" charset="0"/>
                <a:ea typeface="Arial" pitchFamily="34" charset="-122"/>
                <a:cs typeface="Arial" pitchFamily="34" charset="-120"/>
              </a:rPr>
              <a:t>Scott MacKenzie (CEO)  |  David Smith (CFO)</a:t>
            </a:r>
            <a:endParaRPr lang="en-US" sz="1000" dirty="0"/>
          </a:p>
        </p:txBody>
      </p:sp>
      <p:sp>
        <p:nvSpPr>
          <p:cNvPr id="14" name="Shape 12"/>
          <p:cNvSpPr/>
          <p:nvPr/>
        </p:nvSpPr>
        <p:spPr>
          <a:xfrm>
            <a:off x="457200" y="3639312"/>
            <a:ext cx="2194560" cy="603504"/>
          </a:xfrm>
          <a:prstGeom prst="rect">
            <a:avLst/>
          </a:prstGeom>
          <a:solidFill>
            <a:srgbClr val="1A5C2A"/>
          </a:solidFill>
          <a:ln/>
          <a:effectLst>
            <a:outerShdw sx="100000" sy="100000" kx="0" ky="0" algn="bl" rotWithShape="0" blurRad="50800" dist="25400" dir="16200000">
              <a:srgbClr val="000000">
                <a:alpha val="8000"/>
              </a:srgbClr>
            </a:outerShdw>
          </a:effectLst>
        </p:spPr>
      </p:sp>
      <p:sp>
        <p:nvSpPr>
          <p:cNvPr id="15" name="Text 13"/>
          <p:cNvSpPr/>
          <p:nvPr/>
        </p:nvSpPr>
        <p:spPr>
          <a:xfrm>
            <a:off x="457200" y="3639312"/>
            <a:ext cx="2194560" cy="365760"/>
          </a:xfrm>
          <a:prstGeom prst="rect">
            <a:avLst/>
          </a:prstGeom>
          <a:noFill/>
          <a:ln/>
        </p:spPr>
        <p:txBody>
          <a:bodyPr wrap="square" lIns="0" tIns="0" rIns="0" bIns="0"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70.8 / 100</a:t>
            </a:r>
            <a:endParaRPr lang="en-US" sz="2200" dirty="0"/>
          </a:p>
        </p:txBody>
      </p:sp>
      <p:sp>
        <p:nvSpPr>
          <p:cNvPr id="16" name="Text 14"/>
          <p:cNvSpPr/>
          <p:nvPr/>
        </p:nvSpPr>
        <p:spPr>
          <a:xfrm>
            <a:off x="457200" y="4005072"/>
            <a:ext cx="2194560" cy="237744"/>
          </a:xfrm>
          <a:prstGeom prst="rect">
            <a:avLst/>
          </a:prstGeom>
          <a:noFill/>
          <a:ln/>
        </p:spPr>
        <p:txBody>
          <a:bodyPr wrap="square" lIns="0" tIns="0" rIns="0" bIns="0"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CONDITIONAL PROCEED</a:t>
            </a:r>
            <a:endParaRPr lang="en-US" sz="850" dirty="0"/>
          </a:p>
        </p:txBody>
      </p:sp>
      <p:sp>
        <p:nvSpPr>
          <p:cNvPr id="17" name="Text 15"/>
          <p:cNvSpPr/>
          <p:nvPr/>
        </p:nvSpPr>
        <p:spPr>
          <a:xfrm>
            <a:off x="2834640" y="3657600"/>
            <a:ext cx="5852160" cy="475488"/>
          </a:xfrm>
          <a:prstGeom prst="rect">
            <a:avLst/>
          </a:prstGeom>
          <a:noFill/>
          <a:ln/>
        </p:spPr>
        <p:txBody>
          <a:bodyPr wrap="square" lIns="0" tIns="0" rIns="0" bIns="0" rtlCol="0" anchor="ctr"/>
          <a:lstStyle/>
          <a:p>
            <a:pPr indent="0" marL="0">
              <a:buNone/>
            </a:pPr>
            <a:r>
              <a:rPr lang="en-US" sz="850" dirty="0">
                <a:solidFill>
                  <a:srgbClr val="C8D8E8"/>
                </a:solidFill>
                <a:latin typeface="Arial" pitchFamily="34" charset="0"/>
                <a:ea typeface="Arial" pitchFamily="34" charset="-122"/>
                <a:cs typeface="Arial" pitchFamily="34" charset="-120"/>
              </a:rPr>
              <a:t>Pre-interview score based on CIM, executive research, and prior DD work. Score to be validated after management sessions.</a:t>
            </a:r>
            <a:endParaRPr lang="en-US" sz="850" dirty="0"/>
          </a:p>
        </p:txBody>
      </p:sp>
      <p:sp>
        <p:nvSpPr>
          <p:cNvPr id="18" name="Text 16"/>
          <p:cNvSpPr/>
          <p:nvPr/>
        </p:nvSpPr>
        <p:spPr>
          <a:xfrm>
            <a:off x="274320" y="4864608"/>
            <a:ext cx="8595360" cy="182880"/>
          </a:xfrm>
          <a:prstGeom prst="rect">
            <a:avLst/>
          </a:prstGeom>
          <a:noFill/>
          <a:ln/>
        </p:spPr>
        <p:txBody>
          <a:bodyPr wrap="square" lIns="0" tIns="0" rIns="0" bIns="0" rtlCol="0" anchor="ctr"/>
          <a:lstStyle/>
          <a:p>
            <a:pPr algn="ctr" indent="0" marL="0">
              <a:buNone/>
            </a:pPr>
            <a:r>
              <a:rPr lang="en-US" sz="750" dirty="0">
                <a:solidFill>
                  <a:srgbClr val="3A4E5E"/>
                </a:solidFill>
                <a:latin typeface="Arial" pitchFamily="34" charset="0"/>
                <a:ea typeface="Arial" pitchFamily="34" charset="-122"/>
                <a:cs typeface="Arial" pitchFamily="34" charset="-120"/>
              </a:rPr>
              <a:t>Confidential  |  Morsebridge Healthcare  |  Management DD  |  RevSpring  |  June 5, 2026</a:t>
            </a:r>
            <a:endParaRPr lang="en-US" sz="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46304"/>
            <a:ext cx="8412480" cy="457200"/>
          </a:xfrm>
          <a:prstGeom prst="rect">
            <a:avLst/>
          </a:prstGeom>
          <a:noFill/>
          <a:ln/>
        </p:spPr>
        <p:txBody>
          <a:bodyPr wrap="square" lIns="0" tIns="0" rIns="0" bIns="0" rtlCol="0" anchor="ctr"/>
          <a:lstStyle/>
          <a:p>
            <a:pPr indent="0" marL="0">
              <a:buNone/>
            </a:pPr>
            <a:r>
              <a:rPr lang="en-US" sz="2100" b="1" dirty="0">
                <a:solidFill>
                  <a:srgbClr val="1B3A5C"/>
                </a:solidFill>
                <a:latin typeface="Arial" pitchFamily="34" charset="0"/>
                <a:ea typeface="Arial" pitchFamily="34" charset="-122"/>
                <a:cs typeface="Arial" pitchFamily="34" charset="-120"/>
              </a:rPr>
              <a:t>Slide 2  |  Executive Summary</a:t>
            </a:r>
            <a:endParaRPr lang="en-US" sz="2100" dirty="0"/>
          </a:p>
        </p:txBody>
      </p:sp>
      <p:sp>
        <p:nvSpPr>
          <p:cNvPr id="3" name="Shape 1"/>
          <p:cNvSpPr/>
          <p:nvPr/>
        </p:nvSpPr>
        <p:spPr>
          <a:xfrm>
            <a:off x="365760" y="640080"/>
            <a:ext cx="822960" cy="201168"/>
          </a:xfrm>
          <a:prstGeom prst="rect">
            <a:avLst/>
          </a:prstGeom>
          <a:solidFill>
            <a:srgbClr val="1B3A5C"/>
          </a:solidFill>
          <a:ln/>
        </p:spPr>
      </p:sp>
      <p:sp>
        <p:nvSpPr>
          <p:cNvPr id="4" name="Text 2"/>
          <p:cNvSpPr/>
          <p:nvPr/>
        </p:nvSpPr>
        <p:spPr>
          <a:xfrm>
            <a:off x="365760" y="640080"/>
            <a:ext cx="822960" cy="201168"/>
          </a:xfrm>
          <a:prstGeom prst="rect">
            <a:avLst/>
          </a:prstGeom>
          <a:noFill/>
          <a:ln/>
        </p:spPr>
        <p:txBody>
          <a:bodyPr wrap="square" lIns="0" tIns="0" rIns="0" bIns="0"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SO WHAT</a:t>
            </a:r>
            <a:endParaRPr lang="en-US" sz="700" dirty="0"/>
          </a:p>
        </p:txBody>
      </p:sp>
      <p:sp>
        <p:nvSpPr>
          <p:cNvPr id="5" name="Text 3"/>
          <p:cNvSpPr/>
          <p:nvPr/>
        </p:nvSpPr>
        <p:spPr>
          <a:xfrm>
            <a:off x="1261872" y="640080"/>
            <a:ext cx="7406640" cy="201168"/>
          </a:xfrm>
          <a:prstGeom prst="rect">
            <a:avLst/>
          </a:prstGeom>
          <a:noFill/>
          <a:ln/>
        </p:spPr>
        <p:txBody>
          <a:bodyPr wrap="square" lIns="0" tIns="0" rIns="0" bIns="0" rtlCol="0" anchor="ctr"/>
          <a:lstStyle/>
          <a:p>
            <a:pPr indent="0" marL="0">
              <a:buNone/>
            </a:pPr>
            <a:r>
              <a:rPr lang="en-US" sz="850" i="1" dirty="0">
                <a:solidFill>
                  <a:srgbClr val="1B3A5C"/>
                </a:solidFill>
                <a:latin typeface="Arial" pitchFamily="34" charset="0"/>
                <a:ea typeface="Arial" pitchFamily="34" charset="-122"/>
                <a:cs typeface="Arial" pitchFamily="34" charset="-120"/>
              </a:rPr>
              <a:t>MacKenzie's two prior PE exits are exceptional — but the CFO transition, thin second-tier bench, and open model integrity questions introduce conditions before IC.</a:t>
            </a:r>
            <a:endParaRPr lang="en-US" sz="850" dirty="0"/>
          </a:p>
        </p:txBody>
      </p:sp>
      <p:sp>
        <p:nvSpPr>
          <p:cNvPr id="6" name="Text 4"/>
          <p:cNvSpPr/>
          <p:nvPr/>
        </p:nvSpPr>
        <p:spPr>
          <a:xfrm>
            <a:off x="274320" y="4864608"/>
            <a:ext cx="8595360" cy="182880"/>
          </a:xfrm>
          <a:prstGeom prst="rect">
            <a:avLst/>
          </a:prstGeom>
          <a:noFill/>
          <a:ln/>
        </p:spPr>
        <p:txBody>
          <a:bodyPr wrap="square" lIns="0" tIns="0" rIns="0" bIns="0" rtlCol="0" anchor="ctr"/>
          <a:lstStyle/>
          <a:p>
            <a:pPr algn="ctr" indent="0" marL="0">
              <a:buNone/>
            </a:pPr>
            <a:r>
              <a:rPr lang="en-US" sz="750" dirty="0">
                <a:solidFill>
                  <a:srgbClr val="9EABB8"/>
                </a:solidFill>
                <a:latin typeface="Arial" pitchFamily="34" charset="0"/>
                <a:ea typeface="Arial" pitchFamily="34" charset="-122"/>
                <a:cs typeface="Arial" pitchFamily="34" charset="-120"/>
              </a:rPr>
              <a:t>Confidential  |  Morsebridge Healthcare  |  Management DD  |  RevSpring  |  June 5, 2026</a:t>
            </a:r>
            <a:endParaRPr lang="en-US" sz="750" dirty="0"/>
          </a:p>
        </p:txBody>
      </p:sp>
      <p:sp>
        <p:nvSpPr>
          <p:cNvPr id="7" name="Shape 5"/>
          <p:cNvSpPr/>
          <p:nvPr/>
        </p:nvSpPr>
        <p:spPr>
          <a:xfrm>
            <a:off x="365760" y="960120"/>
            <a:ext cx="8412480" cy="914400"/>
          </a:xfrm>
          <a:prstGeom prst="rect">
            <a:avLst/>
          </a:prstGeom>
          <a:solidFill>
            <a:srgbClr val="F7F8FA"/>
          </a:solidFill>
          <a:ln w="6350">
            <a:solidFill>
              <a:srgbClr val="D0D5DD"/>
            </a:solidFill>
            <a:prstDash val="solid"/>
          </a:ln>
        </p:spPr>
      </p:sp>
      <p:sp>
        <p:nvSpPr>
          <p:cNvPr id="8" name="Shape 6"/>
          <p:cNvSpPr/>
          <p:nvPr/>
        </p:nvSpPr>
        <p:spPr>
          <a:xfrm>
            <a:off x="365760" y="960120"/>
            <a:ext cx="54864" cy="914400"/>
          </a:xfrm>
          <a:prstGeom prst="rect">
            <a:avLst/>
          </a:prstGeom>
          <a:solidFill>
            <a:srgbClr val="1A7A2E"/>
          </a:solidFill>
          <a:ln/>
        </p:spPr>
      </p:sp>
      <p:sp>
        <p:nvSpPr>
          <p:cNvPr id="9" name="Shape 7"/>
          <p:cNvSpPr/>
          <p:nvPr/>
        </p:nvSpPr>
        <p:spPr>
          <a:xfrm>
            <a:off x="493776" y="1069848"/>
            <a:ext cx="822960" cy="256032"/>
          </a:xfrm>
          <a:prstGeom prst="rect">
            <a:avLst>
              <a:gd name="adj" fmla="val 14286"/>
            </a:avLst>
          </a:prstGeom>
          <a:solidFill>
            <a:srgbClr val="1A7A2E"/>
          </a:solidFill>
          <a:ln/>
        </p:spPr>
      </p:sp>
      <p:sp>
        <p:nvSpPr>
          <p:cNvPr id="10" name="Text 8"/>
          <p:cNvSpPr/>
          <p:nvPr/>
        </p:nvSpPr>
        <p:spPr>
          <a:xfrm>
            <a:off x="493776" y="1069848"/>
            <a:ext cx="822960" cy="256032"/>
          </a:xfrm>
          <a:prstGeom prst="rect">
            <a:avLst/>
          </a:prstGeom>
          <a:noFill/>
          <a:ln/>
        </p:spPr>
        <p:txBody>
          <a:bodyPr wrap="square" lIns="0" tIns="0" rIns="0" bIns="0"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Strong</a:t>
            </a:r>
            <a:endParaRPr lang="en-US" sz="800" dirty="0"/>
          </a:p>
        </p:txBody>
      </p:sp>
      <p:sp>
        <p:nvSpPr>
          <p:cNvPr id="11" name="Text 9"/>
          <p:cNvSpPr/>
          <p:nvPr/>
        </p:nvSpPr>
        <p:spPr>
          <a:xfrm>
            <a:off x="1408176" y="1033272"/>
            <a:ext cx="7223760" cy="256032"/>
          </a:xfrm>
          <a:prstGeom prst="rect">
            <a:avLst/>
          </a:prstGeom>
          <a:noFill/>
          <a:ln/>
        </p:spPr>
        <p:txBody>
          <a:bodyPr wrap="square" lIns="0" tIns="0" rIns="0" bIns="0" rtlCol="0" anchor="ctr"/>
          <a:lstStyle/>
          <a:p>
            <a:pPr indent="0" marL="0">
              <a:buNone/>
            </a:pPr>
            <a:r>
              <a:rPr lang="en-US" sz="1050" b="1" dirty="0">
                <a:solidFill>
                  <a:srgbClr val="1B3A5C"/>
                </a:solidFill>
                <a:latin typeface="Arial" pitchFamily="34" charset="0"/>
                <a:ea typeface="Arial" pitchFamily="34" charset="-122"/>
                <a:cs typeface="Arial" pitchFamily="34" charset="-120"/>
              </a:rPr>
              <a:t>MacKenzie PE Track Record</a:t>
            </a:r>
            <a:endParaRPr lang="en-US" sz="1050" dirty="0"/>
          </a:p>
        </p:txBody>
      </p:sp>
      <p:sp>
        <p:nvSpPr>
          <p:cNvPr id="12" name="Text 10"/>
          <p:cNvSpPr/>
          <p:nvPr/>
        </p:nvSpPr>
        <p:spPr>
          <a:xfrm>
            <a:off x="1408176" y="1289304"/>
            <a:ext cx="7223760" cy="512064"/>
          </a:xfrm>
          <a:prstGeom prst="rect">
            <a:avLst/>
          </a:prstGeom>
          <a:noFill/>
          <a:ln/>
        </p:spPr>
        <p:txBody>
          <a:bodyPr wrap="square" lIns="0" tIns="0" rIns="0" bIns="0" rtlCol="0" anchor="ctr"/>
          <a:lstStyle/>
          <a:p>
            <a:pPr indent="0" marL="0">
              <a:buNone/>
            </a:pPr>
            <a:r>
              <a:rPr lang="en-US" sz="850" dirty="0">
                <a:solidFill>
                  <a:srgbClr val="374151"/>
                </a:solidFill>
                <a:latin typeface="Arial" pitchFamily="34" charset="0"/>
                <a:ea typeface="Arial" pitchFamily="34" charset="-122"/>
                <a:cs typeface="Arial" pitchFamily="34" charset="-120"/>
              </a:rPr>
              <a:t>Two PE-backed exits at CEO level: M*Modal (→3M) and Passport Health (→Experian). Deep PE partnership fluency, 7+ year RevSpring tenure, and a committed $45M equity rollover under Frazier. PE partnership readiness is best-in-class for a platform of this size.</a:t>
            </a:r>
            <a:endParaRPr lang="en-US" sz="850" dirty="0"/>
          </a:p>
        </p:txBody>
      </p:sp>
      <p:sp>
        <p:nvSpPr>
          <p:cNvPr id="13" name="Shape 11"/>
          <p:cNvSpPr/>
          <p:nvPr/>
        </p:nvSpPr>
        <p:spPr>
          <a:xfrm>
            <a:off x="365760" y="1965960"/>
            <a:ext cx="8412480" cy="914400"/>
          </a:xfrm>
          <a:prstGeom prst="rect">
            <a:avLst/>
          </a:prstGeom>
          <a:solidFill>
            <a:srgbClr val="FFFFFF"/>
          </a:solidFill>
          <a:ln w="6350">
            <a:solidFill>
              <a:srgbClr val="D0D5DD"/>
            </a:solidFill>
            <a:prstDash val="solid"/>
          </a:ln>
        </p:spPr>
      </p:sp>
      <p:sp>
        <p:nvSpPr>
          <p:cNvPr id="14" name="Shape 12"/>
          <p:cNvSpPr/>
          <p:nvPr/>
        </p:nvSpPr>
        <p:spPr>
          <a:xfrm>
            <a:off x="365760" y="1965960"/>
            <a:ext cx="54864" cy="914400"/>
          </a:xfrm>
          <a:prstGeom prst="rect">
            <a:avLst/>
          </a:prstGeom>
          <a:solidFill>
            <a:srgbClr val="2E6DB4"/>
          </a:solidFill>
          <a:ln/>
        </p:spPr>
      </p:sp>
      <p:sp>
        <p:nvSpPr>
          <p:cNvPr id="15" name="Shape 13"/>
          <p:cNvSpPr/>
          <p:nvPr/>
        </p:nvSpPr>
        <p:spPr>
          <a:xfrm>
            <a:off x="493776" y="2075688"/>
            <a:ext cx="822960" cy="256032"/>
          </a:xfrm>
          <a:prstGeom prst="rect">
            <a:avLst>
              <a:gd name="adj" fmla="val 14286"/>
            </a:avLst>
          </a:prstGeom>
          <a:solidFill>
            <a:srgbClr val="2E6DB4"/>
          </a:solidFill>
          <a:ln/>
        </p:spPr>
      </p:sp>
      <p:sp>
        <p:nvSpPr>
          <p:cNvPr id="16" name="Text 14"/>
          <p:cNvSpPr/>
          <p:nvPr/>
        </p:nvSpPr>
        <p:spPr>
          <a:xfrm>
            <a:off x="493776" y="2075688"/>
            <a:ext cx="822960" cy="256032"/>
          </a:xfrm>
          <a:prstGeom prst="rect">
            <a:avLst/>
          </a:prstGeom>
          <a:noFill/>
          <a:ln/>
        </p:spPr>
        <p:txBody>
          <a:bodyPr wrap="square" lIns="0" tIns="0" rIns="0" bIns="0"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Strong</a:t>
            </a:r>
            <a:endParaRPr lang="en-US" sz="800" dirty="0"/>
          </a:p>
        </p:txBody>
      </p:sp>
      <p:sp>
        <p:nvSpPr>
          <p:cNvPr id="17" name="Text 15"/>
          <p:cNvSpPr/>
          <p:nvPr/>
        </p:nvSpPr>
        <p:spPr>
          <a:xfrm>
            <a:off x="1408176" y="2039112"/>
            <a:ext cx="7223760" cy="256032"/>
          </a:xfrm>
          <a:prstGeom prst="rect">
            <a:avLst/>
          </a:prstGeom>
          <a:noFill/>
          <a:ln/>
        </p:spPr>
        <p:txBody>
          <a:bodyPr wrap="square" lIns="0" tIns="0" rIns="0" bIns="0" rtlCol="0" anchor="ctr"/>
          <a:lstStyle/>
          <a:p>
            <a:pPr indent="0" marL="0">
              <a:buNone/>
            </a:pPr>
            <a:r>
              <a:rPr lang="en-US" sz="1050" b="1" dirty="0">
                <a:solidFill>
                  <a:srgbClr val="1B3A5C"/>
                </a:solidFill>
                <a:latin typeface="Arial" pitchFamily="34" charset="0"/>
                <a:ea typeface="Arial" pitchFamily="34" charset="-122"/>
                <a:cs typeface="Arial" pitchFamily="34" charset="-120"/>
              </a:rPr>
              <a:t>Strategy Clarity</a:t>
            </a:r>
            <a:endParaRPr lang="en-US" sz="1050" dirty="0"/>
          </a:p>
        </p:txBody>
      </p:sp>
      <p:sp>
        <p:nvSpPr>
          <p:cNvPr id="18" name="Text 16"/>
          <p:cNvSpPr/>
          <p:nvPr/>
        </p:nvSpPr>
        <p:spPr>
          <a:xfrm>
            <a:off x="1408176" y="2295144"/>
            <a:ext cx="7223760" cy="512064"/>
          </a:xfrm>
          <a:prstGeom prst="rect">
            <a:avLst/>
          </a:prstGeom>
          <a:noFill/>
          <a:ln/>
        </p:spPr>
        <p:txBody>
          <a:bodyPr wrap="square" lIns="0" tIns="0" rIns="0" bIns="0" rtlCol="0" anchor="ctr"/>
          <a:lstStyle/>
          <a:p>
            <a:pPr indent="0" marL="0">
              <a:buNone/>
            </a:pPr>
            <a:r>
              <a:rPr lang="en-US" sz="850" dirty="0">
                <a:solidFill>
                  <a:srgbClr val="374151"/>
                </a:solidFill>
                <a:latin typeface="Arial" pitchFamily="34" charset="0"/>
                <a:ea typeface="Arial" pitchFamily="34" charset="-122"/>
                <a:cs typeface="Arial" pitchFamily="34" charset="-120"/>
              </a:rPr>
              <a:t>'Connected Care Journey from Search to Final Payment' is a coherent, specific thesis executed through the Kyruus Health (Q4 2025) and TrustCommerce (February 2026) acquisitions. Strategy is consistent with the CIM and supported by HIMSS 2026 keynote positioning.</a:t>
            </a:r>
            <a:endParaRPr lang="en-US" sz="850" dirty="0"/>
          </a:p>
        </p:txBody>
      </p:sp>
      <p:sp>
        <p:nvSpPr>
          <p:cNvPr id="19" name="Shape 17"/>
          <p:cNvSpPr/>
          <p:nvPr/>
        </p:nvSpPr>
        <p:spPr>
          <a:xfrm>
            <a:off x="365760" y="2971800"/>
            <a:ext cx="8412480" cy="914400"/>
          </a:xfrm>
          <a:prstGeom prst="rect">
            <a:avLst/>
          </a:prstGeom>
          <a:solidFill>
            <a:srgbClr val="F7F8FA"/>
          </a:solidFill>
          <a:ln w="6350">
            <a:solidFill>
              <a:srgbClr val="D0D5DD"/>
            </a:solidFill>
            <a:prstDash val="solid"/>
          </a:ln>
        </p:spPr>
      </p:sp>
      <p:sp>
        <p:nvSpPr>
          <p:cNvPr id="20" name="Shape 18"/>
          <p:cNvSpPr/>
          <p:nvPr/>
        </p:nvSpPr>
        <p:spPr>
          <a:xfrm>
            <a:off x="365760" y="2971800"/>
            <a:ext cx="54864" cy="914400"/>
          </a:xfrm>
          <a:prstGeom prst="rect">
            <a:avLst/>
          </a:prstGeom>
          <a:solidFill>
            <a:srgbClr val="B45309"/>
          </a:solidFill>
          <a:ln/>
        </p:spPr>
      </p:sp>
      <p:sp>
        <p:nvSpPr>
          <p:cNvPr id="21" name="Shape 19"/>
          <p:cNvSpPr/>
          <p:nvPr/>
        </p:nvSpPr>
        <p:spPr>
          <a:xfrm>
            <a:off x="493776" y="3081528"/>
            <a:ext cx="822960" cy="256032"/>
          </a:xfrm>
          <a:prstGeom prst="rect">
            <a:avLst>
              <a:gd name="adj" fmla="val 14286"/>
            </a:avLst>
          </a:prstGeom>
          <a:solidFill>
            <a:srgbClr val="B45309"/>
          </a:solidFill>
          <a:ln/>
        </p:spPr>
      </p:sp>
      <p:sp>
        <p:nvSpPr>
          <p:cNvPr id="22" name="Text 20"/>
          <p:cNvSpPr/>
          <p:nvPr/>
        </p:nvSpPr>
        <p:spPr>
          <a:xfrm>
            <a:off x="493776" y="3081528"/>
            <a:ext cx="822960" cy="256032"/>
          </a:xfrm>
          <a:prstGeom prst="rect">
            <a:avLst/>
          </a:prstGeom>
          <a:noFill/>
          <a:ln/>
        </p:spPr>
        <p:txBody>
          <a:bodyPr wrap="square" lIns="0" tIns="0" rIns="0" bIns="0"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Conditional</a:t>
            </a:r>
            <a:endParaRPr lang="en-US" sz="800" dirty="0"/>
          </a:p>
        </p:txBody>
      </p:sp>
      <p:sp>
        <p:nvSpPr>
          <p:cNvPr id="23" name="Text 21"/>
          <p:cNvSpPr/>
          <p:nvPr/>
        </p:nvSpPr>
        <p:spPr>
          <a:xfrm>
            <a:off x="1408176" y="3044952"/>
            <a:ext cx="7223760" cy="256032"/>
          </a:xfrm>
          <a:prstGeom prst="rect">
            <a:avLst/>
          </a:prstGeom>
          <a:noFill/>
          <a:ln/>
        </p:spPr>
        <p:txBody>
          <a:bodyPr wrap="square" lIns="0" tIns="0" rIns="0" bIns="0" rtlCol="0" anchor="ctr"/>
          <a:lstStyle/>
          <a:p>
            <a:pPr indent="0" marL="0">
              <a:buNone/>
            </a:pPr>
            <a:r>
              <a:rPr lang="en-US" sz="1050" b="1" dirty="0">
                <a:solidFill>
                  <a:srgbClr val="1B3A5C"/>
                </a:solidFill>
                <a:latin typeface="Arial" pitchFamily="34" charset="0"/>
                <a:ea typeface="Arial" pitchFamily="34" charset="-122"/>
                <a:cs typeface="Arial" pitchFamily="34" charset="-120"/>
              </a:rPr>
              <a:t>CFO Tenure Risk</a:t>
            </a:r>
            <a:endParaRPr lang="en-US" sz="1050" dirty="0"/>
          </a:p>
        </p:txBody>
      </p:sp>
      <p:sp>
        <p:nvSpPr>
          <p:cNvPr id="24" name="Text 22"/>
          <p:cNvSpPr/>
          <p:nvPr/>
        </p:nvSpPr>
        <p:spPr>
          <a:xfrm>
            <a:off x="1408176" y="3300984"/>
            <a:ext cx="7223760" cy="512064"/>
          </a:xfrm>
          <a:prstGeom prst="rect">
            <a:avLst/>
          </a:prstGeom>
          <a:noFill/>
          <a:ln/>
        </p:spPr>
        <p:txBody>
          <a:bodyPr wrap="square" lIns="0" tIns="0" rIns="0" bIns="0" rtlCol="0" anchor="ctr"/>
          <a:lstStyle/>
          <a:p>
            <a:pPr indent="0" marL="0">
              <a:buNone/>
            </a:pPr>
            <a:r>
              <a:rPr lang="en-US" sz="850" dirty="0">
                <a:solidFill>
                  <a:srgbClr val="374151"/>
                </a:solidFill>
                <a:latin typeface="Arial" pitchFamily="34" charset="0"/>
                <a:ea typeface="Arial" pitchFamily="34" charset="-122"/>
                <a:cs typeface="Arial" pitchFamily="34" charset="-120"/>
              </a:rPr>
              <a:t>David Smith (CFO) joined July 2024 mid-transaction, 11 months before this interview. Strong credentials (Cloudmed CFO, Highland Capital PE, Wharton MBA) but is the source of unresolved financial model errors. PE reporting infrastructure continuity from Mark Coggin is unconfirmed.</a:t>
            </a:r>
            <a:endParaRPr lang="en-US" sz="850" dirty="0"/>
          </a:p>
        </p:txBody>
      </p:sp>
      <p:sp>
        <p:nvSpPr>
          <p:cNvPr id="25" name="Shape 23"/>
          <p:cNvSpPr/>
          <p:nvPr/>
        </p:nvSpPr>
        <p:spPr>
          <a:xfrm>
            <a:off x="365760" y="3977640"/>
            <a:ext cx="8412480" cy="914400"/>
          </a:xfrm>
          <a:prstGeom prst="rect">
            <a:avLst/>
          </a:prstGeom>
          <a:solidFill>
            <a:srgbClr val="FFFFFF"/>
          </a:solidFill>
          <a:ln w="6350">
            <a:solidFill>
              <a:srgbClr val="D0D5DD"/>
            </a:solidFill>
            <a:prstDash val="solid"/>
          </a:ln>
        </p:spPr>
      </p:sp>
      <p:sp>
        <p:nvSpPr>
          <p:cNvPr id="26" name="Shape 24"/>
          <p:cNvSpPr/>
          <p:nvPr/>
        </p:nvSpPr>
        <p:spPr>
          <a:xfrm>
            <a:off x="365760" y="3977640"/>
            <a:ext cx="54864" cy="914400"/>
          </a:xfrm>
          <a:prstGeom prst="rect">
            <a:avLst/>
          </a:prstGeom>
          <a:solidFill>
            <a:srgbClr val="C00000"/>
          </a:solidFill>
          <a:ln/>
        </p:spPr>
      </p:sp>
      <p:sp>
        <p:nvSpPr>
          <p:cNvPr id="27" name="Shape 25"/>
          <p:cNvSpPr/>
          <p:nvPr/>
        </p:nvSpPr>
        <p:spPr>
          <a:xfrm>
            <a:off x="493776" y="4087368"/>
            <a:ext cx="822960" cy="256032"/>
          </a:xfrm>
          <a:prstGeom prst="rect">
            <a:avLst>
              <a:gd name="adj" fmla="val 14286"/>
            </a:avLst>
          </a:prstGeom>
          <a:solidFill>
            <a:srgbClr val="C00000"/>
          </a:solidFill>
          <a:ln/>
        </p:spPr>
      </p:sp>
      <p:sp>
        <p:nvSpPr>
          <p:cNvPr id="28" name="Text 26"/>
          <p:cNvSpPr/>
          <p:nvPr/>
        </p:nvSpPr>
        <p:spPr>
          <a:xfrm>
            <a:off x="493776" y="4087368"/>
            <a:ext cx="822960" cy="256032"/>
          </a:xfrm>
          <a:prstGeom prst="rect">
            <a:avLst/>
          </a:prstGeom>
          <a:noFill/>
          <a:ln/>
        </p:spPr>
        <p:txBody>
          <a:bodyPr wrap="square" lIns="0" tIns="0" rIns="0" bIns="0"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Critical</a:t>
            </a:r>
            <a:endParaRPr lang="en-US" sz="800" dirty="0"/>
          </a:p>
        </p:txBody>
      </p:sp>
      <p:sp>
        <p:nvSpPr>
          <p:cNvPr id="29" name="Text 27"/>
          <p:cNvSpPr/>
          <p:nvPr/>
        </p:nvSpPr>
        <p:spPr>
          <a:xfrm>
            <a:off x="1408176" y="4050792"/>
            <a:ext cx="7223760" cy="256032"/>
          </a:xfrm>
          <a:prstGeom prst="rect">
            <a:avLst/>
          </a:prstGeom>
          <a:noFill/>
          <a:ln/>
        </p:spPr>
        <p:txBody>
          <a:bodyPr wrap="square" lIns="0" tIns="0" rIns="0" bIns="0" rtlCol="0" anchor="ctr"/>
          <a:lstStyle/>
          <a:p>
            <a:pPr indent="0" marL="0">
              <a:buNone/>
            </a:pPr>
            <a:r>
              <a:rPr lang="en-US" sz="1050" b="1" dirty="0">
                <a:solidFill>
                  <a:srgbClr val="1B3A5C"/>
                </a:solidFill>
                <a:latin typeface="Arial" pitchFamily="34" charset="0"/>
                <a:ea typeface="Arial" pitchFamily="34" charset="-122"/>
                <a:cs typeface="Arial" pitchFamily="34" charset="-120"/>
              </a:rPr>
              <a:t>Model Integrity — Open Questions</a:t>
            </a:r>
            <a:endParaRPr lang="en-US" sz="1050" dirty="0"/>
          </a:p>
        </p:txBody>
      </p:sp>
      <p:sp>
        <p:nvSpPr>
          <p:cNvPr id="30" name="Text 28"/>
          <p:cNvSpPr/>
          <p:nvPr/>
        </p:nvSpPr>
        <p:spPr>
          <a:xfrm>
            <a:off x="1408176" y="4306824"/>
            <a:ext cx="7223760" cy="512064"/>
          </a:xfrm>
          <a:prstGeom prst="rect">
            <a:avLst/>
          </a:prstGeom>
          <a:noFill/>
          <a:ln/>
        </p:spPr>
        <p:txBody>
          <a:bodyPr wrap="square" lIns="0" tIns="0" rIns="0" bIns="0" rtlCol="0" anchor="ctr"/>
          <a:lstStyle/>
          <a:p>
            <a:pPr indent="0" marL="0">
              <a:buNone/>
            </a:pPr>
            <a:r>
              <a:rPr lang="en-US" sz="850" dirty="0">
                <a:solidFill>
                  <a:srgbClr val="374151"/>
                </a:solidFill>
                <a:latin typeface="Arial" pitchFamily="34" charset="0"/>
                <a:ea typeface="Arial" pitchFamily="34" charset="-122"/>
                <a:cs typeface="Arial" pitchFamily="34" charset="-120"/>
              </a:rPr>
              <a:t>Two Critical flags from Financial DD are attributed to the financial model: G&amp;A formula error corrupting FY2025–26E projections; MOIC main table overstating returns vs. sensitivity table. Smith must explain and correct both before IC submission.</a:t>
            </a:r>
            <a:endParaRPr lang="en-US" sz="850" dirty="0"/>
          </a:p>
        </p:txBody>
      </p:sp>
      <p:sp>
        <p:nvSpPr>
          <p:cNvPr id="31" name="Shape 29"/>
          <p:cNvSpPr/>
          <p:nvPr/>
        </p:nvSpPr>
        <p:spPr>
          <a:xfrm>
            <a:off x="7955280" y="146304"/>
            <a:ext cx="1828800" cy="1097280"/>
          </a:xfrm>
          <a:prstGeom prst="rect">
            <a:avLst>
              <a:gd name="adj" fmla="val 6667"/>
            </a:avLst>
          </a:prstGeom>
          <a:solidFill>
            <a:srgbClr val="B45309"/>
          </a:solidFill>
          <a:ln/>
          <a:effectLst>
            <a:outerShdw sx="100000" sy="100000" kx="0" ky="0" algn="bl" rotWithShape="0" blurRad="50800" dist="25400" dir="16200000">
              <a:srgbClr val="000000">
                <a:alpha val="8000"/>
              </a:srgbClr>
            </a:outerShdw>
          </a:effectLst>
        </p:spPr>
      </p:sp>
      <p:sp>
        <p:nvSpPr>
          <p:cNvPr id="32" name="Text 30"/>
          <p:cNvSpPr/>
          <p:nvPr/>
        </p:nvSpPr>
        <p:spPr>
          <a:xfrm>
            <a:off x="7955280" y="201168"/>
            <a:ext cx="1828800" cy="640080"/>
          </a:xfrm>
          <a:prstGeom prst="rect">
            <a:avLst/>
          </a:prstGeom>
          <a:noFill/>
          <a:ln/>
        </p:spPr>
        <p:txBody>
          <a:bodyPr wrap="square" lIns="0" tIns="0" rIns="0" bIns="0"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70.8</a:t>
            </a:r>
            <a:endParaRPr lang="en-US" sz="4400" dirty="0"/>
          </a:p>
        </p:txBody>
      </p:sp>
      <p:sp>
        <p:nvSpPr>
          <p:cNvPr id="33" name="Text 31"/>
          <p:cNvSpPr/>
          <p:nvPr/>
        </p:nvSpPr>
        <p:spPr>
          <a:xfrm>
            <a:off x="7955280" y="896112"/>
            <a:ext cx="182880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CONDITIONAL</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46304"/>
            <a:ext cx="8412480" cy="457200"/>
          </a:xfrm>
          <a:prstGeom prst="rect">
            <a:avLst/>
          </a:prstGeom>
          <a:noFill/>
          <a:ln/>
        </p:spPr>
        <p:txBody>
          <a:bodyPr wrap="square" lIns="0" tIns="0" rIns="0" bIns="0" rtlCol="0" anchor="ctr"/>
          <a:lstStyle/>
          <a:p>
            <a:pPr indent="0" marL="0">
              <a:buNone/>
            </a:pPr>
            <a:r>
              <a:rPr lang="en-US" sz="2100" b="1" dirty="0">
                <a:solidFill>
                  <a:srgbClr val="1B3A5C"/>
                </a:solidFill>
                <a:latin typeface="Arial" pitchFamily="34" charset="0"/>
                <a:ea typeface="Arial" pitchFamily="34" charset="-122"/>
                <a:cs typeface="Arial" pitchFamily="34" charset="-120"/>
              </a:rPr>
              <a:t>Slide 3  |  Leadership Team Overview</a:t>
            </a:r>
            <a:endParaRPr lang="en-US" sz="2100" dirty="0"/>
          </a:p>
        </p:txBody>
      </p:sp>
      <p:sp>
        <p:nvSpPr>
          <p:cNvPr id="3" name="Shape 1"/>
          <p:cNvSpPr/>
          <p:nvPr/>
        </p:nvSpPr>
        <p:spPr>
          <a:xfrm>
            <a:off x="365760" y="640080"/>
            <a:ext cx="822960" cy="201168"/>
          </a:xfrm>
          <a:prstGeom prst="rect">
            <a:avLst/>
          </a:prstGeom>
          <a:solidFill>
            <a:srgbClr val="1B3A5C"/>
          </a:solidFill>
          <a:ln/>
        </p:spPr>
      </p:sp>
      <p:sp>
        <p:nvSpPr>
          <p:cNvPr id="4" name="Text 2"/>
          <p:cNvSpPr/>
          <p:nvPr/>
        </p:nvSpPr>
        <p:spPr>
          <a:xfrm>
            <a:off x="365760" y="640080"/>
            <a:ext cx="822960" cy="201168"/>
          </a:xfrm>
          <a:prstGeom prst="rect">
            <a:avLst/>
          </a:prstGeom>
          <a:noFill/>
          <a:ln/>
        </p:spPr>
        <p:txBody>
          <a:bodyPr wrap="square" lIns="0" tIns="0" rIns="0" bIns="0"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SO WHAT</a:t>
            </a:r>
            <a:endParaRPr lang="en-US" sz="700" dirty="0"/>
          </a:p>
        </p:txBody>
      </p:sp>
      <p:sp>
        <p:nvSpPr>
          <p:cNvPr id="5" name="Text 3"/>
          <p:cNvSpPr/>
          <p:nvPr/>
        </p:nvSpPr>
        <p:spPr>
          <a:xfrm>
            <a:off x="1261872" y="640080"/>
            <a:ext cx="7406640" cy="201168"/>
          </a:xfrm>
          <a:prstGeom prst="rect">
            <a:avLst/>
          </a:prstGeom>
          <a:noFill/>
          <a:ln/>
        </p:spPr>
        <p:txBody>
          <a:bodyPr wrap="square" lIns="0" tIns="0" rIns="0" bIns="0" rtlCol="0" anchor="ctr"/>
          <a:lstStyle/>
          <a:p>
            <a:pPr indent="0" marL="0">
              <a:buNone/>
            </a:pPr>
            <a:r>
              <a:rPr lang="en-US" sz="850" i="1" dirty="0">
                <a:solidFill>
                  <a:srgbClr val="1B3A5C"/>
                </a:solidFill>
                <a:latin typeface="Arial" pitchFamily="34" charset="0"/>
                <a:ea typeface="Arial" pitchFamily="34" charset="-122"/>
                <a:cs typeface="Arial" pitchFamily="34" charset="-120"/>
              </a:rPr>
              <a:t>Five-person C-suite with strong CEO pedigree and adequate depth — but two of five roles filled in the last 18 months, diluting average tenure.</a:t>
            </a:r>
            <a:endParaRPr lang="en-US" sz="850" dirty="0"/>
          </a:p>
        </p:txBody>
      </p:sp>
      <p:sp>
        <p:nvSpPr>
          <p:cNvPr id="6" name="Text 4"/>
          <p:cNvSpPr/>
          <p:nvPr/>
        </p:nvSpPr>
        <p:spPr>
          <a:xfrm>
            <a:off x="274320" y="4864608"/>
            <a:ext cx="8595360" cy="182880"/>
          </a:xfrm>
          <a:prstGeom prst="rect">
            <a:avLst/>
          </a:prstGeom>
          <a:noFill/>
          <a:ln/>
        </p:spPr>
        <p:txBody>
          <a:bodyPr wrap="square" lIns="0" tIns="0" rIns="0" bIns="0" rtlCol="0" anchor="ctr"/>
          <a:lstStyle/>
          <a:p>
            <a:pPr algn="ctr" indent="0" marL="0">
              <a:buNone/>
            </a:pPr>
            <a:r>
              <a:rPr lang="en-US" sz="750" dirty="0">
                <a:solidFill>
                  <a:srgbClr val="9EABB8"/>
                </a:solidFill>
                <a:latin typeface="Arial" pitchFamily="34" charset="0"/>
                <a:ea typeface="Arial" pitchFamily="34" charset="-122"/>
                <a:cs typeface="Arial" pitchFamily="34" charset="-120"/>
              </a:rPr>
              <a:t>Confidential  |  Morsebridge Healthcare  |  Management DD  |  RevSpring  |  June 5, 2026</a:t>
            </a:r>
            <a:endParaRPr lang="en-US" sz="750" dirty="0"/>
          </a:p>
        </p:txBody>
      </p:sp>
      <p:sp>
        <p:nvSpPr>
          <p:cNvPr id="7" name="Shape 5"/>
          <p:cNvSpPr/>
          <p:nvPr/>
        </p:nvSpPr>
        <p:spPr>
          <a:xfrm>
            <a:off x="365760" y="960120"/>
            <a:ext cx="45720" cy="219456"/>
          </a:xfrm>
          <a:prstGeom prst="rect">
            <a:avLst/>
          </a:prstGeom>
          <a:solidFill>
            <a:srgbClr val="2E6DB4"/>
          </a:solidFill>
          <a:ln/>
        </p:spPr>
      </p:sp>
      <p:sp>
        <p:nvSpPr>
          <p:cNvPr id="8" name="Text 6"/>
          <p:cNvSpPr/>
          <p:nvPr/>
        </p:nvSpPr>
        <p:spPr>
          <a:xfrm>
            <a:off x="493776" y="960120"/>
            <a:ext cx="8046720" cy="219456"/>
          </a:xfrm>
          <a:prstGeom prst="rect">
            <a:avLst/>
          </a:prstGeom>
          <a:noFill/>
          <a:ln/>
        </p:spPr>
        <p:txBody>
          <a:bodyPr wrap="square" lIns="0" tIns="0" rIns="0" bIns="0" rtlCol="0" anchor="ctr"/>
          <a:lstStyle/>
          <a:p>
            <a:pPr indent="0" marL="0">
              <a:buNone/>
            </a:pPr>
            <a:r>
              <a:rPr lang="en-US" sz="950" b="1" dirty="0">
                <a:solidFill>
                  <a:srgbClr val="1B3A5C"/>
                </a:solidFill>
                <a:latin typeface="Arial" pitchFamily="34" charset="0"/>
                <a:ea typeface="Arial" pitchFamily="34" charset="-122"/>
                <a:cs typeface="Arial" pitchFamily="34" charset="-120"/>
              </a:rPr>
              <a:t>CURRENT LEADERSHIP TEAM</a:t>
            </a:r>
            <a:endParaRPr lang="en-US" sz="95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365760" y="1216152"/>
          <a:ext cx="8412480" cy="914400"/>
        </p:xfrm>
        <a:graphic>
          <a:graphicData uri="http://schemas.openxmlformats.org/drawingml/2006/table">
            <a:tbl>
              <a:tblPr/>
              <a:tblGrid>
                <a:gridCol w="1508760"/>
                <a:gridCol w="1234440"/>
                <a:gridCol w="822960"/>
                <a:gridCol w="1371600"/>
                <a:gridCol w="1097280"/>
                <a:gridCol w="2377440"/>
              </a:tblGrid>
              <a:tr h="0">
                <a:tc>
                  <a:txBody>
                    <a:bodyPr/>
                    <a:lstStyle/>
                    <a:p>
                      <a:pPr algn="ctr" indent="0" marL="0">
                        <a:buNone/>
                      </a:pPr>
                      <a:r>
                        <a:rPr lang="en-US" sz="850" b="1" dirty="0">
                          <a:solidFill>
                            <a:srgbClr val="FFFFFF"/>
                          </a:solidFill>
                        </a:rPr>
                        <a:t>Name</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B3A5C"/>
                    </a:solidFill>
                  </a:tcPr>
                </a:tc>
                <a:tc>
                  <a:txBody>
                    <a:bodyPr/>
                    <a:lstStyle/>
                    <a:p>
                      <a:pPr algn="ctr" indent="0" marL="0">
                        <a:buNone/>
                      </a:pPr>
                      <a:r>
                        <a:rPr lang="en-US" sz="850" b="1" dirty="0">
                          <a:solidFill>
                            <a:srgbClr val="FFFFFF"/>
                          </a:solidFill>
                        </a:rPr>
                        <a:t>Title</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B3A5C"/>
                    </a:solidFill>
                  </a:tcPr>
                </a:tc>
                <a:tc>
                  <a:txBody>
                    <a:bodyPr/>
                    <a:lstStyle/>
                    <a:p>
                      <a:pPr algn="ctr" indent="0" marL="0">
                        <a:buNone/>
                      </a:pPr>
                      <a:r>
                        <a:rPr lang="en-US" sz="850" b="1" dirty="0">
                          <a:solidFill>
                            <a:srgbClr val="FFFFFF"/>
                          </a:solidFill>
                        </a:rPr>
                        <a:t>Tenure</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B3A5C"/>
                    </a:solidFill>
                  </a:tcPr>
                </a:tc>
                <a:tc>
                  <a:txBody>
                    <a:bodyPr/>
                    <a:lstStyle/>
                    <a:p>
                      <a:pPr algn="ctr" indent="0" marL="0">
                        <a:buNone/>
                      </a:pPr>
                      <a:r>
                        <a:rPr lang="en-US" sz="850" b="1" dirty="0">
                          <a:solidFill>
                            <a:srgbClr val="FFFFFF"/>
                          </a:solidFill>
                        </a:rPr>
                        <a:t>Prior Role</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B3A5C"/>
                    </a:solidFill>
                  </a:tcPr>
                </a:tc>
                <a:tc>
                  <a:txBody>
                    <a:bodyPr/>
                    <a:lstStyle/>
                    <a:p>
                      <a:pPr algn="ctr" indent="0" marL="0">
                        <a:buNone/>
                      </a:pPr>
                      <a:r>
                        <a:rPr lang="en-US" sz="850" b="1" dirty="0">
                          <a:solidFill>
                            <a:srgbClr val="FFFFFF"/>
                          </a:solidFill>
                        </a:rPr>
                        <a:t>PE Exp.</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B3A5C"/>
                    </a:solidFill>
                  </a:tcPr>
                </a:tc>
                <a:tc>
                  <a:txBody>
                    <a:bodyPr/>
                    <a:lstStyle/>
                    <a:p>
                      <a:pPr algn="ctr" indent="0" marL="0">
                        <a:buNone/>
                      </a:pPr>
                      <a:r>
                        <a:rPr lang="en-US" sz="850" b="1" dirty="0">
                          <a:solidFill>
                            <a:srgbClr val="FFFFFF"/>
                          </a:solidFill>
                        </a:rPr>
                        <a:t>Morsebridge Assessment</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B3A5C"/>
                    </a:solidFill>
                  </a:tcPr>
                </a:tc>
              </a:tr>
              <a:tr h="0">
                <a:tc>
                  <a:txBody>
                    <a:bodyPr/>
                    <a:lstStyle/>
                    <a:p>
                      <a:pPr algn="l" indent="0" marL="0">
                        <a:buNone/>
                      </a:pPr>
                      <a:r>
                        <a:rPr lang="en-US" sz="850" b="1" dirty="0">
                          <a:solidFill>
                            <a:srgbClr val="1A5C2A"/>
                          </a:solidFill>
                        </a:rPr>
                        <a:t>Scott MacKenzie</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8F5E9"/>
                    </a:solidFill>
                  </a:tcPr>
                </a:tc>
                <a:tc>
                  <a:txBody>
                    <a:bodyPr/>
                    <a:lstStyle/>
                    <a:p>
                      <a:pPr algn="l" indent="0" marL="0">
                        <a:buNone/>
                      </a:pPr>
                      <a:r>
                        <a:rPr lang="en-US" sz="850" dirty="0">
                          <a:solidFill>
                            <a:srgbClr val="1E293B"/>
                          </a:solidFill>
                        </a:rPr>
                        <a:t>CEO</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8F5E9"/>
                    </a:solidFill>
                  </a:tcPr>
                </a:tc>
                <a:tc>
                  <a:txBody>
                    <a:bodyPr/>
                    <a:lstStyle/>
                    <a:p>
                      <a:pPr algn="ctr" indent="0" marL="0">
                        <a:buNone/>
                      </a:pPr>
                      <a:r>
                        <a:rPr lang="en-US" sz="850" b="1" dirty="0">
                          <a:solidFill>
                            <a:srgbClr val="1A7A2E"/>
                          </a:solidFill>
                        </a:rPr>
                        <a:t>7+ yrs</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8F5E9"/>
                    </a:solidFill>
                  </a:tcPr>
                </a:tc>
                <a:tc>
                  <a:txBody>
                    <a:bodyPr/>
                    <a:lstStyle/>
                    <a:p>
                      <a:pPr algn="l" indent="0" marL="0">
                        <a:buNone/>
                      </a:pPr>
                      <a:r>
                        <a:rPr lang="en-US" sz="850" dirty="0">
                          <a:solidFill>
                            <a:srgbClr val="1E293B"/>
                          </a:solidFill>
                        </a:rPr>
                        <a:t>CEO M*Modal; CEO Passport Health</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8F5E9"/>
                    </a:solidFill>
                  </a:tcPr>
                </a:tc>
                <a:tc>
                  <a:txBody>
                    <a:bodyPr/>
                    <a:lstStyle/>
                    <a:p>
                      <a:pPr algn="ctr" indent="0" marL="0">
                        <a:buNone/>
                      </a:pPr>
                      <a:r>
                        <a:rPr lang="en-US" sz="850" b="1" dirty="0">
                          <a:solidFill>
                            <a:srgbClr val="1A7A2E"/>
                          </a:solidFill>
                        </a:rPr>
                        <a:t>✓✓ 2 exits</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8F5E9"/>
                    </a:solidFill>
                  </a:tcPr>
                </a:tc>
                <a:tc>
                  <a:txBody>
                    <a:bodyPr/>
                    <a:lstStyle/>
                    <a:p>
                      <a:pPr algn="l" indent="0" marL="0">
                        <a:buNone/>
                      </a:pPr>
                      <a:r>
                        <a:rPr lang="en-US" sz="850" dirty="0">
                          <a:solidFill>
                            <a:srgbClr val="1E293B"/>
                          </a:solidFill>
                        </a:rPr>
                        <a:t>Exceptional — two PE-backed exits at CEO level. Primary value creation driver.</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8F5E9"/>
                    </a:solidFill>
                  </a:tcPr>
                </a:tc>
              </a:tr>
              <a:tr h="0">
                <a:tc>
                  <a:txBody>
                    <a:bodyPr/>
                    <a:lstStyle/>
                    <a:p>
                      <a:pPr algn="l" indent="0" marL="0">
                        <a:buNone/>
                      </a:pPr>
                      <a:r>
                        <a:rPr lang="en-US" sz="850" b="1" dirty="0">
                          <a:solidFill>
                            <a:srgbClr val="2E6DB4"/>
                          </a:solidFill>
                        </a:rPr>
                        <a:t>David Smith</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algn="l" indent="0" marL="0">
                        <a:buNone/>
                      </a:pPr>
                      <a:r>
                        <a:rPr lang="en-US" sz="850" dirty="0">
                          <a:solidFill>
                            <a:srgbClr val="1E293B"/>
                          </a:solidFill>
                        </a:rPr>
                        <a:t>CFO</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B45309"/>
                          </a:solidFill>
                        </a:rPr>
                        <a:t>~11 mo</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9E6"/>
                    </a:solidFill>
                  </a:tcPr>
                </a:tc>
                <a:tc>
                  <a:txBody>
                    <a:bodyPr/>
                    <a:lstStyle/>
                    <a:p>
                      <a:pPr algn="l" indent="0" marL="0">
                        <a:buNone/>
                      </a:pPr>
                      <a:r>
                        <a:rPr lang="en-US" sz="850" dirty="0">
                          <a:solidFill>
                            <a:srgbClr val="1E293B"/>
                          </a:solidFill>
                        </a:rPr>
                        <a:t>CFO Cloudmed; MD Highland Capital</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2E6DB4"/>
                          </a:solidFill>
                        </a:rPr>
                        <a:t>✓ Strong</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algn="l" indent="0" marL="0">
                        <a:buNone/>
                      </a:pPr>
                      <a:r>
                        <a:rPr lang="en-US" sz="850" dirty="0">
                          <a:solidFill>
                            <a:srgbClr val="1E293B"/>
                          </a:solidFill>
                        </a:rPr>
                        <a:t>Strong credentials; model integrity issues must be resolved. Watch CFO transition closely.</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r>
              <a:tr h="0">
                <a:tc>
                  <a:txBody>
                    <a:bodyPr/>
                    <a:lstStyle/>
                    <a:p>
                      <a:pPr algn="l" indent="0" marL="0">
                        <a:buNone/>
                      </a:pPr>
                      <a:r>
                        <a:rPr lang="en-US" sz="850" b="1" dirty="0">
                          <a:solidFill>
                            <a:srgbClr val="1E293B"/>
                          </a:solidFill>
                        </a:rPr>
                        <a:t>Nicole Rogas</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algn="l" indent="0" marL="0">
                        <a:buNone/>
                      </a:pPr>
                      <a:r>
                        <a:rPr lang="en-US" sz="850" dirty="0">
                          <a:solidFill>
                            <a:srgbClr val="1E293B"/>
                          </a:solidFill>
                        </a:rPr>
                        <a:t>President</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algn="ctr" indent="0" marL="0">
                        <a:buNone/>
                      </a:pPr>
                      <a:r>
                        <a:rPr lang="en-US" sz="850" b="1" dirty="0">
                          <a:solidFill>
                            <a:srgbClr val="C00000"/>
                          </a:solidFill>
                        </a:rPr>
                        <a:t>~5 mo</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EF2F2"/>
                    </a:solidFill>
                  </a:tcPr>
                </a:tc>
                <a:tc>
                  <a:txBody>
                    <a:bodyPr/>
                    <a:lstStyle/>
                    <a:p>
                      <a:pPr algn="l" indent="0" marL="0">
                        <a:buNone/>
                      </a:pPr>
                      <a:r>
                        <a:rPr lang="en-US" sz="850" dirty="0">
                          <a:solidFill>
                            <a:srgbClr val="1E293B"/>
                          </a:solidFill>
                        </a:rPr>
                        <a:t>CCO/GM Healthcare IT (undisclosed)</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algn="ctr" indent="0" marL="0">
                        <a:buNone/>
                      </a:pPr>
                      <a:r>
                        <a:rPr lang="en-US" sz="850" dirty="0">
                          <a:solidFill>
                            <a:srgbClr val="64748B"/>
                          </a:solidFill>
                        </a:rPr>
                        <a:t>Unconfirmed</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algn="l" indent="0" marL="0">
                        <a:buNone/>
                      </a:pPr>
                      <a:r>
                        <a:rPr lang="en-US" sz="850" dirty="0">
                          <a:solidFill>
                            <a:srgbClr val="1E293B"/>
                          </a:solidFill>
                        </a:rPr>
                        <a:t>Very new. Commercial ownership is core to cross-sell thesis. Execution track record unproven at RevSpring.</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r>
              <a:tr h="0">
                <a:tc>
                  <a:txBody>
                    <a:bodyPr/>
                    <a:lstStyle/>
                    <a:p>
                      <a:pPr algn="l" indent="0" marL="0">
                        <a:buNone/>
                      </a:pPr>
                      <a:r>
                        <a:rPr lang="en-US" sz="850" b="1" dirty="0">
                          <a:solidFill>
                            <a:srgbClr val="1E293B"/>
                          </a:solidFill>
                        </a:rPr>
                        <a:t>Howard Bright</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algn="l" indent="0" marL="0">
                        <a:buNone/>
                      </a:pPr>
                      <a:r>
                        <a:rPr lang="en-US" sz="850" dirty="0">
                          <a:solidFill>
                            <a:srgbClr val="1E293B"/>
                          </a:solidFill>
                        </a:rPr>
                        <a:t>CTO</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1A7A2E"/>
                          </a:solidFill>
                        </a:rPr>
                        <a:t>Multi-yr</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8F5E9"/>
                    </a:solidFill>
                  </a:tcPr>
                </a:tc>
                <a:tc>
                  <a:txBody>
                    <a:bodyPr/>
                    <a:lstStyle/>
                    <a:p>
                      <a:pPr algn="l" indent="0" marL="0">
                        <a:buNone/>
                      </a:pPr>
                      <a:r>
                        <a:rPr lang="en-US" sz="850" dirty="0">
                          <a:solidFill>
                            <a:srgbClr val="1E293B"/>
                          </a:solidFill>
                        </a:rPr>
                        <a:t>Architect of Engage IQ platform</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64748B"/>
                          </a:solidFill>
                        </a:rPr>
                        <a:t>N/A</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algn="l" indent="0" marL="0">
                        <a:buNone/>
                      </a:pPr>
                      <a:r>
                        <a:rPr lang="en-US" sz="850" dirty="0">
                          <a:solidFill>
                            <a:srgbClr val="1E293B"/>
                          </a:solidFill>
                        </a:rPr>
                        <a:t>Product domain expertise confirmed. Architect of core analytics engine and Engage IQ platform.</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r>
              <a:tr h="0">
                <a:tc>
                  <a:txBody>
                    <a:bodyPr/>
                    <a:lstStyle/>
                    <a:p>
                      <a:pPr algn="l" indent="0" marL="0">
                        <a:buNone/>
                      </a:pPr>
                      <a:r>
                        <a:rPr lang="en-US" sz="850" b="1" dirty="0">
                          <a:solidFill>
                            <a:srgbClr val="1E293B"/>
                          </a:solidFill>
                        </a:rPr>
                        <a:t>Roger Davis</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algn="l" indent="0" marL="0">
                        <a:buNone/>
                      </a:pPr>
                      <a:r>
                        <a:rPr lang="en-US" sz="850" dirty="0">
                          <a:solidFill>
                            <a:srgbClr val="1E293B"/>
                          </a:solidFill>
                        </a:rPr>
                        <a:t>Exec. Chairman</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algn="ctr" indent="0" marL="0">
                        <a:buNone/>
                      </a:pPr>
                      <a:r>
                        <a:rPr lang="en-US" sz="850" b="1" dirty="0">
                          <a:solidFill>
                            <a:srgbClr val="1A7A2E"/>
                          </a:solidFill>
                        </a:rPr>
                        <a:t>Mar 2024</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8F5E9"/>
                    </a:solidFill>
                  </a:tcPr>
                </a:tc>
                <a:tc>
                  <a:txBody>
                    <a:bodyPr/>
                    <a:lstStyle/>
                    <a:p>
                      <a:pPr algn="l" indent="0" marL="0">
                        <a:buNone/>
                      </a:pPr>
                      <a:r>
                        <a:rPr lang="en-US" sz="850" dirty="0">
                          <a:solidFill>
                            <a:srgbClr val="1E293B"/>
                          </a:solidFill>
                        </a:rPr>
                        <a:t>Frazier EIR; deep HCIT ops</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algn="ctr" indent="0" marL="0">
                        <a:buNone/>
                      </a:pPr>
                      <a:r>
                        <a:rPr lang="en-US" sz="850" b="1" dirty="0">
                          <a:solidFill>
                            <a:srgbClr val="1A7A2E"/>
                          </a:solidFill>
                        </a:rPr>
                        <a:t>✓ Frazier EIR</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8F5E9"/>
                    </a:solidFill>
                  </a:tcPr>
                </a:tc>
                <a:tc>
                  <a:txBody>
                    <a:bodyPr/>
                    <a:lstStyle/>
                    <a:p>
                      <a:pPr algn="l" indent="0" marL="0">
                        <a:buNone/>
                      </a:pPr>
                      <a:r>
                        <a:rPr lang="en-US" sz="850" dirty="0">
                          <a:solidFill>
                            <a:srgbClr val="1E293B"/>
                          </a:solidFill>
                        </a:rPr>
                        <a:t>Frazier Executive in Residence providing operational governance and PE-sponsor interface.</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r>
            </a:tbl>
          </a:graphicData>
        </a:graphic>
      </p:graphicFrame>
      <p:sp>
        <p:nvSpPr>
          <p:cNvPr id="10" name="Shape 7"/>
          <p:cNvSpPr/>
          <p:nvPr/>
        </p:nvSpPr>
        <p:spPr>
          <a:xfrm>
            <a:off x="365760" y="4041648"/>
            <a:ext cx="45720" cy="219456"/>
          </a:xfrm>
          <a:prstGeom prst="rect">
            <a:avLst/>
          </a:prstGeom>
          <a:solidFill>
            <a:srgbClr val="2E6DB4"/>
          </a:solidFill>
          <a:ln/>
        </p:spPr>
      </p:sp>
      <p:sp>
        <p:nvSpPr>
          <p:cNvPr id="11" name="Text 8"/>
          <p:cNvSpPr/>
          <p:nvPr/>
        </p:nvSpPr>
        <p:spPr>
          <a:xfrm>
            <a:off x="493776" y="4041648"/>
            <a:ext cx="8046720" cy="219456"/>
          </a:xfrm>
          <a:prstGeom prst="rect">
            <a:avLst/>
          </a:prstGeom>
          <a:noFill/>
          <a:ln/>
        </p:spPr>
        <p:txBody>
          <a:bodyPr wrap="square" lIns="0" tIns="0" rIns="0" bIns="0" rtlCol="0" anchor="ctr"/>
          <a:lstStyle/>
          <a:p>
            <a:pPr indent="0" marL="0">
              <a:buNone/>
            </a:pPr>
            <a:r>
              <a:rPr lang="en-US" sz="950" b="1" dirty="0">
                <a:solidFill>
                  <a:srgbClr val="1B3A5C"/>
                </a:solidFill>
                <a:latin typeface="Arial" pitchFamily="34" charset="0"/>
                <a:ea typeface="Arial" pitchFamily="34" charset="-122"/>
                <a:cs typeface="Arial" pitchFamily="34" charset="-120"/>
              </a:rPr>
              <a:t>TENURE DISTRIBUTION</a:t>
            </a:r>
            <a:endParaRPr lang="en-US" sz="950" dirty="0"/>
          </a:p>
        </p:txBody>
      </p:sp>
      <p:graphicFrame>
        <p:nvGraphicFramePr>
          <p:cNvPr id="12" name="Chart 0" descr=""/>
          <p:cNvGraphicFramePr/>
          <p:nvPr/>
        </p:nvGraphicFramePr>
        <p:xfrm>
          <a:off x="365760" y="4251960"/>
          <a:ext cx="8412480" cy="658368"/>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46304"/>
            <a:ext cx="8412480" cy="457200"/>
          </a:xfrm>
          <a:prstGeom prst="rect">
            <a:avLst/>
          </a:prstGeom>
          <a:noFill/>
          <a:ln/>
        </p:spPr>
        <p:txBody>
          <a:bodyPr wrap="square" lIns="0" tIns="0" rIns="0" bIns="0" rtlCol="0" anchor="ctr"/>
          <a:lstStyle/>
          <a:p>
            <a:pPr indent="0" marL="0">
              <a:buNone/>
            </a:pPr>
            <a:r>
              <a:rPr lang="en-US" sz="2100" b="1" dirty="0">
                <a:solidFill>
                  <a:srgbClr val="1B3A5C"/>
                </a:solidFill>
                <a:latin typeface="Arial" pitchFamily="34" charset="0"/>
                <a:ea typeface="Arial" pitchFamily="34" charset="-122"/>
                <a:cs typeface="Arial" pitchFamily="34" charset="-120"/>
              </a:rPr>
              <a:t>Slide 4  |  PE Partnership Readiness</a:t>
            </a:r>
            <a:endParaRPr lang="en-US" sz="2100" dirty="0"/>
          </a:p>
        </p:txBody>
      </p:sp>
      <p:sp>
        <p:nvSpPr>
          <p:cNvPr id="3" name="Shape 1"/>
          <p:cNvSpPr/>
          <p:nvPr/>
        </p:nvSpPr>
        <p:spPr>
          <a:xfrm>
            <a:off x="365760" y="640080"/>
            <a:ext cx="822960" cy="201168"/>
          </a:xfrm>
          <a:prstGeom prst="rect">
            <a:avLst/>
          </a:prstGeom>
          <a:solidFill>
            <a:srgbClr val="1B3A5C"/>
          </a:solidFill>
          <a:ln/>
        </p:spPr>
      </p:sp>
      <p:sp>
        <p:nvSpPr>
          <p:cNvPr id="4" name="Text 2"/>
          <p:cNvSpPr/>
          <p:nvPr/>
        </p:nvSpPr>
        <p:spPr>
          <a:xfrm>
            <a:off x="365760" y="640080"/>
            <a:ext cx="822960" cy="201168"/>
          </a:xfrm>
          <a:prstGeom prst="rect">
            <a:avLst/>
          </a:prstGeom>
          <a:noFill/>
          <a:ln/>
        </p:spPr>
        <p:txBody>
          <a:bodyPr wrap="square" lIns="0" tIns="0" rIns="0" bIns="0"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SO WHAT</a:t>
            </a:r>
            <a:endParaRPr lang="en-US" sz="700" dirty="0"/>
          </a:p>
        </p:txBody>
      </p:sp>
      <p:sp>
        <p:nvSpPr>
          <p:cNvPr id="5" name="Text 3"/>
          <p:cNvSpPr/>
          <p:nvPr/>
        </p:nvSpPr>
        <p:spPr>
          <a:xfrm>
            <a:off x="1261872" y="640080"/>
            <a:ext cx="7406640" cy="201168"/>
          </a:xfrm>
          <a:prstGeom prst="rect">
            <a:avLst/>
          </a:prstGeom>
          <a:noFill/>
          <a:ln/>
        </p:spPr>
        <p:txBody>
          <a:bodyPr wrap="square" lIns="0" tIns="0" rIns="0" bIns="0" rtlCol="0" anchor="ctr"/>
          <a:lstStyle/>
          <a:p>
            <a:pPr indent="0" marL="0">
              <a:buNone/>
            </a:pPr>
            <a:r>
              <a:rPr lang="en-US" sz="850" i="1" dirty="0">
                <a:solidFill>
                  <a:srgbClr val="1B3A5C"/>
                </a:solidFill>
                <a:latin typeface="Arial" pitchFamily="34" charset="0"/>
                <a:ea typeface="Arial" pitchFamily="34" charset="-122"/>
                <a:cs typeface="Arial" pitchFamily="34" charset="-120"/>
              </a:rPr>
              <a:t>MacKenzie's two prior exits are exceptional — David Smith's Highland Capital background fills the CFO gap — but Smith's 11-month tenure is the primary conditional item.</a:t>
            </a:r>
            <a:endParaRPr lang="en-US" sz="850" dirty="0"/>
          </a:p>
        </p:txBody>
      </p:sp>
      <p:sp>
        <p:nvSpPr>
          <p:cNvPr id="6" name="Text 4"/>
          <p:cNvSpPr/>
          <p:nvPr/>
        </p:nvSpPr>
        <p:spPr>
          <a:xfrm>
            <a:off x="274320" y="4864608"/>
            <a:ext cx="8595360" cy="182880"/>
          </a:xfrm>
          <a:prstGeom prst="rect">
            <a:avLst/>
          </a:prstGeom>
          <a:noFill/>
          <a:ln/>
        </p:spPr>
        <p:txBody>
          <a:bodyPr wrap="square" lIns="0" tIns="0" rIns="0" bIns="0" rtlCol="0" anchor="ctr"/>
          <a:lstStyle/>
          <a:p>
            <a:pPr algn="ctr" indent="0" marL="0">
              <a:buNone/>
            </a:pPr>
            <a:r>
              <a:rPr lang="en-US" sz="750" dirty="0">
                <a:solidFill>
                  <a:srgbClr val="9EABB8"/>
                </a:solidFill>
                <a:latin typeface="Arial" pitchFamily="34" charset="0"/>
                <a:ea typeface="Arial" pitchFamily="34" charset="-122"/>
                <a:cs typeface="Arial" pitchFamily="34" charset="-120"/>
              </a:rPr>
              <a:t>Confidential  |  Morsebridge Healthcare  |  Management DD  |  RevSpring  |  June 5, 2026</a:t>
            </a:r>
            <a:endParaRPr lang="en-US" sz="750" dirty="0"/>
          </a:p>
        </p:txBody>
      </p:sp>
      <p:sp>
        <p:nvSpPr>
          <p:cNvPr id="7" name="Shape 5"/>
          <p:cNvSpPr/>
          <p:nvPr/>
        </p:nvSpPr>
        <p:spPr>
          <a:xfrm>
            <a:off x="365760" y="960120"/>
            <a:ext cx="45720" cy="219456"/>
          </a:xfrm>
          <a:prstGeom prst="rect">
            <a:avLst/>
          </a:prstGeom>
          <a:solidFill>
            <a:srgbClr val="2E6DB4"/>
          </a:solidFill>
          <a:ln/>
        </p:spPr>
      </p:sp>
      <p:sp>
        <p:nvSpPr>
          <p:cNvPr id="8" name="Text 6"/>
          <p:cNvSpPr/>
          <p:nvPr/>
        </p:nvSpPr>
        <p:spPr>
          <a:xfrm>
            <a:off x="493776" y="960120"/>
            <a:ext cx="8046720" cy="219456"/>
          </a:xfrm>
          <a:prstGeom prst="rect">
            <a:avLst/>
          </a:prstGeom>
          <a:noFill/>
          <a:ln/>
        </p:spPr>
        <p:txBody>
          <a:bodyPr wrap="square" lIns="0" tIns="0" rIns="0" bIns="0" rtlCol="0" anchor="ctr"/>
          <a:lstStyle/>
          <a:p>
            <a:pPr indent="0" marL="0">
              <a:buNone/>
            </a:pPr>
            <a:r>
              <a:rPr lang="en-US" sz="950" b="1" dirty="0">
                <a:solidFill>
                  <a:srgbClr val="1B3A5C"/>
                </a:solidFill>
                <a:latin typeface="Arial" pitchFamily="34" charset="0"/>
                <a:ea typeface="Arial" pitchFamily="34" charset="-122"/>
                <a:cs typeface="Arial" pitchFamily="34" charset="-120"/>
              </a:rPr>
              <a:t>CEO — SCOTT MACKENZIE</a:t>
            </a:r>
            <a:endParaRPr lang="en-US" sz="95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365760" y="1216152"/>
          <a:ext cx="4251960" cy="914400"/>
        </p:xfrm>
        <a:graphic>
          <a:graphicData uri="http://schemas.openxmlformats.org/drawingml/2006/table">
            <a:tbl>
              <a:tblPr/>
              <a:tblGrid>
                <a:gridCol w="1417320"/>
                <a:gridCol w="2834640"/>
              </a:tblGrid>
              <a:tr h="0">
                <a:tc>
                  <a:txBody>
                    <a:bodyPr/>
                    <a:lstStyle/>
                    <a:p>
                      <a:pPr algn="ctr" indent="0" marL="0">
                        <a:buNone/>
                      </a:pPr>
                      <a:r>
                        <a:rPr lang="en-US" sz="850" b="1" dirty="0">
                          <a:solidFill>
                            <a:srgbClr val="FFFFFF"/>
                          </a:solidFill>
                        </a:rPr>
                        <a:t>Evidence</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B3A5C"/>
                    </a:solidFill>
                  </a:tcPr>
                </a:tc>
                <a:tc>
                  <a:txBody>
                    <a:bodyPr/>
                    <a:lstStyle/>
                    <a:p>
                      <a:pPr algn="ctr" indent="0" marL="0">
                        <a:buNone/>
                      </a:pPr>
                      <a:r>
                        <a:rPr lang="en-US" sz="850" b="1" dirty="0">
                          <a:solidFill>
                            <a:srgbClr val="FFFFFF"/>
                          </a:solidFill>
                        </a:rPr>
                        <a:t>Detail</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B3A5C"/>
                    </a:solidFill>
                  </a:tcPr>
                </a:tc>
              </a:tr>
              <a:tr h="0">
                <a:tc>
                  <a:txBody>
                    <a:bodyPr/>
                    <a:lstStyle/>
                    <a:p>
                      <a:pPr indent="0" marL="0">
                        <a:buNone/>
                      </a:pPr>
                      <a:r>
                        <a:rPr lang="en-US" sz="950" b="1" dirty="0">
                          <a:solidFill>
                            <a:srgbClr val="1A7A2E"/>
                          </a:solidFill>
                        </a:rPr>
                        <a:t>M*Modal → 3M (2019)</a:t>
                      </a:r>
                      <a:endParaRPr lang="en-US" sz="9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8F5E9"/>
                    </a:solidFill>
                  </a:tcPr>
                </a:tc>
                <a:tc>
                  <a:txBody>
                    <a:bodyPr/>
                    <a:lstStyle/>
                    <a:p>
                      <a:pPr algn="l" indent="0" marL="0">
                        <a:buNone/>
                      </a:pPr>
                      <a:r>
                        <a:rPr lang="en-US" sz="850" dirty="0">
                          <a:solidFill>
                            <a:srgbClr val="1E293B"/>
                          </a:solidFill>
                        </a:rPr>
                        <a:t>Led PE-backed clinical documentation AI company to acquisition by 3M. Full exit process with PE sponsor. Source: public records.</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r>
              <a:tr h="0">
                <a:tc>
                  <a:txBody>
                    <a:bodyPr/>
                    <a:lstStyle/>
                    <a:p>
                      <a:pPr indent="0" marL="0">
                        <a:buNone/>
                      </a:pPr>
                      <a:r>
                        <a:rPr lang="en-US" sz="950" b="1" dirty="0">
                          <a:solidFill>
                            <a:srgbClr val="1A7A2E"/>
                          </a:solidFill>
                        </a:rPr>
                        <a:t>Passport Health → Experian (c.2014)</a:t>
                      </a:r>
                      <a:endParaRPr lang="en-US" sz="9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8F5E9"/>
                    </a:solidFill>
                  </a:tcPr>
                </a:tc>
                <a:tc>
                  <a:txBody>
                    <a:bodyPr/>
                    <a:lstStyle/>
                    <a:p>
                      <a:pPr algn="l" indent="0" marL="0">
                        <a:buNone/>
                      </a:pPr>
                      <a:r>
                        <a:rPr lang="en-US" sz="850" dirty="0">
                          <a:solidFill>
                            <a:srgbClr val="1E293B"/>
                          </a:solidFill>
                        </a:rPr>
                        <a:t>Led Passport Health Communications through PE-backed sale to Experian. Transitioned to President, Experian Health. Second successful PE-to-strategic exit at CEO level.</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r>
              <a:tr h="0">
                <a:tc>
                  <a:txBody>
                    <a:bodyPr/>
                    <a:lstStyle/>
                    <a:p>
                      <a:pPr indent="0" marL="0">
                        <a:buNone/>
                      </a:pPr>
                      <a:r>
                        <a:rPr lang="en-US" sz="950" b="1" dirty="0">
                          <a:solidFill>
                            <a:srgbClr val="1A7A2E"/>
                          </a:solidFill>
                        </a:rPr>
                        <a:t>GTCR Partnership (2016–2024)</a:t>
                      </a:r>
                      <a:endParaRPr lang="en-US" sz="9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8F5E9"/>
                    </a:solidFill>
                  </a:tcPr>
                </a:tc>
                <a:tc>
                  <a:txBody>
                    <a:bodyPr/>
                    <a:lstStyle/>
                    <a:p>
                      <a:pPr algn="l" indent="0" marL="0">
                        <a:buNone/>
                      </a:pPr>
                      <a:r>
                        <a:rPr lang="en-US" sz="850" dirty="0">
                          <a:solidFill>
                            <a:srgbClr val="1E293B"/>
                          </a:solidFill>
                        </a:rPr>
                        <a:t>8-year RevSpring hold under GTCR. Board reporting, portfolio monitoring, IC prep, exit preparation across 5 acquisitions. CEO throughout. PE partnership depth is exceptional.</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r>
              <a:tr h="0">
                <a:tc>
                  <a:txBody>
                    <a:bodyPr/>
                    <a:lstStyle/>
                    <a:p>
                      <a:pPr indent="0" marL="0">
                        <a:buNone/>
                      </a:pPr>
                      <a:r>
                        <a:rPr lang="en-US" sz="950" b="1" dirty="0">
                          <a:solidFill>
                            <a:srgbClr val="1A7A2E"/>
                          </a:solidFill>
                        </a:rPr>
                        <a:t>Frazier Partnership (2024–present)</a:t>
                      </a:r>
                      <a:endParaRPr lang="en-US" sz="9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8F5E9"/>
                    </a:solidFill>
                  </a:tcPr>
                </a:tc>
                <a:tc>
                  <a:txBody>
                    <a:bodyPr/>
                    <a:lstStyle/>
                    <a:p>
                      <a:pPr algn="l" indent="0" marL="0">
                        <a:buNone/>
                      </a:pPr>
                      <a:r>
                        <a:rPr lang="en-US" sz="850" dirty="0">
                          <a:solidFill>
                            <a:srgbClr val="1E293B"/>
                          </a:solidFill>
                        </a:rPr>
                        <a:t>$45M equity rollover at close. Two acquisitions in first 12 months (Kyruus, TrustCommerce). HIMSS 2026 public positioning. CEO driving platform expansion thesis.</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r>
            </a:tbl>
          </a:graphicData>
        </a:graphic>
      </p:graphicFrame>
      <p:sp>
        <p:nvSpPr>
          <p:cNvPr id="10" name="Shape 7"/>
          <p:cNvSpPr/>
          <p:nvPr/>
        </p:nvSpPr>
        <p:spPr>
          <a:xfrm>
            <a:off x="365760" y="2926080"/>
            <a:ext cx="4251960" cy="256032"/>
          </a:xfrm>
          <a:prstGeom prst="rect">
            <a:avLst/>
          </a:prstGeom>
          <a:solidFill>
            <a:srgbClr val="1A7A2E"/>
          </a:solidFill>
          <a:ln/>
        </p:spPr>
      </p:sp>
      <p:sp>
        <p:nvSpPr>
          <p:cNvPr id="11" name="Text 8"/>
          <p:cNvSpPr/>
          <p:nvPr/>
        </p:nvSpPr>
        <p:spPr>
          <a:xfrm>
            <a:off x="365760" y="2926080"/>
            <a:ext cx="4251960" cy="256032"/>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CEO PE Readiness Score:  5 / 5  —  Exceptional</a:t>
            </a:r>
            <a:endParaRPr lang="en-US" sz="950" dirty="0"/>
          </a:p>
        </p:txBody>
      </p:sp>
      <p:sp>
        <p:nvSpPr>
          <p:cNvPr id="12" name="Shape 9"/>
          <p:cNvSpPr/>
          <p:nvPr/>
        </p:nvSpPr>
        <p:spPr>
          <a:xfrm>
            <a:off x="4800600" y="960120"/>
            <a:ext cx="45720" cy="219456"/>
          </a:xfrm>
          <a:prstGeom prst="rect">
            <a:avLst/>
          </a:prstGeom>
          <a:solidFill>
            <a:srgbClr val="2E6DB4"/>
          </a:solidFill>
          <a:ln/>
        </p:spPr>
      </p:sp>
      <p:sp>
        <p:nvSpPr>
          <p:cNvPr id="13" name="Text 10"/>
          <p:cNvSpPr/>
          <p:nvPr/>
        </p:nvSpPr>
        <p:spPr>
          <a:xfrm>
            <a:off x="4928616" y="960120"/>
            <a:ext cx="3611880" cy="219456"/>
          </a:xfrm>
          <a:prstGeom prst="rect">
            <a:avLst/>
          </a:prstGeom>
          <a:noFill/>
          <a:ln/>
        </p:spPr>
        <p:txBody>
          <a:bodyPr wrap="square" lIns="0" tIns="0" rIns="0" bIns="0" rtlCol="0" anchor="ctr"/>
          <a:lstStyle/>
          <a:p>
            <a:pPr indent="0" marL="0">
              <a:buNone/>
            </a:pPr>
            <a:r>
              <a:rPr lang="en-US" sz="950" b="1" dirty="0">
                <a:solidFill>
                  <a:srgbClr val="1B3A5C"/>
                </a:solidFill>
                <a:latin typeface="Arial" pitchFamily="34" charset="0"/>
                <a:ea typeface="Arial" pitchFamily="34" charset="-122"/>
                <a:cs typeface="Arial" pitchFamily="34" charset="-120"/>
              </a:rPr>
              <a:t>CFO — DAVID SMITH</a:t>
            </a:r>
            <a:endParaRPr lang="en-US" sz="950" dirty="0"/>
          </a:p>
        </p:txBody>
      </p:sp>
      <p:graphicFrame>
        <p:nvGraphicFramePr>
          <p:cNvPr id="9" name="Table 1"/>
          <p:cNvGraphicFramePr>
            <a:graphicFrameLocks noGrp="1"/>
          </p:cNvGraphicFramePr>
          <p:nvPr>
            <p:extLst>
              <p:ext uri="{D42A27DB-BD31-4B8C-83A1-F6EECF244321}">
                <p14:modId xmlns:p14="http://schemas.microsoft.com/office/powerpoint/2010/main" val="1579011935"/>
              </p:ext>
            </p:extLst>
          </p:nvPr>
        </p:nvGraphicFramePr>
        <p:xfrm>
          <a:off x="4800600" y="1216152"/>
          <a:ext cx="3977640" cy="914400"/>
        </p:xfrm>
        <a:graphic>
          <a:graphicData uri="http://schemas.openxmlformats.org/drawingml/2006/table">
            <a:tbl>
              <a:tblPr/>
              <a:tblGrid>
                <a:gridCol w="1417320"/>
                <a:gridCol w="2560320"/>
              </a:tblGrid>
              <a:tr h="0">
                <a:tc>
                  <a:txBody>
                    <a:bodyPr/>
                    <a:lstStyle/>
                    <a:p>
                      <a:pPr algn="ctr" indent="0" marL="0">
                        <a:buNone/>
                      </a:pPr>
                      <a:r>
                        <a:rPr lang="en-US" sz="850" b="1" dirty="0">
                          <a:solidFill>
                            <a:srgbClr val="FFFFFF"/>
                          </a:solidFill>
                        </a:rPr>
                        <a:t>Evidence</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B3A5C"/>
                    </a:solidFill>
                  </a:tcPr>
                </a:tc>
                <a:tc>
                  <a:txBody>
                    <a:bodyPr/>
                    <a:lstStyle/>
                    <a:p>
                      <a:pPr algn="ctr" indent="0" marL="0">
                        <a:buNone/>
                      </a:pPr>
                      <a:r>
                        <a:rPr lang="en-US" sz="850" b="1" dirty="0">
                          <a:solidFill>
                            <a:srgbClr val="FFFFFF"/>
                          </a:solidFill>
                        </a:rPr>
                        <a:t>Detail</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B3A5C"/>
                    </a:solidFill>
                  </a:tcPr>
                </a:tc>
              </a:tr>
              <a:tr h="0">
                <a:tc>
                  <a:txBody>
                    <a:bodyPr/>
                    <a:lstStyle/>
                    <a:p>
                      <a:pPr indent="0" marL="0">
                        <a:buNone/>
                      </a:pPr>
                      <a:r>
                        <a:rPr lang="en-US" sz="900" b="1" dirty="0">
                          <a:solidFill>
                            <a:srgbClr val="1A7A2E"/>
                          </a:solidFill>
                        </a:rPr>
                        <a:t>Highland Capital Management PE (2008–11)</a:t>
                      </a:r>
                      <a:endParaRPr lang="en-US" sz="90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8F5E9"/>
                    </a:solidFill>
                  </a:tcPr>
                </a:tc>
                <a:tc>
                  <a:txBody>
                    <a:bodyPr/>
                    <a:lstStyle/>
                    <a:p>
                      <a:pPr algn="l" indent="0" marL="0">
                        <a:buNone/>
                      </a:pPr>
                      <a:r>
                        <a:rPr lang="en-US" sz="850" dirty="0">
                          <a:solidFill>
                            <a:srgbClr val="1E293B"/>
                          </a:solidFill>
                        </a:rPr>
                        <a:t>MD, Private Equity Group. Buy-side experience — understands LP expectations, portfolio monitoring, return metrics from investor perspective.</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r>
              <a:tr h="0">
                <a:tc>
                  <a:txBody>
                    <a:bodyPr/>
                    <a:lstStyle/>
                    <a:p>
                      <a:pPr indent="0" marL="0">
                        <a:buNone/>
                      </a:pPr>
                      <a:r>
                        <a:rPr lang="en-US" sz="900" b="1" dirty="0">
                          <a:solidFill>
                            <a:srgbClr val="1A7A2E"/>
                          </a:solidFill>
                        </a:rPr>
                        <a:t>CFO, Cloudmed (PE-backed)</a:t>
                      </a:r>
                      <a:endParaRPr lang="en-US" sz="90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8F5E9"/>
                    </a:solidFill>
                  </a:tcPr>
                </a:tc>
                <a:tc>
                  <a:txBody>
                    <a:bodyPr/>
                    <a:lstStyle/>
                    <a:p>
                      <a:pPr algn="l" indent="0" marL="0">
                        <a:buNone/>
                      </a:pPr>
                      <a:r>
                        <a:rPr lang="en-US" sz="850" dirty="0">
                          <a:solidFill>
                            <a:srgbClr val="1E293B"/>
                          </a:solidFill>
                        </a:rPr>
                        <a:t>Cloudmed is a PE-backed AI RCM platform acquired by R1 RCM (2022). Direct PE-portfolio CFO experience in the RCM sector.</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r>
              <a:tr h="0">
                <a:tc>
                  <a:txBody>
                    <a:bodyPr/>
                    <a:lstStyle/>
                    <a:p>
                      <a:pPr indent="0" marL="0">
                        <a:buNone/>
                      </a:pPr>
                      <a:r>
                        <a:rPr lang="en-US" sz="900" b="1" dirty="0">
                          <a:solidFill>
                            <a:srgbClr val="1A7A2E"/>
                          </a:solidFill>
                        </a:rPr>
                        <a:t>CFO, Anatomy IT (PE-backed)</a:t>
                      </a:r>
                      <a:endParaRPr lang="en-US" sz="90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8F5E9"/>
                    </a:solidFill>
                  </a:tcPr>
                </a:tc>
                <a:tc>
                  <a:txBody>
                    <a:bodyPr/>
                    <a:lstStyle/>
                    <a:p>
                      <a:pPr algn="l" indent="0" marL="0">
                        <a:buNone/>
                      </a:pPr>
                      <a:r>
                        <a:rPr lang="en-US" sz="850" dirty="0">
                          <a:solidFill>
                            <a:srgbClr val="1E293B"/>
                          </a:solidFill>
                        </a:rPr>
                        <a:t>Managed IT / cybersecurity for healthcare organisations. Additional PE-portfolio CFO experience.</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r>
              <a:tr h="0">
                <a:tc>
                  <a:txBody>
                    <a:bodyPr/>
                    <a:lstStyle/>
                    <a:p>
                      <a:pPr indent="0" marL="0">
                        <a:buNone/>
                      </a:pPr>
                      <a:r>
                        <a:rPr lang="en-US" sz="900" b="1" dirty="0">
                          <a:solidFill>
                            <a:srgbClr val="C00000"/>
                          </a:solidFill>
                        </a:rPr>
                        <a:t>11-month tenure — MID-TRANSACTION HIRE</a:t>
                      </a:r>
                      <a:endParaRPr lang="en-US" sz="90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EF2F2"/>
                    </a:solidFill>
                  </a:tcPr>
                </a:tc>
                <a:tc>
                  <a:txBody>
                    <a:bodyPr/>
                    <a:lstStyle/>
                    <a:p>
                      <a:pPr algn="l" indent="0" marL="0">
                        <a:buNone/>
                      </a:pPr>
                      <a:r>
                        <a:rPr lang="en-US" sz="850" dirty="0">
                          <a:solidFill>
                            <a:srgbClr val="1E293B"/>
                          </a:solidFill>
                        </a:rPr>
                        <a:t>Joined July 2024 replacing Mark Coggin. Reporting continuity unconfirmed. G&amp;A model formula error may date from Coggin period — but Smith owns it now.</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r>
            </a:tbl>
          </a:graphicData>
        </a:graphic>
      </p:graphicFrame>
      <p:sp>
        <p:nvSpPr>
          <p:cNvPr id="15" name="Shape 11"/>
          <p:cNvSpPr/>
          <p:nvPr/>
        </p:nvSpPr>
        <p:spPr>
          <a:xfrm>
            <a:off x="4800600" y="2926080"/>
            <a:ext cx="3977640" cy="256032"/>
          </a:xfrm>
          <a:prstGeom prst="rect">
            <a:avLst/>
          </a:prstGeom>
          <a:solidFill>
            <a:srgbClr val="2E6DB4"/>
          </a:solidFill>
          <a:ln/>
        </p:spPr>
      </p:sp>
      <p:sp>
        <p:nvSpPr>
          <p:cNvPr id="16" name="Text 12"/>
          <p:cNvSpPr/>
          <p:nvPr/>
        </p:nvSpPr>
        <p:spPr>
          <a:xfrm>
            <a:off x="4800600" y="2926080"/>
            <a:ext cx="3977640"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CFO PE Readiness Score:  4 / 5  —  Strong (with conditions)</a:t>
            </a:r>
            <a:endParaRPr lang="en-US" sz="900" dirty="0"/>
          </a:p>
        </p:txBody>
      </p:sp>
      <p:sp>
        <p:nvSpPr>
          <p:cNvPr id="17" name="Shape 13"/>
          <p:cNvSpPr/>
          <p:nvPr/>
        </p:nvSpPr>
        <p:spPr>
          <a:xfrm>
            <a:off x="365760" y="3310128"/>
            <a:ext cx="45720" cy="219456"/>
          </a:xfrm>
          <a:prstGeom prst="rect">
            <a:avLst/>
          </a:prstGeom>
          <a:solidFill>
            <a:srgbClr val="2E6DB4"/>
          </a:solidFill>
          <a:ln/>
        </p:spPr>
      </p:sp>
      <p:sp>
        <p:nvSpPr>
          <p:cNvPr id="18" name="Text 14"/>
          <p:cNvSpPr/>
          <p:nvPr/>
        </p:nvSpPr>
        <p:spPr>
          <a:xfrm>
            <a:off x="493776" y="3310128"/>
            <a:ext cx="8046720" cy="219456"/>
          </a:xfrm>
          <a:prstGeom prst="rect">
            <a:avLst/>
          </a:prstGeom>
          <a:noFill/>
          <a:ln/>
        </p:spPr>
        <p:txBody>
          <a:bodyPr wrap="square" lIns="0" tIns="0" rIns="0" bIns="0" rtlCol="0" anchor="ctr"/>
          <a:lstStyle/>
          <a:p>
            <a:pPr indent="0" marL="0">
              <a:buNone/>
            </a:pPr>
            <a:r>
              <a:rPr lang="en-US" sz="950" b="1" dirty="0">
                <a:solidFill>
                  <a:srgbClr val="1B3A5C"/>
                </a:solidFill>
                <a:latin typeface="Arial" pitchFamily="34" charset="0"/>
                <a:ea typeface="Arial" pitchFamily="34" charset="-122"/>
                <a:cs typeface="Arial" pitchFamily="34" charset="-120"/>
              </a:rPr>
              <a:t>MANAGEMENT EQUITY ROLLOVER</a:t>
            </a:r>
            <a:endParaRPr lang="en-US" sz="950" dirty="0"/>
          </a:p>
        </p:txBody>
      </p:sp>
      <p:graphicFrame>
        <p:nvGraphicFramePr>
          <p:cNvPr id="13" name="Table 2"/>
          <p:cNvGraphicFramePr>
            <a:graphicFrameLocks noGrp="1"/>
          </p:cNvGraphicFramePr>
          <p:nvPr>
            <p:extLst>
              <p:ext uri="{D42A27DB-BD31-4B8C-83A1-F6EECF244321}">
                <p14:modId xmlns:p14="http://schemas.microsoft.com/office/powerpoint/2010/main" val="1579011935"/>
              </p:ext>
            </p:extLst>
          </p:nvPr>
        </p:nvGraphicFramePr>
        <p:xfrm>
          <a:off x="365760" y="3566160"/>
          <a:ext cx="8412480" cy="914400"/>
        </p:xfrm>
        <a:graphic>
          <a:graphicData uri="http://schemas.openxmlformats.org/drawingml/2006/table">
            <a:tbl>
              <a:tblPr/>
              <a:tblGrid>
                <a:gridCol w="2011680"/>
                <a:gridCol w="1280160"/>
                <a:gridCol w="1737360"/>
                <a:gridCol w="3383280"/>
              </a:tblGrid>
              <a:tr h="0">
                <a:tc>
                  <a:txBody>
                    <a:bodyPr/>
                    <a:lstStyle/>
                    <a:p>
                      <a:pPr algn="ctr" indent="0" marL="0">
                        <a:buNone/>
                      </a:pPr>
                      <a:r>
                        <a:rPr lang="en-US" sz="850" b="1" dirty="0">
                          <a:solidFill>
                            <a:srgbClr val="FFFFFF"/>
                          </a:solidFill>
                        </a:rPr>
                        <a:t>Party</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B3A5C"/>
                    </a:solidFill>
                  </a:tcPr>
                </a:tc>
                <a:tc>
                  <a:txBody>
                    <a:bodyPr/>
                    <a:lstStyle/>
                    <a:p>
                      <a:pPr algn="ctr" indent="0" marL="0">
                        <a:buNone/>
                      </a:pPr>
                      <a:r>
                        <a:rPr lang="en-US" sz="850" b="1" dirty="0">
                          <a:solidFill>
                            <a:srgbClr val="FFFFFF"/>
                          </a:solidFill>
                        </a:rPr>
                        <a:t>Rollover ($M)</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B3A5C"/>
                    </a:solidFill>
                  </a:tcPr>
                </a:tc>
                <a:tc>
                  <a:txBody>
                    <a:bodyPr/>
                    <a:lstStyle/>
                    <a:p>
                      <a:pPr algn="ctr" indent="0" marL="0">
                        <a:buNone/>
                      </a:pPr>
                      <a:r>
                        <a:rPr lang="en-US" sz="850" b="1" dirty="0">
                          <a:solidFill>
                            <a:srgbClr val="FFFFFF"/>
                          </a:solidFill>
                        </a:rPr>
                        <a:t>% of Entry Equity ($990M)</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B3A5C"/>
                    </a:solidFill>
                  </a:tcPr>
                </a:tc>
                <a:tc>
                  <a:txBody>
                    <a:bodyPr/>
                    <a:lstStyle/>
                    <a:p>
                      <a:pPr algn="ctr" indent="0" marL="0">
                        <a:buNone/>
                      </a:pPr>
                      <a:r>
                        <a:rPr lang="en-US" sz="850" b="1" dirty="0">
                          <a:solidFill>
                            <a:srgbClr val="FFFFFF"/>
                          </a:solidFill>
                        </a:rPr>
                        <a:t>Assessment</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B3A5C"/>
                    </a:solidFill>
                  </a:tcPr>
                </a:tc>
              </a:tr>
              <a:tr h="0">
                <a:tc>
                  <a:txBody>
                    <a:bodyPr/>
                    <a:lstStyle/>
                    <a:p>
                      <a:pPr algn="l" indent="0" marL="0">
                        <a:buNone/>
                      </a:pPr>
                      <a:r>
                        <a:rPr lang="en-US" sz="850" b="1" dirty="0">
                          <a:solidFill>
                            <a:srgbClr val="1A7A2E"/>
                          </a:solidFill>
                        </a:rPr>
                        <a:t>Scott MacKenzie + team</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8F5E9"/>
                    </a:solidFill>
                  </a:tcPr>
                </a:tc>
                <a:tc>
                  <a:txBody>
                    <a:bodyPr/>
                    <a:lstStyle/>
                    <a:p>
                      <a:pPr algn="ctr" indent="0" marL="0">
                        <a:buNone/>
                      </a:pPr>
                      <a:r>
                        <a:rPr lang="en-US" sz="850" dirty="0">
                          <a:solidFill>
                            <a:srgbClr val="1A7A2E"/>
                          </a:solidFill>
                        </a:rPr>
                        <a:t>~$45M</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8F5E9"/>
                    </a:solidFill>
                  </a:tcPr>
                </a:tc>
                <a:tc>
                  <a:txBody>
                    <a:bodyPr/>
                    <a:lstStyle/>
                    <a:p>
                      <a:pPr algn="ctr" indent="0" marL="0">
                        <a:buNone/>
                      </a:pPr>
                      <a:r>
                        <a:rPr lang="en-US" sz="850" dirty="0">
                          <a:solidFill>
                            <a:srgbClr val="1A7A2E"/>
                          </a:solidFill>
                        </a:rPr>
                        <a:t>~4.5%</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8F5E9"/>
                    </a:solidFill>
                  </a:tcPr>
                </a:tc>
                <a:tc>
                  <a:txBody>
                    <a:bodyPr/>
                    <a:lstStyle/>
                    <a:p>
                      <a:pPr indent="0" marL="0">
                        <a:buNone/>
                      </a:pPr>
                      <a:r>
                        <a:rPr lang="en-US" sz="850" dirty="0">
                          <a:solidFill>
                            <a:srgbClr val="1A5C2A"/>
                          </a:solidFill>
                        </a:rPr>
                        <a:t>Adequate — above 2% floor; below 5%+ exceptional band. Meaningful CEO alignment.</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8F5E9"/>
                    </a:solidFill>
                  </a:tcPr>
                </a:tc>
              </a:tr>
              <a:tr h="0">
                <a:tc>
                  <a:txBody>
                    <a:bodyPr/>
                    <a:lstStyle/>
                    <a:p>
                      <a:pPr algn="l" indent="0" marL="0">
                        <a:buNone/>
                      </a:pPr>
                      <a:r>
                        <a:rPr lang="en-US" sz="850" b="1" dirty="0">
                          <a:solidFill>
                            <a:srgbClr val="1E293B"/>
                          </a:solidFill>
                        </a:rPr>
                        <a:t>Frazier Healthcare Partners</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E293B"/>
                          </a:solidFill>
                        </a:rPr>
                        <a:t>$550M</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2E6DB4"/>
                          </a:solidFill>
                        </a:rPr>
                        <a:t>55.6%</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algn="l" indent="0" marL="0">
                        <a:buNone/>
                      </a:pPr>
                      <a:r>
                        <a:rPr lang="en-US" sz="850" dirty="0">
                          <a:solidFill>
                            <a:srgbClr val="1E293B"/>
                          </a:solidFill>
                        </a:rPr>
                        <a:t>Lead equity sponsor; engaged Executive Chairman (Roger Davis) on site.</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r>
              <a:tr h="0">
                <a:tc>
                  <a:txBody>
                    <a:bodyPr/>
                    <a:lstStyle/>
                    <a:p>
                      <a:pPr algn="l" indent="0" marL="0">
                        <a:buNone/>
                      </a:pPr>
                      <a:r>
                        <a:rPr lang="en-US" sz="850" b="1" dirty="0">
                          <a:solidFill>
                            <a:srgbClr val="1E293B"/>
                          </a:solidFill>
                        </a:rPr>
                        <a:t>NEA + 22C Capital (co-invest)</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algn="ctr" indent="0" marL="0">
                        <a:buNone/>
                      </a:pPr>
                      <a:r>
                        <a:rPr lang="en-US" sz="850" dirty="0">
                          <a:solidFill>
                            <a:srgbClr val="1E293B"/>
                          </a:solidFill>
                        </a:rPr>
                        <a:t>$180M</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algn="ctr" indent="0" marL="0">
                        <a:buNone/>
                      </a:pPr>
                      <a:r>
                        <a:rPr lang="en-US" sz="850" dirty="0">
                          <a:solidFill>
                            <a:srgbClr val="1E293B"/>
                          </a:solidFill>
                        </a:rPr>
                        <a:t>18.2%</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algn="l" indent="0" marL="0">
                        <a:buNone/>
                      </a:pPr>
                      <a:r>
                        <a:rPr lang="en-US" sz="850" dirty="0">
                          <a:solidFill>
                            <a:srgbClr val="1E293B"/>
                          </a:solidFill>
                        </a:rPr>
                        <a:t>Existing LP relationships with Morsebridge — aligned co-investors.</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46304"/>
            <a:ext cx="8412480" cy="457200"/>
          </a:xfrm>
          <a:prstGeom prst="rect">
            <a:avLst/>
          </a:prstGeom>
          <a:noFill/>
          <a:ln/>
        </p:spPr>
        <p:txBody>
          <a:bodyPr wrap="square" lIns="0" tIns="0" rIns="0" bIns="0" rtlCol="0" anchor="ctr"/>
          <a:lstStyle/>
          <a:p>
            <a:pPr indent="0" marL="0">
              <a:buNone/>
            </a:pPr>
            <a:r>
              <a:rPr lang="en-US" sz="2100" b="1" dirty="0">
                <a:solidFill>
                  <a:srgbClr val="1B3A5C"/>
                </a:solidFill>
                <a:latin typeface="Arial" pitchFamily="34" charset="0"/>
                <a:ea typeface="Arial" pitchFamily="34" charset="-122"/>
                <a:cs typeface="Arial" pitchFamily="34" charset="-120"/>
              </a:rPr>
              <a:t>Slide 5  |  Strategy and Vision Assessment</a:t>
            </a:r>
            <a:endParaRPr lang="en-US" sz="2100" dirty="0"/>
          </a:p>
        </p:txBody>
      </p:sp>
      <p:sp>
        <p:nvSpPr>
          <p:cNvPr id="3" name="Shape 1"/>
          <p:cNvSpPr/>
          <p:nvPr/>
        </p:nvSpPr>
        <p:spPr>
          <a:xfrm>
            <a:off x="365760" y="640080"/>
            <a:ext cx="822960" cy="201168"/>
          </a:xfrm>
          <a:prstGeom prst="rect">
            <a:avLst/>
          </a:prstGeom>
          <a:solidFill>
            <a:srgbClr val="1B3A5C"/>
          </a:solidFill>
          <a:ln/>
        </p:spPr>
      </p:sp>
      <p:sp>
        <p:nvSpPr>
          <p:cNvPr id="4" name="Text 2"/>
          <p:cNvSpPr/>
          <p:nvPr/>
        </p:nvSpPr>
        <p:spPr>
          <a:xfrm>
            <a:off x="365760" y="640080"/>
            <a:ext cx="822960" cy="201168"/>
          </a:xfrm>
          <a:prstGeom prst="rect">
            <a:avLst/>
          </a:prstGeom>
          <a:noFill/>
          <a:ln/>
        </p:spPr>
        <p:txBody>
          <a:bodyPr wrap="square" lIns="0" tIns="0" rIns="0" bIns="0"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SO WHAT</a:t>
            </a:r>
            <a:endParaRPr lang="en-US" sz="700" dirty="0"/>
          </a:p>
        </p:txBody>
      </p:sp>
      <p:sp>
        <p:nvSpPr>
          <p:cNvPr id="5" name="Text 3"/>
          <p:cNvSpPr/>
          <p:nvPr/>
        </p:nvSpPr>
        <p:spPr>
          <a:xfrm>
            <a:off x="1261872" y="640080"/>
            <a:ext cx="7406640" cy="201168"/>
          </a:xfrm>
          <a:prstGeom prst="rect">
            <a:avLst/>
          </a:prstGeom>
          <a:noFill/>
          <a:ln/>
        </p:spPr>
        <p:txBody>
          <a:bodyPr wrap="square" lIns="0" tIns="0" rIns="0" bIns="0" rtlCol="0" anchor="ctr"/>
          <a:lstStyle/>
          <a:p>
            <a:pPr indent="0" marL="0">
              <a:buNone/>
            </a:pPr>
            <a:r>
              <a:rPr lang="en-US" sz="850" i="1" dirty="0">
                <a:solidFill>
                  <a:srgbClr val="1B3A5C"/>
                </a:solidFill>
                <a:latin typeface="Arial" pitchFamily="34" charset="0"/>
                <a:ea typeface="Arial" pitchFamily="34" charset="-122"/>
                <a:cs typeface="Arial" pitchFamily="34" charset="-120"/>
              </a:rPr>
              <a:t>'Connected Care Journey from Search to Final Payment' is specific, evidenced by M&amp;A, and consistent with the CIM — but two acquisitions in 12 months require integration discipline to execute.</a:t>
            </a:r>
            <a:endParaRPr lang="en-US" sz="850" dirty="0"/>
          </a:p>
        </p:txBody>
      </p:sp>
      <p:sp>
        <p:nvSpPr>
          <p:cNvPr id="6" name="Text 4"/>
          <p:cNvSpPr/>
          <p:nvPr/>
        </p:nvSpPr>
        <p:spPr>
          <a:xfrm>
            <a:off x="274320" y="4864608"/>
            <a:ext cx="8595360" cy="182880"/>
          </a:xfrm>
          <a:prstGeom prst="rect">
            <a:avLst/>
          </a:prstGeom>
          <a:noFill/>
          <a:ln/>
        </p:spPr>
        <p:txBody>
          <a:bodyPr wrap="square" lIns="0" tIns="0" rIns="0" bIns="0" rtlCol="0" anchor="ctr"/>
          <a:lstStyle/>
          <a:p>
            <a:pPr algn="ctr" indent="0" marL="0">
              <a:buNone/>
            </a:pPr>
            <a:r>
              <a:rPr lang="en-US" sz="750" dirty="0">
                <a:solidFill>
                  <a:srgbClr val="9EABB8"/>
                </a:solidFill>
                <a:latin typeface="Arial" pitchFamily="34" charset="0"/>
                <a:ea typeface="Arial" pitchFamily="34" charset="-122"/>
                <a:cs typeface="Arial" pitchFamily="34" charset="-120"/>
              </a:rPr>
              <a:t>Confidential  |  Morsebridge Healthcare  |  Management DD  |  RevSpring  |  June 5, 2026</a:t>
            </a:r>
            <a:endParaRPr lang="en-US" sz="750" dirty="0"/>
          </a:p>
        </p:txBody>
      </p:sp>
      <p:sp>
        <p:nvSpPr>
          <p:cNvPr id="7" name="Shape 5"/>
          <p:cNvSpPr/>
          <p:nvPr/>
        </p:nvSpPr>
        <p:spPr>
          <a:xfrm>
            <a:off x="365760" y="960120"/>
            <a:ext cx="45720" cy="219456"/>
          </a:xfrm>
          <a:prstGeom prst="rect">
            <a:avLst/>
          </a:prstGeom>
          <a:solidFill>
            <a:srgbClr val="2E6DB4"/>
          </a:solidFill>
          <a:ln/>
        </p:spPr>
      </p:sp>
      <p:sp>
        <p:nvSpPr>
          <p:cNvPr id="8" name="Text 6"/>
          <p:cNvSpPr/>
          <p:nvPr/>
        </p:nvSpPr>
        <p:spPr>
          <a:xfrm>
            <a:off x="493776" y="960120"/>
            <a:ext cx="8046720" cy="219456"/>
          </a:xfrm>
          <a:prstGeom prst="rect">
            <a:avLst/>
          </a:prstGeom>
          <a:noFill/>
          <a:ln/>
        </p:spPr>
        <p:txBody>
          <a:bodyPr wrap="square" lIns="0" tIns="0" rIns="0" bIns="0" rtlCol="0" anchor="ctr"/>
          <a:lstStyle/>
          <a:p>
            <a:pPr indent="0" marL="0">
              <a:buNone/>
            </a:pPr>
            <a:r>
              <a:rPr lang="en-US" sz="950" b="1" dirty="0">
                <a:solidFill>
                  <a:srgbClr val="1B3A5C"/>
                </a:solidFill>
                <a:latin typeface="Arial" pitchFamily="34" charset="0"/>
                <a:ea typeface="Arial" pitchFamily="34" charset="-122"/>
                <a:cs typeface="Arial" pitchFamily="34" charset="-120"/>
              </a:rPr>
              <a:t>STRATEGIC THESIS — CIM CONSISTENCY CHECK</a:t>
            </a:r>
            <a:endParaRPr lang="en-US" sz="95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365760" y="1216152"/>
          <a:ext cx="8412480" cy="914400"/>
        </p:xfrm>
        <a:graphic>
          <a:graphicData uri="http://schemas.openxmlformats.org/drawingml/2006/table">
            <a:tbl>
              <a:tblPr/>
              <a:tblGrid>
                <a:gridCol w="1737360"/>
                <a:gridCol w="1920240"/>
                <a:gridCol w="2560320"/>
                <a:gridCol w="2194560"/>
              </a:tblGrid>
              <a:tr h="0">
                <a:tc>
                  <a:txBody>
                    <a:bodyPr/>
                    <a:lstStyle/>
                    <a:p>
                      <a:pPr algn="ctr" indent="0" marL="0">
                        <a:buNone/>
                      </a:pPr>
                      <a:r>
                        <a:rPr lang="en-US" sz="850" b="1" dirty="0">
                          <a:solidFill>
                            <a:srgbClr val="FFFFFF"/>
                          </a:solidFill>
                        </a:rPr>
                        <a:t>Strategic Pillar</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B3A5C"/>
                    </a:solidFill>
                  </a:tcPr>
                </a:tc>
                <a:tc>
                  <a:txBody>
                    <a:bodyPr/>
                    <a:lstStyle/>
                    <a:p>
                      <a:pPr algn="ctr" indent="0" marL="0">
                        <a:buNone/>
                      </a:pPr>
                      <a:r>
                        <a:rPr lang="en-US" sz="850" b="1" dirty="0">
                          <a:solidFill>
                            <a:srgbClr val="FFFFFF"/>
                          </a:solidFill>
                        </a:rPr>
                        <a:t>CIM Claim</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B3A5C"/>
                    </a:solidFill>
                  </a:tcPr>
                </a:tc>
                <a:tc>
                  <a:txBody>
                    <a:bodyPr/>
                    <a:lstStyle/>
                    <a:p>
                      <a:pPr algn="ctr" indent="0" marL="0">
                        <a:buNone/>
                      </a:pPr>
                      <a:r>
                        <a:rPr lang="en-US" sz="850" b="1" dirty="0">
                          <a:solidFill>
                            <a:srgbClr val="FFFFFF"/>
                          </a:solidFill>
                        </a:rPr>
                        <a:t>Management Action (Evidence)</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B3A5C"/>
                    </a:solidFill>
                  </a:tcPr>
                </a:tc>
                <a:tc>
                  <a:txBody>
                    <a:bodyPr/>
                    <a:lstStyle/>
                    <a:p>
                      <a:pPr algn="ctr" indent="0" marL="0">
                        <a:buNone/>
                      </a:pPr>
                      <a:r>
                        <a:rPr lang="en-US" sz="850" b="1" dirty="0">
                          <a:solidFill>
                            <a:srgbClr val="FFFFFF"/>
                          </a:solidFill>
                        </a:rPr>
                        <a:t>Morsebridge View</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B3A5C"/>
                    </a:solidFill>
                  </a:tcPr>
                </a:tc>
              </a:tr>
              <a:tr h="0">
                <a:tc>
                  <a:txBody>
                    <a:bodyPr/>
                    <a:lstStyle/>
                    <a:p>
                      <a:pPr algn="l" indent="0" marL="0">
                        <a:buNone/>
                      </a:pPr>
                      <a:r>
                        <a:rPr lang="en-US" sz="850" b="1" dirty="0">
                          <a:solidFill>
                            <a:srgbClr val="1E293B"/>
                          </a:solidFill>
                        </a:rPr>
                        <a:t>Full-stack patient financial platform</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algn="l" indent="0" marL="0">
                        <a:buNone/>
                      </a:pPr>
                      <a:r>
                        <a:rPr lang="en-US" sz="850" dirty="0">
                          <a:solidFill>
                            <a:srgbClr val="1E293B"/>
                          </a:solidFill>
                        </a:rPr>
                        <a:t>'End-to-end patient engagement from pre-service through collections' — CIM Section 2</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algn="l" indent="0" marL="0">
                        <a:buNone/>
                      </a:pPr>
                      <a:r>
                        <a:rPr lang="en-US" sz="850" dirty="0">
                          <a:solidFill>
                            <a:srgbClr val="1E293B"/>
                          </a:solidFill>
                        </a:rPr>
                        <a:t>Kyruus Health adds provider search/scheduling (upstream); TrustCommerce adds payment gateway (downstream). Platform now covers full journey.</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indent="0" marL="0">
                        <a:buNone/>
                      </a:pPr>
                      <a:r>
                        <a:rPr lang="en-US" sz="850" b="1" dirty="0">
                          <a:solidFill>
                            <a:srgbClr val="1A7A2E"/>
                          </a:solidFill>
                        </a:rPr>
                        <a:t>CONSISTENT — thesis is being executed with M&amp;A speed</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8F5E9"/>
                    </a:solidFill>
                  </a:tcPr>
                </a:tc>
              </a:tr>
              <a:tr h="0">
                <a:tc>
                  <a:txBody>
                    <a:bodyPr/>
                    <a:lstStyle/>
                    <a:p>
                      <a:pPr algn="l" indent="0" marL="0">
                        <a:buNone/>
                      </a:pPr>
                      <a:r>
                        <a:rPr lang="en-US" sz="850" b="1" dirty="0">
                          <a:solidFill>
                            <a:srgbClr val="1E293B"/>
                          </a:solidFill>
                        </a:rPr>
                        <a:t>$45M+ cross-sell ARR opportunity</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algn="l" indent="0" marL="0">
                        <a:buNone/>
                      </a:pPr>
                      <a:r>
                        <a:rPr lang="en-US" sz="850" dirty="0">
                          <a:solidFill>
                            <a:srgbClr val="1E293B"/>
                          </a:solidFill>
                        </a:rPr>
                        <a:t>Cross-sell of PreService and Engage IQ into 2,000+ client base — CIM Section 6</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algn="l" indent="0" marL="0">
                        <a:buNone/>
                      </a:pPr>
                      <a:r>
                        <a:rPr lang="en-US" sz="850" dirty="0">
                          <a:solidFill>
                            <a:srgbClr val="1E293B"/>
                          </a:solidFill>
                        </a:rPr>
                        <a:t>Nicole Rogas (President, Jan 2025) owns commercial execution. RevSpring Prime launched HIMSS 2026 as new cross-sell vehicle.</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indent="0" marL="0">
                        <a:buNone/>
                      </a:pPr>
                      <a:r>
                        <a:rPr lang="en-US" sz="850" b="1" dirty="0">
                          <a:solidFill>
                            <a:srgbClr val="B45309"/>
                          </a:solidFill>
                        </a:rPr>
                        <a:t>PLAUSIBLE — but Rogas tenure is only 5 months; execution proof needed</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9E6"/>
                    </a:solidFill>
                  </a:tcPr>
                </a:tc>
              </a:tr>
              <a:tr h="0">
                <a:tc>
                  <a:txBody>
                    <a:bodyPr/>
                    <a:lstStyle/>
                    <a:p>
                      <a:pPr algn="l" indent="0" marL="0">
                        <a:buNone/>
                      </a:pPr>
                      <a:r>
                        <a:rPr lang="en-US" sz="850" b="1" dirty="0">
                          <a:solidFill>
                            <a:srgbClr val="1E293B"/>
                          </a:solidFill>
                        </a:rPr>
                        <a:t>Payer market expansion ($2-3B)</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algn="l" indent="0" marL="0">
                        <a:buNone/>
                      </a:pPr>
                      <a:r>
                        <a:rPr lang="en-US" sz="850" dirty="0">
                          <a:solidFill>
                            <a:srgbClr val="1E293B"/>
                          </a:solidFill>
                        </a:rPr>
                        <a:t>Payer opportunity cited in CIM investment highlights — CIM Section 6</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algn="l" indent="0" marL="0">
                        <a:buNone/>
                      </a:pPr>
                      <a:r>
                        <a:rPr lang="en-US" sz="850" dirty="0">
                          <a:solidFill>
                            <a:srgbClr val="1E293B"/>
                          </a:solidFill>
                        </a:rPr>
                        <a:t>No payer revenue disclosed. No payer-specific product or sales motion described. No timeline in financial model.</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indent="0" marL="0">
                        <a:buNone/>
                      </a:pPr>
                      <a:r>
                        <a:rPr lang="en-US" sz="850" b="1" dirty="0">
                          <a:solidFill>
                            <a:srgbClr val="C00000"/>
                          </a:solidFill>
                        </a:rPr>
                        <a:t>UNSUBSTANTIATED — treat as speculative; exclude from base case</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EF2F2"/>
                    </a:solidFill>
                  </a:tcPr>
                </a:tc>
              </a:tr>
              <a:tr h="0">
                <a:tc>
                  <a:txBody>
                    <a:bodyPr/>
                    <a:lstStyle/>
                    <a:p>
                      <a:pPr algn="l" indent="0" marL="0">
                        <a:buNone/>
                      </a:pPr>
                      <a:r>
                        <a:rPr lang="en-US" sz="850" b="1" dirty="0">
                          <a:solidFill>
                            <a:srgbClr val="1E293B"/>
                          </a:solidFill>
                        </a:rPr>
                        <a:t>AI-driven personalisation moat</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algn="l" indent="0" marL="0">
                        <a:buNone/>
                      </a:pPr>
                      <a:r>
                        <a:rPr lang="en-US" sz="850" dirty="0">
                          <a:solidFill>
                            <a:srgbClr val="1E293B"/>
                          </a:solidFill>
                        </a:rPr>
                        <a:t>300M consumer profiles; Engage IQ AI engine — CIM Section 2</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algn="l" indent="0" marL="0">
                        <a:buNone/>
                      </a:pPr>
                      <a:r>
                        <a:rPr lang="en-US" sz="850" dirty="0">
                          <a:solidFill>
                            <a:srgbClr val="1E293B"/>
                          </a:solidFill>
                        </a:rPr>
                        <a:t>HIMSS 2026: MacKenzie presented embedded AI strategy. KLAS 2026 #1 for 2nd year confirms product differentiation.</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indent="0" marL="0">
                        <a:buNone/>
                      </a:pPr>
                      <a:r>
                        <a:rPr lang="en-US" sz="850" b="1" dirty="0">
                          <a:solidFill>
                            <a:srgbClr val="1A7A2E"/>
                          </a:solidFill>
                        </a:rPr>
                        <a:t>STRONG — moat evidence is credible and externally validated</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8F5E9"/>
                    </a:solidFill>
                  </a:tcPr>
                </a:tc>
              </a:tr>
            </a:tbl>
          </a:graphicData>
        </a:graphic>
      </p:graphicFrame>
      <p:sp>
        <p:nvSpPr>
          <p:cNvPr id="10" name="Shape 7"/>
          <p:cNvSpPr/>
          <p:nvPr/>
        </p:nvSpPr>
        <p:spPr>
          <a:xfrm>
            <a:off x="365760" y="3493008"/>
            <a:ext cx="45720" cy="219456"/>
          </a:xfrm>
          <a:prstGeom prst="rect">
            <a:avLst/>
          </a:prstGeom>
          <a:solidFill>
            <a:srgbClr val="2E6DB4"/>
          </a:solidFill>
          <a:ln/>
        </p:spPr>
      </p:sp>
      <p:sp>
        <p:nvSpPr>
          <p:cNvPr id="11" name="Text 8"/>
          <p:cNvSpPr/>
          <p:nvPr/>
        </p:nvSpPr>
        <p:spPr>
          <a:xfrm>
            <a:off x="493776" y="3493008"/>
            <a:ext cx="8046720" cy="219456"/>
          </a:xfrm>
          <a:prstGeom prst="rect">
            <a:avLst/>
          </a:prstGeom>
          <a:noFill/>
          <a:ln/>
        </p:spPr>
        <p:txBody>
          <a:bodyPr wrap="square" lIns="0" tIns="0" rIns="0" bIns="0" rtlCol="0" anchor="ctr"/>
          <a:lstStyle/>
          <a:p>
            <a:pPr indent="0" marL="0">
              <a:buNone/>
            </a:pPr>
            <a:r>
              <a:rPr lang="en-US" sz="950" b="1" dirty="0">
                <a:solidFill>
                  <a:srgbClr val="1B3A5C"/>
                </a:solidFill>
                <a:latin typeface="Arial" pitchFamily="34" charset="0"/>
                <a:ea typeface="Arial" pitchFamily="34" charset="-122"/>
                <a:cs typeface="Arial" pitchFamily="34" charset="-120"/>
              </a:rPr>
              <a:t>M&amp;A EXECUTION TIMELINE UNDER FRAZIER</a:t>
            </a:r>
            <a:endParaRPr lang="en-US" sz="950" dirty="0"/>
          </a:p>
        </p:txBody>
      </p:sp>
      <p:graphicFrame>
        <p:nvGraphicFramePr>
          <p:cNvPr id="11" name="Table 1"/>
          <p:cNvGraphicFramePr>
            <a:graphicFrameLocks noGrp="1"/>
          </p:cNvGraphicFramePr>
          <p:nvPr>
            <p:extLst>
              <p:ext uri="{D42A27DB-BD31-4B8C-83A1-F6EECF244321}">
                <p14:modId xmlns:p14="http://schemas.microsoft.com/office/powerpoint/2010/main" val="1579011935"/>
              </p:ext>
            </p:extLst>
          </p:nvPr>
        </p:nvGraphicFramePr>
        <p:xfrm>
          <a:off x="365760" y="3730752"/>
          <a:ext cx="8412480" cy="914400"/>
        </p:xfrm>
        <a:graphic>
          <a:graphicData uri="http://schemas.openxmlformats.org/drawingml/2006/table">
            <a:tbl>
              <a:tblPr/>
              <a:tblGrid>
                <a:gridCol w="1280160"/>
                <a:gridCol w="822960"/>
                <a:gridCol w="2560320"/>
                <a:gridCol w="1463040"/>
                <a:gridCol w="2286000"/>
              </a:tblGrid>
              <a:tr h="0">
                <a:tc>
                  <a:txBody>
                    <a:bodyPr/>
                    <a:lstStyle/>
                    <a:p>
                      <a:pPr algn="ctr" indent="0" marL="0">
                        <a:buNone/>
                      </a:pPr>
                      <a:r>
                        <a:rPr lang="en-US" sz="850" b="1" dirty="0">
                          <a:solidFill>
                            <a:srgbClr val="FFFFFF"/>
                          </a:solidFill>
                        </a:rPr>
                        <a:t>Acquisition</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B3A5C"/>
                    </a:solidFill>
                  </a:tcPr>
                </a:tc>
                <a:tc>
                  <a:txBody>
                    <a:bodyPr/>
                    <a:lstStyle/>
                    <a:p>
                      <a:pPr algn="ctr" indent="0" marL="0">
                        <a:buNone/>
                      </a:pPr>
                      <a:r>
                        <a:rPr lang="en-US" sz="850" b="1" dirty="0">
                          <a:solidFill>
                            <a:srgbClr val="FFFFFF"/>
                          </a:solidFill>
                        </a:rPr>
                        <a:t>Close</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B3A5C"/>
                    </a:solidFill>
                  </a:tcPr>
                </a:tc>
                <a:tc>
                  <a:txBody>
                    <a:bodyPr/>
                    <a:lstStyle/>
                    <a:p>
                      <a:pPr algn="ctr" indent="0" marL="0">
                        <a:buNone/>
                      </a:pPr>
                      <a:r>
                        <a:rPr lang="en-US" sz="850" b="1" dirty="0">
                          <a:solidFill>
                            <a:srgbClr val="FFFFFF"/>
                          </a:solidFill>
                        </a:rPr>
                        <a:t>Strategic Rationale</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B3A5C"/>
                    </a:solidFill>
                  </a:tcPr>
                </a:tc>
                <a:tc>
                  <a:txBody>
                    <a:bodyPr/>
                    <a:lstStyle/>
                    <a:p>
                      <a:pPr algn="ctr" indent="0" marL="0">
                        <a:buNone/>
                      </a:pPr>
                      <a:r>
                        <a:rPr lang="en-US" sz="850" b="1" dirty="0">
                          <a:solidFill>
                            <a:srgbClr val="FFFFFF"/>
                          </a:solidFill>
                        </a:rPr>
                        <a:t>Integration Status</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B3A5C"/>
                    </a:solidFill>
                  </a:tcPr>
                </a:tc>
                <a:tc>
                  <a:txBody>
                    <a:bodyPr/>
                    <a:lstStyle/>
                    <a:p>
                      <a:pPr algn="ctr" indent="0" marL="0">
                        <a:buNone/>
                      </a:pPr>
                      <a:r>
                        <a:rPr lang="en-US" sz="850" b="1" dirty="0">
                          <a:solidFill>
                            <a:srgbClr val="FFFFFF"/>
                          </a:solidFill>
                        </a:rPr>
                        <a:t>Revenue in Model?</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B3A5C"/>
                    </a:solidFill>
                  </a:tcPr>
                </a:tc>
              </a:tr>
              <a:tr h="0">
                <a:tc>
                  <a:txBody>
                    <a:bodyPr/>
                    <a:lstStyle/>
                    <a:p>
                      <a:pPr algn="l" indent="0" marL="0">
                        <a:buNone/>
                      </a:pPr>
                      <a:r>
                        <a:rPr lang="en-US" sz="850" b="1" dirty="0">
                          <a:solidFill>
                            <a:srgbClr val="1E293B"/>
                          </a:solidFill>
                        </a:rPr>
                        <a:t>Kyruus Health</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9E6"/>
                    </a:solidFill>
                  </a:tcPr>
                </a:tc>
                <a:tc>
                  <a:txBody>
                    <a:bodyPr/>
                    <a:lstStyle/>
                    <a:p>
                      <a:pPr algn="l" indent="0" marL="0">
                        <a:buNone/>
                      </a:pPr>
                      <a:r>
                        <a:rPr lang="en-US" sz="850" dirty="0">
                          <a:solidFill>
                            <a:srgbClr val="1E293B"/>
                          </a:solidFill>
                        </a:rPr>
                        <a:t>Q4 2025</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9E6"/>
                    </a:solidFill>
                  </a:tcPr>
                </a:tc>
                <a:tc>
                  <a:txBody>
                    <a:bodyPr/>
                    <a:lstStyle/>
                    <a:p>
                      <a:pPr algn="l" indent="0" marL="0">
                        <a:buNone/>
                      </a:pPr>
                      <a:r>
                        <a:rPr lang="en-US" sz="850" dirty="0">
                          <a:solidFill>
                            <a:srgbClr val="1E293B"/>
                          </a:solidFill>
                        </a:rPr>
                        <a:t>Provider search, scheduling, care access layer — upstream entry point</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9E6"/>
                    </a:solidFill>
                  </a:tcPr>
                </a:tc>
                <a:tc>
                  <a:txBody>
                    <a:bodyPr/>
                    <a:lstStyle/>
                    <a:p>
                      <a:pPr indent="0" marL="0">
                        <a:buNone/>
                      </a:pPr>
                      <a:r>
                        <a:rPr lang="en-US" sz="850" dirty="0">
                          <a:solidFill>
                            <a:srgbClr val="B45309"/>
                          </a:solidFill>
                        </a:rPr>
                        <a:t>Post-close; ~6 months</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9E6"/>
                    </a:solidFill>
                  </a:tcPr>
                </a:tc>
                <a:tc>
                  <a:txBody>
                    <a:bodyPr/>
                    <a:lstStyle/>
                    <a:p>
                      <a:pPr indent="0" marL="0">
                        <a:buNone/>
                      </a:pPr>
                      <a:r>
                        <a:rPr lang="en-US" sz="850" b="1" dirty="0">
                          <a:solidFill>
                            <a:srgbClr val="C00000"/>
                          </a:solidFill>
                        </a:rPr>
                        <a:t>UNCLEAR — PS anomaly may reflect this</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EF2F2"/>
                    </a:solidFill>
                  </a:tcPr>
                </a:tc>
              </a:tr>
              <a:tr h="0">
                <a:tc>
                  <a:txBody>
                    <a:bodyPr/>
                    <a:lstStyle/>
                    <a:p>
                      <a:pPr algn="l" indent="0" marL="0">
                        <a:buNone/>
                      </a:pPr>
                      <a:r>
                        <a:rPr lang="en-US" sz="850" dirty="0">
                          <a:solidFill>
                            <a:srgbClr val="1E293B"/>
                          </a:solidFill>
                        </a:rPr>
                        <a:t>TrustCommerce</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algn="l" indent="0" marL="0">
                        <a:buNone/>
                      </a:pPr>
                      <a:r>
                        <a:rPr lang="en-US" sz="850" dirty="0">
                          <a:solidFill>
                            <a:srgbClr val="1E293B"/>
                          </a:solidFill>
                        </a:rPr>
                        <a:t>Feb 2026</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algn="l" indent="0" marL="0">
                        <a:buNone/>
                      </a:pPr>
                      <a:r>
                        <a:rPr lang="en-US" sz="850" dirty="0">
                          <a:solidFill>
                            <a:srgbClr val="1E293B"/>
                          </a:solidFill>
                        </a:rPr>
                        <a:t>Integrated payment gateway, tokenisation — downstream payments layer</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indent="0" marL="0">
                        <a:buNone/>
                      </a:pPr>
                      <a:r>
                        <a:rPr lang="en-US" sz="850" dirty="0">
                          <a:solidFill>
                            <a:srgbClr val="B45309"/>
                          </a:solidFill>
                        </a:rPr>
                        <a:t>~4 months post-close</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9E6"/>
                    </a:solidFill>
                  </a:tcPr>
                </a:tc>
                <a:tc>
                  <a:txBody>
                    <a:bodyPr/>
                    <a:lstStyle/>
                    <a:p>
                      <a:pPr indent="0" marL="0">
                        <a:buNone/>
                      </a:pPr>
                      <a:r>
                        <a:rPr lang="en-US" sz="850" b="1" dirty="0">
                          <a:solidFill>
                            <a:srgbClr val="C00000"/>
                          </a:solidFill>
                        </a:rPr>
                        <a:t>NOT DISCLOSED</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EF2F2"/>
                    </a:solidFill>
                  </a:tcPr>
                </a:tc>
              </a:tr>
            </a:tbl>
          </a:graphicData>
        </a:graphic>
      </p:graphicFrame>
      <p:sp>
        <p:nvSpPr>
          <p:cNvPr id="13" name="Text 9"/>
          <p:cNvSpPr/>
          <p:nvPr/>
        </p:nvSpPr>
        <p:spPr>
          <a:xfrm>
            <a:off x="365760" y="4526280"/>
            <a:ext cx="8412480" cy="256032"/>
          </a:xfrm>
          <a:prstGeom prst="rect">
            <a:avLst/>
          </a:prstGeom>
          <a:noFill/>
          <a:ln/>
        </p:spPr>
        <p:txBody>
          <a:bodyPr wrap="square" lIns="0" tIns="0" rIns="0" bIns="0" rtlCol="0" anchor="ctr"/>
          <a:lstStyle/>
          <a:p>
            <a:pPr indent="0" marL="0">
              <a:buNone/>
            </a:pPr>
            <a:r>
              <a:rPr lang="en-US" sz="850" i="1" dirty="0">
                <a:solidFill>
                  <a:srgbClr val="C00000"/>
                </a:solidFill>
                <a:latin typeface="Arial" pitchFamily="34" charset="0"/>
                <a:ea typeface="Arial" pitchFamily="34" charset="-122"/>
                <a:cs typeface="Arial" pitchFamily="34" charset="-120"/>
              </a:rPr>
              <a:t>Key Question for MacKenzie: Neither Kyruus nor TrustCommerce revenue appears labelled in the financial model. Confirm revenue run rate, NRR, and integration status for both before IC.</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46304"/>
            <a:ext cx="8412480" cy="457200"/>
          </a:xfrm>
          <a:prstGeom prst="rect">
            <a:avLst/>
          </a:prstGeom>
          <a:noFill/>
          <a:ln/>
        </p:spPr>
        <p:txBody>
          <a:bodyPr wrap="square" lIns="0" tIns="0" rIns="0" bIns="0" rtlCol="0" anchor="ctr"/>
          <a:lstStyle/>
          <a:p>
            <a:pPr indent="0" marL="0">
              <a:buNone/>
            </a:pPr>
            <a:r>
              <a:rPr lang="en-US" sz="2100" b="1" dirty="0">
                <a:solidFill>
                  <a:srgbClr val="1B3A5C"/>
                </a:solidFill>
                <a:latin typeface="Arial" pitchFamily="34" charset="0"/>
                <a:ea typeface="Arial" pitchFamily="34" charset="-122"/>
                <a:cs typeface="Arial" pitchFamily="34" charset="-120"/>
              </a:rPr>
              <a:t>Slide 6  |  Operational Depth and Second-Tier Leadership</a:t>
            </a:r>
            <a:endParaRPr lang="en-US" sz="2100" dirty="0"/>
          </a:p>
        </p:txBody>
      </p:sp>
      <p:sp>
        <p:nvSpPr>
          <p:cNvPr id="3" name="Shape 1"/>
          <p:cNvSpPr/>
          <p:nvPr/>
        </p:nvSpPr>
        <p:spPr>
          <a:xfrm>
            <a:off x="365760" y="640080"/>
            <a:ext cx="822960" cy="201168"/>
          </a:xfrm>
          <a:prstGeom prst="rect">
            <a:avLst/>
          </a:prstGeom>
          <a:solidFill>
            <a:srgbClr val="1B3A5C"/>
          </a:solidFill>
          <a:ln/>
        </p:spPr>
      </p:sp>
      <p:sp>
        <p:nvSpPr>
          <p:cNvPr id="4" name="Text 2"/>
          <p:cNvSpPr/>
          <p:nvPr/>
        </p:nvSpPr>
        <p:spPr>
          <a:xfrm>
            <a:off x="365760" y="640080"/>
            <a:ext cx="822960" cy="201168"/>
          </a:xfrm>
          <a:prstGeom prst="rect">
            <a:avLst/>
          </a:prstGeom>
          <a:noFill/>
          <a:ln/>
        </p:spPr>
        <p:txBody>
          <a:bodyPr wrap="square" lIns="0" tIns="0" rIns="0" bIns="0"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SO WHAT</a:t>
            </a:r>
            <a:endParaRPr lang="en-US" sz="700" dirty="0"/>
          </a:p>
        </p:txBody>
      </p:sp>
      <p:sp>
        <p:nvSpPr>
          <p:cNvPr id="5" name="Text 3"/>
          <p:cNvSpPr/>
          <p:nvPr/>
        </p:nvSpPr>
        <p:spPr>
          <a:xfrm>
            <a:off x="1261872" y="640080"/>
            <a:ext cx="7406640" cy="201168"/>
          </a:xfrm>
          <a:prstGeom prst="rect">
            <a:avLst/>
          </a:prstGeom>
          <a:noFill/>
          <a:ln/>
        </p:spPr>
        <p:txBody>
          <a:bodyPr wrap="square" lIns="0" tIns="0" rIns="0" bIns="0" rtlCol="0" anchor="ctr"/>
          <a:lstStyle/>
          <a:p>
            <a:pPr indent="0" marL="0">
              <a:buNone/>
            </a:pPr>
            <a:r>
              <a:rPr lang="en-US" sz="850" i="1" dirty="0">
                <a:solidFill>
                  <a:srgbClr val="1B3A5C"/>
                </a:solidFill>
                <a:latin typeface="Arial" pitchFamily="34" charset="0"/>
                <a:ea typeface="Arial" pitchFamily="34" charset="-122"/>
                <a:cs typeface="Arial" pitchFamily="34" charset="-120"/>
              </a:rPr>
              <a:t>Technology and product leadership is credible — but two of five C-suite roles are less than six months old, creating execution concentration risk in the near term.</a:t>
            </a:r>
            <a:endParaRPr lang="en-US" sz="850" dirty="0"/>
          </a:p>
        </p:txBody>
      </p:sp>
      <p:sp>
        <p:nvSpPr>
          <p:cNvPr id="6" name="Text 4"/>
          <p:cNvSpPr/>
          <p:nvPr/>
        </p:nvSpPr>
        <p:spPr>
          <a:xfrm>
            <a:off x="274320" y="4864608"/>
            <a:ext cx="8595360" cy="182880"/>
          </a:xfrm>
          <a:prstGeom prst="rect">
            <a:avLst/>
          </a:prstGeom>
          <a:noFill/>
          <a:ln/>
        </p:spPr>
        <p:txBody>
          <a:bodyPr wrap="square" lIns="0" tIns="0" rIns="0" bIns="0" rtlCol="0" anchor="ctr"/>
          <a:lstStyle/>
          <a:p>
            <a:pPr algn="ctr" indent="0" marL="0">
              <a:buNone/>
            </a:pPr>
            <a:r>
              <a:rPr lang="en-US" sz="750" dirty="0">
                <a:solidFill>
                  <a:srgbClr val="9EABB8"/>
                </a:solidFill>
                <a:latin typeface="Arial" pitchFamily="34" charset="0"/>
                <a:ea typeface="Arial" pitchFamily="34" charset="-122"/>
                <a:cs typeface="Arial" pitchFamily="34" charset="-120"/>
              </a:rPr>
              <a:t>Confidential  |  Morsebridge Healthcare  |  Management DD  |  RevSpring  |  June 5, 2026</a:t>
            </a:r>
            <a:endParaRPr lang="en-US" sz="750" dirty="0"/>
          </a:p>
        </p:txBody>
      </p:sp>
      <p:sp>
        <p:nvSpPr>
          <p:cNvPr id="7" name="Shape 5"/>
          <p:cNvSpPr/>
          <p:nvPr/>
        </p:nvSpPr>
        <p:spPr>
          <a:xfrm>
            <a:off x="365760" y="960120"/>
            <a:ext cx="45720" cy="219456"/>
          </a:xfrm>
          <a:prstGeom prst="rect">
            <a:avLst/>
          </a:prstGeom>
          <a:solidFill>
            <a:srgbClr val="2E6DB4"/>
          </a:solidFill>
          <a:ln/>
        </p:spPr>
      </p:sp>
      <p:sp>
        <p:nvSpPr>
          <p:cNvPr id="8" name="Text 6"/>
          <p:cNvSpPr/>
          <p:nvPr/>
        </p:nvSpPr>
        <p:spPr>
          <a:xfrm>
            <a:off x="493776" y="960120"/>
            <a:ext cx="8046720" cy="219456"/>
          </a:xfrm>
          <a:prstGeom prst="rect">
            <a:avLst/>
          </a:prstGeom>
          <a:noFill/>
          <a:ln/>
        </p:spPr>
        <p:txBody>
          <a:bodyPr wrap="square" lIns="0" tIns="0" rIns="0" bIns="0" rtlCol="0" anchor="ctr"/>
          <a:lstStyle/>
          <a:p>
            <a:pPr indent="0" marL="0">
              <a:buNone/>
            </a:pPr>
            <a:r>
              <a:rPr lang="en-US" sz="950" b="1" dirty="0">
                <a:solidFill>
                  <a:srgbClr val="1B3A5C"/>
                </a:solidFill>
                <a:latin typeface="Arial" pitchFamily="34" charset="0"/>
                <a:ea typeface="Arial" pitchFamily="34" charset="-122"/>
                <a:cs typeface="Arial" pitchFamily="34" charset="-120"/>
              </a:rPr>
              <a:t>FUNCTIONAL LEADERSHIP ASSESSMENT</a:t>
            </a:r>
            <a:endParaRPr lang="en-US" sz="95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365760" y="1216152"/>
          <a:ext cx="5029200" cy="914400"/>
        </p:xfrm>
        <a:graphic>
          <a:graphicData uri="http://schemas.openxmlformats.org/drawingml/2006/table">
            <a:tbl>
              <a:tblPr/>
              <a:tblGrid>
                <a:gridCol w="1463040"/>
                <a:gridCol w="1371600"/>
                <a:gridCol w="2194560"/>
              </a:tblGrid>
              <a:tr h="0">
                <a:tc>
                  <a:txBody>
                    <a:bodyPr/>
                    <a:lstStyle/>
                    <a:p>
                      <a:pPr algn="ctr" indent="0" marL="0">
                        <a:buNone/>
                      </a:pPr>
                      <a:r>
                        <a:rPr lang="en-US" sz="850" b="1" dirty="0">
                          <a:solidFill>
                            <a:srgbClr val="FFFFFF"/>
                          </a:solidFill>
                        </a:rPr>
                        <a:t>Function</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B3A5C"/>
                    </a:solidFill>
                  </a:tcPr>
                </a:tc>
                <a:tc>
                  <a:txBody>
                    <a:bodyPr/>
                    <a:lstStyle/>
                    <a:p>
                      <a:pPr algn="ctr" indent="0" marL="0">
                        <a:buNone/>
                      </a:pPr>
                      <a:r>
                        <a:rPr lang="en-US" sz="850" b="1" dirty="0">
                          <a:solidFill>
                            <a:srgbClr val="FFFFFF"/>
                          </a:solidFill>
                        </a:rPr>
                        <a:t>Leader</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B3A5C"/>
                    </a:solidFill>
                  </a:tcPr>
                </a:tc>
                <a:tc>
                  <a:txBody>
                    <a:bodyPr/>
                    <a:lstStyle/>
                    <a:p>
                      <a:pPr algn="ctr" indent="0" marL="0">
                        <a:buNone/>
                      </a:pPr>
                      <a:r>
                        <a:rPr lang="en-US" sz="850" b="1" dirty="0">
                          <a:solidFill>
                            <a:srgbClr val="FFFFFF"/>
                          </a:solidFill>
                        </a:rPr>
                        <a:t>Depth Assessment</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B3A5C"/>
                    </a:solidFill>
                  </a:tcPr>
                </a:tc>
              </a:tr>
              <a:tr h="0">
                <a:tc>
                  <a:txBody>
                    <a:bodyPr/>
                    <a:lstStyle/>
                    <a:p>
                      <a:pPr algn="l" indent="0" marL="0">
                        <a:buNone/>
                      </a:pPr>
                      <a:r>
                        <a:rPr lang="en-US" sz="850" b="1" dirty="0">
                          <a:solidFill>
                            <a:srgbClr val="1E293B"/>
                          </a:solidFill>
                        </a:rPr>
                        <a:t>Product &amp; Engineering</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8F5E9"/>
                    </a:solidFill>
                  </a:tcPr>
                </a:tc>
                <a:tc>
                  <a:txBody>
                    <a:bodyPr/>
                    <a:lstStyle/>
                    <a:p>
                      <a:pPr algn="l" indent="0" marL="0">
                        <a:buNone/>
                      </a:pPr>
                      <a:r>
                        <a:rPr lang="en-US" sz="850" dirty="0">
                          <a:solidFill>
                            <a:srgbClr val="1E293B"/>
                          </a:solidFill>
                        </a:rPr>
                        <a:t>Howard Bright (CTO)</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8F5E9"/>
                    </a:solidFill>
                  </a:tcPr>
                </a:tc>
                <a:tc>
                  <a:txBody>
                    <a:bodyPr/>
                    <a:lstStyle/>
                    <a:p>
                      <a:pPr indent="0" marL="0">
                        <a:buNone/>
                      </a:pPr>
                      <a:r>
                        <a:rPr lang="en-US" sz="850" dirty="0">
                          <a:solidFill>
                            <a:srgbClr val="1A7A2E"/>
                          </a:solidFill>
                        </a:rPr>
                        <a:t>Strong — architect of Engage IQ and analytics engine. Multi-year tenure. Core differentiator.</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8F5E9"/>
                    </a:solidFill>
                  </a:tcPr>
                </a:tc>
              </a:tr>
              <a:tr h="0">
                <a:tc>
                  <a:txBody>
                    <a:bodyPr/>
                    <a:lstStyle/>
                    <a:p>
                      <a:pPr algn="l" indent="0" marL="0">
                        <a:buNone/>
                      </a:pPr>
                      <a:r>
                        <a:rPr lang="en-US" sz="850" b="1" dirty="0">
                          <a:solidFill>
                            <a:srgbClr val="1E293B"/>
                          </a:solidFill>
                        </a:rPr>
                        <a:t>Commercial / Sales</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9E6"/>
                    </a:solidFill>
                  </a:tcPr>
                </a:tc>
                <a:tc>
                  <a:txBody>
                    <a:bodyPr/>
                    <a:lstStyle/>
                    <a:p>
                      <a:pPr algn="l" indent="0" marL="0">
                        <a:buNone/>
                      </a:pPr>
                      <a:r>
                        <a:rPr lang="en-US" sz="850" dirty="0">
                          <a:solidFill>
                            <a:srgbClr val="1E293B"/>
                          </a:solidFill>
                        </a:rPr>
                        <a:t>Nicole Rogas (President)</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9E6"/>
                    </a:solidFill>
                  </a:tcPr>
                </a:tc>
                <a:tc>
                  <a:txBody>
                    <a:bodyPr/>
                    <a:lstStyle/>
                    <a:p>
                      <a:pPr indent="0" marL="0">
                        <a:buNone/>
                      </a:pPr>
                      <a:r>
                        <a:rPr lang="en-US" sz="850" dirty="0">
                          <a:solidFill>
                            <a:srgbClr val="B45309"/>
                          </a:solidFill>
                        </a:rPr>
                        <a:t>Conditional — 21 yrs HCIT commercial experience; 5 months at RevSpring. Cross-sell execution is unproven here.</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9E6"/>
                    </a:solidFill>
                  </a:tcPr>
                </a:tc>
              </a:tr>
              <a:tr h="0">
                <a:tc>
                  <a:txBody>
                    <a:bodyPr/>
                    <a:lstStyle/>
                    <a:p>
                      <a:pPr algn="l" indent="0" marL="0">
                        <a:buNone/>
                      </a:pPr>
                      <a:r>
                        <a:rPr lang="en-US" sz="850" b="1" dirty="0">
                          <a:solidFill>
                            <a:srgbClr val="1E293B"/>
                          </a:solidFill>
                        </a:rPr>
                        <a:t>Finance / M&amp;A</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9E6"/>
                    </a:solidFill>
                  </a:tcPr>
                </a:tc>
                <a:tc>
                  <a:txBody>
                    <a:bodyPr/>
                    <a:lstStyle/>
                    <a:p>
                      <a:pPr algn="l" indent="0" marL="0">
                        <a:buNone/>
                      </a:pPr>
                      <a:r>
                        <a:rPr lang="en-US" sz="850" dirty="0">
                          <a:solidFill>
                            <a:srgbClr val="1E293B"/>
                          </a:solidFill>
                        </a:rPr>
                        <a:t>David Smith (CFO)</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9E6"/>
                    </a:solidFill>
                  </a:tcPr>
                </a:tc>
                <a:tc>
                  <a:txBody>
                    <a:bodyPr/>
                    <a:lstStyle/>
                    <a:p>
                      <a:pPr indent="0" marL="0">
                        <a:buNone/>
                      </a:pPr>
                      <a:r>
                        <a:rPr lang="en-US" sz="850" dirty="0">
                          <a:solidFill>
                            <a:srgbClr val="B45309"/>
                          </a:solidFill>
                        </a:rPr>
                        <a:t>Conditional — strong credentials; 11 months tenure; model formula errors require resolution.</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9E6"/>
                    </a:solidFill>
                  </a:tcPr>
                </a:tc>
              </a:tr>
              <a:tr h="0">
                <a:tc>
                  <a:txBody>
                    <a:bodyPr/>
                    <a:lstStyle/>
                    <a:p>
                      <a:pPr algn="l" indent="0" marL="0">
                        <a:buNone/>
                      </a:pPr>
                      <a:r>
                        <a:rPr lang="en-US" sz="850" b="1" dirty="0">
                          <a:solidFill>
                            <a:srgbClr val="1E293B"/>
                          </a:solidFill>
                        </a:rPr>
                        <a:t>Operations &amp; Client Success</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algn="l" indent="0" marL="0">
                        <a:buNone/>
                      </a:pPr>
                      <a:r>
                        <a:rPr lang="en-US" sz="850" dirty="0">
                          <a:solidFill>
                            <a:srgbClr val="1E293B"/>
                          </a:solidFill>
                        </a:rPr>
                        <a:t>Not named in CIM</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indent="0" marL="0">
                        <a:buNone/>
                      </a:pPr>
                      <a:r>
                        <a:rPr lang="en-US" sz="850" dirty="0">
                          <a:solidFill>
                            <a:srgbClr val="C00000"/>
                          </a:solidFill>
                        </a:rPr>
                        <a:t>Not Disclosed — key for 420-person ops/client success function. Request VP-level org chart.</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EF2F2"/>
                    </a:solidFill>
                  </a:tcPr>
                </a:tc>
              </a:tr>
              <a:tr h="0">
                <a:tc>
                  <a:txBody>
                    <a:bodyPr/>
                    <a:lstStyle/>
                    <a:p>
                      <a:pPr algn="l" indent="0" marL="0">
                        <a:buNone/>
                      </a:pPr>
                      <a:r>
                        <a:rPr lang="en-US" sz="850" b="1" dirty="0">
                          <a:solidFill>
                            <a:srgbClr val="1E293B"/>
                          </a:solidFill>
                        </a:rPr>
                        <a:t>Compliance &amp; Legal</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algn="l" indent="0" marL="0">
                        <a:buNone/>
                      </a:pPr>
                      <a:r>
                        <a:rPr lang="en-US" sz="850" dirty="0">
                          <a:solidFill>
                            <a:srgbClr val="1E293B"/>
                          </a:solidFill>
                        </a:rPr>
                        <a:t>Not named in CIM</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indent="0" marL="0">
                        <a:buNone/>
                      </a:pPr>
                      <a:r>
                        <a:rPr lang="en-US" sz="850" dirty="0">
                          <a:solidFill>
                            <a:srgbClr val="B45309"/>
                          </a:solidFill>
                        </a:rPr>
                        <a:t>40+ compliance staff noted in CIM; no named leader disclosed. TCPA exposure makes this material.</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9E6"/>
                    </a:solidFill>
                  </a:tcPr>
                </a:tc>
              </a:tr>
              <a:tr h="0">
                <a:tc>
                  <a:txBody>
                    <a:bodyPr/>
                    <a:lstStyle/>
                    <a:p>
                      <a:pPr algn="l" indent="0" marL="0">
                        <a:buNone/>
                      </a:pPr>
                      <a:r>
                        <a:rPr lang="en-US" sz="850" b="1" dirty="0">
                          <a:solidFill>
                            <a:srgbClr val="1E293B"/>
                          </a:solidFill>
                        </a:rPr>
                        <a:t>Strategic Oversight</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8F5E9"/>
                    </a:solidFill>
                  </a:tcPr>
                </a:tc>
                <a:tc>
                  <a:txBody>
                    <a:bodyPr/>
                    <a:lstStyle/>
                    <a:p>
                      <a:pPr algn="l" indent="0" marL="0">
                        <a:buNone/>
                      </a:pPr>
                      <a:r>
                        <a:rPr lang="en-US" sz="850" dirty="0">
                          <a:solidFill>
                            <a:srgbClr val="1E293B"/>
                          </a:solidFill>
                        </a:rPr>
                        <a:t>Roger Davis (Exec. Chairman)</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8F5E9"/>
                    </a:solidFill>
                  </a:tcPr>
                </a:tc>
                <a:tc>
                  <a:txBody>
                    <a:bodyPr/>
                    <a:lstStyle/>
                    <a:p>
                      <a:pPr indent="0" marL="0">
                        <a:buNone/>
                      </a:pPr>
                      <a:r>
                        <a:rPr lang="en-US" sz="850" dirty="0">
                          <a:solidFill>
                            <a:srgbClr val="1A7A2E"/>
                          </a:solidFill>
                        </a:rPr>
                        <a:t>Strong — Frazier EIR provides operational governance bridge between management and PE sponsor.</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8F5E9"/>
                    </a:solidFill>
                  </a:tcPr>
                </a:tc>
              </a:tr>
            </a:tbl>
          </a:graphicData>
        </a:graphic>
      </p:graphicFrame>
      <p:sp>
        <p:nvSpPr>
          <p:cNvPr id="10" name="Shape 7"/>
          <p:cNvSpPr/>
          <p:nvPr/>
        </p:nvSpPr>
        <p:spPr>
          <a:xfrm>
            <a:off x="5577840" y="960120"/>
            <a:ext cx="45720" cy="219456"/>
          </a:xfrm>
          <a:prstGeom prst="rect">
            <a:avLst/>
          </a:prstGeom>
          <a:solidFill>
            <a:srgbClr val="2E6DB4"/>
          </a:solidFill>
          <a:ln/>
        </p:spPr>
      </p:sp>
      <p:sp>
        <p:nvSpPr>
          <p:cNvPr id="11" name="Text 8"/>
          <p:cNvSpPr/>
          <p:nvPr/>
        </p:nvSpPr>
        <p:spPr>
          <a:xfrm>
            <a:off x="5705856" y="960120"/>
            <a:ext cx="2834640" cy="219456"/>
          </a:xfrm>
          <a:prstGeom prst="rect">
            <a:avLst/>
          </a:prstGeom>
          <a:noFill/>
          <a:ln/>
        </p:spPr>
        <p:txBody>
          <a:bodyPr wrap="square" lIns="0" tIns="0" rIns="0" bIns="0" rtlCol="0" anchor="ctr"/>
          <a:lstStyle/>
          <a:p>
            <a:pPr indent="0" marL="0">
              <a:buNone/>
            </a:pPr>
            <a:r>
              <a:rPr lang="en-US" sz="950" b="1" dirty="0">
                <a:solidFill>
                  <a:srgbClr val="1B3A5C"/>
                </a:solidFill>
                <a:latin typeface="Arial" pitchFamily="34" charset="0"/>
                <a:ea typeface="Arial" pitchFamily="34" charset="-122"/>
                <a:cs typeface="Arial" pitchFamily="34" charset="-120"/>
              </a:rPr>
              <a:t>SECOND-TIER LEADERSHIP — KEY DEPENDENCIES</a:t>
            </a:r>
            <a:endParaRPr lang="en-US" sz="950" dirty="0"/>
          </a:p>
        </p:txBody>
      </p:sp>
      <p:sp>
        <p:nvSpPr>
          <p:cNvPr id="12" name="Shape 9"/>
          <p:cNvSpPr/>
          <p:nvPr/>
        </p:nvSpPr>
        <p:spPr>
          <a:xfrm>
            <a:off x="5577840" y="1261872"/>
            <a:ext cx="3200400" cy="804672"/>
          </a:xfrm>
          <a:prstGeom prst="rect">
            <a:avLst/>
          </a:prstGeom>
          <a:solidFill>
            <a:srgbClr val="F7F8FA"/>
          </a:solidFill>
          <a:ln w="6350">
            <a:solidFill>
              <a:srgbClr val="D0D5DD"/>
            </a:solidFill>
            <a:prstDash val="solid"/>
          </a:ln>
        </p:spPr>
      </p:sp>
      <p:sp>
        <p:nvSpPr>
          <p:cNvPr id="13" name="Shape 10"/>
          <p:cNvSpPr/>
          <p:nvPr/>
        </p:nvSpPr>
        <p:spPr>
          <a:xfrm>
            <a:off x="5577840" y="1261872"/>
            <a:ext cx="45720" cy="804672"/>
          </a:xfrm>
          <a:prstGeom prst="rect">
            <a:avLst/>
          </a:prstGeom>
          <a:solidFill>
            <a:srgbClr val="B45309"/>
          </a:solidFill>
          <a:ln/>
        </p:spPr>
      </p:sp>
      <p:sp>
        <p:nvSpPr>
          <p:cNvPr id="14" name="Text 11"/>
          <p:cNvSpPr/>
          <p:nvPr/>
        </p:nvSpPr>
        <p:spPr>
          <a:xfrm>
            <a:off x="5705856" y="1316736"/>
            <a:ext cx="2926080" cy="201168"/>
          </a:xfrm>
          <a:prstGeom prst="rect">
            <a:avLst/>
          </a:prstGeom>
          <a:noFill/>
          <a:ln/>
        </p:spPr>
        <p:txBody>
          <a:bodyPr wrap="square" lIns="0" tIns="0" rIns="0" bIns="0" rtlCol="0" anchor="ctr"/>
          <a:lstStyle/>
          <a:p>
            <a:pPr indent="0" marL="0">
              <a:buNone/>
            </a:pPr>
            <a:r>
              <a:rPr lang="en-US" sz="950" b="1" dirty="0">
                <a:solidFill>
                  <a:srgbClr val="1B3A5C"/>
                </a:solidFill>
                <a:latin typeface="Arial" pitchFamily="34" charset="0"/>
                <a:ea typeface="Arial" pitchFamily="34" charset="-122"/>
                <a:cs typeface="Arial" pitchFamily="34" charset="-120"/>
              </a:rPr>
              <a:t>15 Enterprise Account Managers</a:t>
            </a:r>
            <a:endParaRPr lang="en-US" sz="950" dirty="0"/>
          </a:p>
        </p:txBody>
      </p:sp>
      <p:sp>
        <p:nvSpPr>
          <p:cNvPr id="15" name="Text 12"/>
          <p:cNvSpPr/>
          <p:nvPr/>
        </p:nvSpPr>
        <p:spPr>
          <a:xfrm>
            <a:off x="5705856" y="1517904"/>
            <a:ext cx="2926080" cy="512064"/>
          </a:xfrm>
          <a:prstGeom prst="rect">
            <a:avLst/>
          </a:prstGeom>
          <a:noFill/>
          <a:ln/>
        </p:spPr>
        <p:txBody>
          <a:bodyPr wrap="square" lIns="0" tIns="0" rIns="0" bIns="0" rtlCol="0" anchor="ctr"/>
          <a:lstStyle/>
          <a:p>
            <a:pPr indent="0" marL="0">
              <a:buNone/>
            </a:pPr>
            <a:r>
              <a:rPr lang="en-US" sz="800" dirty="0">
                <a:solidFill>
                  <a:srgbClr val="374151"/>
                </a:solidFill>
                <a:latin typeface="Arial" pitchFamily="34" charset="0"/>
                <a:ea typeface="Arial" pitchFamily="34" charset="-122"/>
                <a:cs typeface="Arial" pitchFamily="34" charset="-120"/>
              </a:rPr>
              <a:t>Cover top 50 clients. Revenue concentration in these 15 relationships is material. Retention programs (equity, bonus) in place per CIM.</a:t>
            </a:r>
            <a:endParaRPr lang="en-US" sz="800" dirty="0"/>
          </a:p>
        </p:txBody>
      </p:sp>
      <p:sp>
        <p:nvSpPr>
          <p:cNvPr id="16" name="Shape 13"/>
          <p:cNvSpPr/>
          <p:nvPr/>
        </p:nvSpPr>
        <p:spPr>
          <a:xfrm>
            <a:off x="5577840" y="2157984"/>
            <a:ext cx="3200400" cy="804672"/>
          </a:xfrm>
          <a:prstGeom prst="rect">
            <a:avLst/>
          </a:prstGeom>
          <a:solidFill>
            <a:srgbClr val="FFFFFF"/>
          </a:solidFill>
          <a:ln w="6350">
            <a:solidFill>
              <a:srgbClr val="D0D5DD"/>
            </a:solidFill>
            <a:prstDash val="solid"/>
          </a:ln>
        </p:spPr>
      </p:sp>
      <p:sp>
        <p:nvSpPr>
          <p:cNvPr id="17" name="Shape 14"/>
          <p:cNvSpPr/>
          <p:nvPr/>
        </p:nvSpPr>
        <p:spPr>
          <a:xfrm>
            <a:off x="5577840" y="2157984"/>
            <a:ext cx="45720" cy="804672"/>
          </a:xfrm>
          <a:prstGeom prst="rect">
            <a:avLst/>
          </a:prstGeom>
          <a:solidFill>
            <a:srgbClr val="C00000"/>
          </a:solidFill>
          <a:ln/>
        </p:spPr>
      </p:sp>
      <p:sp>
        <p:nvSpPr>
          <p:cNvPr id="18" name="Text 15"/>
          <p:cNvSpPr/>
          <p:nvPr/>
        </p:nvSpPr>
        <p:spPr>
          <a:xfrm>
            <a:off x="5705856" y="2212848"/>
            <a:ext cx="2926080" cy="201168"/>
          </a:xfrm>
          <a:prstGeom prst="rect">
            <a:avLst/>
          </a:prstGeom>
          <a:noFill/>
          <a:ln/>
        </p:spPr>
        <p:txBody>
          <a:bodyPr wrap="square" lIns="0" tIns="0" rIns="0" bIns="0" rtlCol="0" anchor="ctr"/>
          <a:lstStyle/>
          <a:p>
            <a:pPr indent="0" marL="0">
              <a:buNone/>
            </a:pPr>
            <a:r>
              <a:rPr lang="en-US" sz="950" b="1" dirty="0">
                <a:solidFill>
                  <a:srgbClr val="1B3A5C"/>
                </a:solidFill>
                <a:latin typeface="Arial" pitchFamily="34" charset="0"/>
                <a:ea typeface="Arial" pitchFamily="34" charset="-122"/>
                <a:cs typeface="Arial" pitchFamily="34" charset="-120"/>
              </a:rPr>
              <a:t>M&amp;A Integration PMO</a:t>
            </a:r>
            <a:endParaRPr lang="en-US" sz="950" dirty="0"/>
          </a:p>
        </p:txBody>
      </p:sp>
      <p:sp>
        <p:nvSpPr>
          <p:cNvPr id="19" name="Text 16"/>
          <p:cNvSpPr/>
          <p:nvPr/>
        </p:nvSpPr>
        <p:spPr>
          <a:xfrm>
            <a:off x="5705856" y="2414016"/>
            <a:ext cx="2926080" cy="512064"/>
          </a:xfrm>
          <a:prstGeom prst="rect">
            <a:avLst/>
          </a:prstGeom>
          <a:noFill/>
          <a:ln/>
        </p:spPr>
        <p:txBody>
          <a:bodyPr wrap="square" lIns="0" tIns="0" rIns="0" bIns="0" rtlCol="0" anchor="ctr"/>
          <a:lstStyle/>
          <a:p>
            <a:pPr indent="0" marL="0">
              <a:buNone/>
            </a:pPr>
            <a:r>
              <a:rPr lang="en-US" sz="800" dirty="0">
                <a:solidFill>
                  <a:srgbClr val="374151"/>
                </a:solidFill>
                <a:latin typeface="Arial" pitchFamily="34" charset="0"/>
                <a:ea typeface="Arial" pitchFamily="34" charset="-122"/>
                <a:cs typeface="Arial" pitchFamily="34" charset="-120"/>
              </a:rPr>
              <a:t>Two concurrent integrations (Kyruus + TrustCommerce). No dedicated integration leader named. MacKenzie is likely the integration owner, creating CEO bandwidth risk.</a:t>
            </a:r>
            <a:endParaRPr lang="en-US" sz="800" dirty="0"/>
          </a:p>
        </p:txBody>
      </p:sp>
      <p:sp>
        <p:nvSpPr>
          <p:cNvPr id="20" name="Shape 17"/>
          <p:cNvSpPr/>
          <p:nvPr/>
        </p:nvSpPr>
        <p:spPr>
          <a:xfrm>
            <a:off x="5577840" y="3054096"/>
            <a:ext cx="3200400" cy="804672"/>
          </a:xfrm>
          <a:prstGeom prst="rect">
            <a:avLst/>
          </a:prstGeom>
          <a:solidFill>
            <a:srgbClr val="F7F8FA"/>
          </a:solidFill>
          <a:ln w="6350">
            <a:solidFill>
              <a:srgbClr val="D0D5DD"/>
            </a:solidFill>
            <a:prstDash val="solid"/>
          </a:ln>
        </p:spPr>
      </p:sp>
      <p:sp>
        <p:nvSpPr>
          <p:cNvPr id="21" name="Shape 18"/>
          <p:cNvSpPr/>
          <p:nvPr/>
        </p:nvSpPr>
        <p:spPr>
          <a:xfrm>
            <a:off x="5577840" y="3054096"/>
            <a:ext cx="45720" cy="804672"/>
          </a:xfrm>
          <a:prstGeom prst="rect">
            <a:avLst/>
          </a:prstGeom>
          <a:solidFill>
            <a:srgbClr val="B45309"/>
          </a:solidFill>
          <a:ln/>
        </p:spPr>
      </p:sp>
      <p:sp>
        <p:nvSpPr>
          <p:cNvPr id="22" name="Text 19"/>
          <p:cNvSpPr/>
          <p:nvPr/>
        </p:nvSpPr>
        <p:spPr>
          <a:xfrm>
            <a:off x="5705856" y="3108960"/>
            <a:ext cx="2926080" cy="201168"/>
          </a:xfrm>
          <a:prstGeom prst="rect">
            <a:avLst/>
          </a:prstGeom>
          <a:noFill/>
          <a:ln/>
        </p:spPr>
        <p:txBody>
          <a:bodyPr wrap="square" lIns="0" tIns="0" rIns="0" bIns="0" rtlCol="0" anchor="ctr"/>
          <a:lstStyle/>
          <a:p>
            <a:pPr indent="0" marL="0">
              <a:buNone/>
            </a:pPr>
            <a:r>
              <a:rPr lang="en-US" sz="950" b="1" dirty="0">
                <a:solidFill>
                  <a:srgbClr val="1B3A5C"/>
                </a:solidFill>
                <a:latin typeface="Arial" pitchFamily="34" charset="0"/>
                <a:ea typeface="Arial" pitchFamily="34" charset="-122"/>
                <a:cs typeface="Arial" pitchFamily="34" charset="-120"/>
              </a:rPr>
              <a:t>Data Science / Analytics Team</a:t>
            </a:r>
            <a:endParaRPr lang="en-US" sz="950" dirty="0"/>
          </a:p>
        </p:txBody>
      </p:sp>
      <p:sp>
        <p:nvSpPr>
          <p:cNvPr id="23" name="Text 20"/>
          <p:cNvSpPr/>
          <p:nvPr/>
        </p:nvSpPr>
        <p:spPr>
          <a:xfrm>
            <a:off x="5705856" y="3310128"/>
            <a:ext cx="2926080" cy="512064"/>
          </a:xfrm>
          <a:prstGeom prst="rect">
            <a:avLst/>
          </a:prstGeom>
          <a:noFill/>
          <a:ln/>
        </p:spPr>
        <p:txBody>
          <a:bodyPr wrap="square" lIns="0" tIns="0" rIns="0" bIns="0" rtlCol="0" anchor="ctr"/>
          <a:lstStyle/>
          <a:p>
            <a:pPr indent="0" marL="0">
              <a:buNone/>
            </a:pPr>
            <a:r>
              <a:rPr lang="en-US" sz="800" dirty="0">
                <a:solidFill>
                  <a:srgbClr val="374151"/>
                </a:solidFill>
                <a:latin typeface="Arial" pitchFamily="34" charset="0"/>
                <a:ea typeface="Arial" pitchFamily="34" charset="-122"/>
                <a:cs typeface="Arial" pitchFamily="34" charset="-120"/>
              </a:rPr>
              <a:t>Drives Engage IQ propensity scoring for 300M+ consumer profiles. Not disclosed in CIM. Loss of key data science talent would impair core moat.</a:t>
            </a:r>
            <a:endParaRPr lang="en-US" sz="800" dirty="0"/>
          </a:p>
        </p:txBody>
      </p:sp>
      <p:sp>
        <p:nvSpPr>
          <p:cNvPr id="24" name="Shape 21"/>
          <p:cNvSpPr/>
          <p:nvPr/>
        </p:nvSpPr>
        <p:spPr>
          <a:xfrm>
            <a:off x="5577840" y="3950208"/>
            <a:ext cx="3200400" cy="804672"/>
          </a:xfrm>
          <a:prstGeom prst="rect">
            <a:avLst/>
          </a:prstGeom>
          <a:solidFill>
            <a:srgbClr val="FFFFFF"/>
          </a:solidFill>
          <a:ln w="6350">
            <a:solidFill>
              <a:srgbClr val="D0D5DD"/>
            </a:solidFill>
            <a:prstDash val="solid"/>
          </a:ln>
        </p:spPr>
      </p:sp>
      <p:sp>
        <p:nvSpPr>
          <p:cNvPr id="25" name="Shape 22"/>
          <p:cNvSpPr/>
          <p:nvPr/>
        </p:nvSpPr>
        <p:spPr>
          <a:xfrm>
            <a:off x="5577840" y="3950208"/>
            <a:ext cx="45720" cy="804672"/>
          </a:xfrm>
          <a:prstGeom prst="rect">
            <a:avLst/>
          </a:prstGeom>
          <a:solidFill>
            <a:srgbClr val="64748B"/>
          </a:solidFill>
          <a:ln/>
        </p:spPr>
      </p:sp>
      <p:sp>
        <p:nvSpPr>
          <p:cNvPr id="26" name="Text 23"/>
          <p:cNvSpPr/>
          <p:nvPr/>
        </p:nvSpPr>
        <p:spPr>
          <a:xfrm>
            <a:off x="5705856" y="4005072"/>
            <a:ext cx="2926080" cy="201168"/>
          </a:xfrm>
          <a:prstGeom prst="rect">
            <a:avLst/>
          </a:prstGeom>
          <a:noFill/>
          <a:ln/>
        </p:spPr>
        <p:txBody>
          <a:bodyPr wrap="square" lIns="0" tIns="0" rIns="0" bIns="0" rtlCol="0" anchor="ctr"/>
          <a:lstStyle/>
          <a:p>
            <a:pPr indent="0" marL="0">
              <a:buNone/>
            </a:pPr>
            <a:r>
              <a:rPr lang="en-US" sz="950" b="1" dirty="0">
                <a:solidFill>
                  <a:srgbClr val="1B3A5C"/>
                </a:solidFill>
                <a:latin typeface="Arial" pitchFamily="34" charset="0"/>
                <a:ea typeface="Arial" pitchFamily="34" charset="-122"/>
                <a:cs typeface="Arial" pitchFamily="34" charset="-120"/>
              </a:rPr>
              <a:t>Print Operations</a:t>
            </a:r>
            <a:endParaRPr lang="en-US" sz="950" dirty="0"/>
          </a:p>
        </p:txBody>
      </p:sp>
      <p:sp>
        <p:nvSpPr>
          <p:cNvPr id="27" name="Text 24"/>
          <p:cNvSpPr/>
          <p:nvPr/>
        </p:nvSpPr>
        <p:spPr>
          <a:xfrm>
            <a:off x="5705856" y="4206240"/>
            <a:ext cx="2926080" cy="512064"/>
          </a:xfrm>
          <a:prstGeom prst="rect">
            <a:avLst/>
          </a:prstGeom>
          <a:noFill/>
          <a:ln/>
        </p:spPr>
        <p:txBody>
          <a:bodyPr wrap="square" lIns="0" tIns="0" rIns="0" bIns="0" rtlCol="0" anchor="ctr"/>
          <a:lstStyle/>
          <a:p>
            <a:pPr indent="0" marL="0">
              <a:buNone/>
            </a:pPr>
            <a:r>
              <a:rPr lang="en-US" sz="800" dirty="0">
                <a:solidFill>
                  <a:srgbClr val="374151"/>
                </a:solidFill>
                <a:latin typeface="Arial" pitchFamily="34" charset="0"/>
                <a:ea typeface="Arial" pitchFamily="34" charset="-122"/>
                <a:cs typeface="Arial" pitchFamily="34" charset="-120"/>
              </a:rPr>
              <a:t>Manages millions of monthly statements. PCI Level 1 certified. Operationally critical but structurally declining.</a:t>
            </a:r>
            <a:endParaRPr lang="en-US" sz="800" dirty="0"/>
          </a:p>
        </p:txBody>
      </p:sp>
      <p:sp>
        <p:nvSpPr>
          <p:cNvPr id="28" name="Shape 25"/>
          <p:cNvSpPr/>
          <p:nvPr/>
        </p:nvSpPr>
        <p:spPr>
          <a:xfrm>
            <a:off x="365760" y="4526280"/>
            <a:ext cx="45720" cy="219456"/>
          </a:xfrm>
          <a:prstGeom prst="rect">
            <a:avLst/>
          </a:prstGeom>
          <a:solidFill>
            <a:srgbClr val="2E6DB4"/>
          </a:solidFill>
          <a:ln/>
        </p:spPr>
      </p:sp>
      <p:sp>
        <p:nvSpPr>
          <p:cNvPr id="29" name="Text 26"/>
          <p:cNvSpPr/>
          <p:nvPr/>
        </p:nvSpPr>
        <p:spPr>
          <a:xfrm>
            <a:off x="493776" y="4526280"/>
            <a:ext cx="8046720" cy="219456"/>
          </a:xfrm>
          <a:prstGeom prst="rect">
            <a:avLst/>
          </a:prstGeom>
          <a:noFill/>
          <a:ln/>
        </p:spPr>
        <p:txBody>
          <a:bodyPr wrap="square" lIns="0" tIns="0" rIns="0" bIns="0" rtlCol="0" anchor="ctr"/>
          <a:lstStyle/>
          <a:p>
            <a:pPr indent="0" marL="0">
              <a:buNone/>
            </a:pPr>
            <a:r>
              <a:rPr lang="en-US" sz="950" b="1" dirty="0">
                <a:solidFill>
                  <a:srgbClr val="1B3A5C"/>
                </a:solidFill>
                <a:latin typeface="Arial" pitchFamily="34" charset="0"/>
                <a:ea typeface="Arial" pitchFamily="34" charset="-122"/>
                <a:cs typeface="Arial" pitchFamily="34" charset="-120"/>
              </a:rPr>
              <a:t>CIM HEADCOUNT BREAKDOWN</a:t>
            </a:r>
            <a:endParaRPr lang="en-US" sz="950" dirty="0"/>
          </a:p>
        </p:txBody>
      </p:sp>
      <p:graphicFrame>
        <p:nvGraphicFramePr>
          <p:cNvPr id="30" name="Chart 0" descr=""/>
          <p:cNvGraphicFramePr/>
          <p:nvPr/>
        </p:nvGraphicFramePr>
        <p:xfrm>
          <a:off x="365760" y="4736592"/>
          <a:ext cx="5029200" cy="438912"/>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46304"/>
            <a:ext cx="8412480" cy="457200"/>
          </a:xfrm>
          <a:prstGeom prst="rect">
            <a:avLst/>
          </a:prstGeom>
          <a:noFill/>
          <a:ln/>
        </p:spPr>
        <p:txBody>
          <a:bodyPr wrap="square" lIns="0" tIns="0" rIns="0" bIns="0" rtlCol="0" anchor="ctr"/>
          <a:lstStyle/>
          <a:p>
            <a:pPr indent="0" marL="0">
              <a:buNone/>
            </a:pPr>
            <a:r>
              <a:rPr lang="en-US" sz="2100" b="1" dirty="0">
                <a:solidFill>
                  <a:srgbClr val="1B3A5C"/>
                </a:solidFill>
                <a:latin typeface="Arial" pitchFamily="34" charset="0"/>
                <a:ea typeface="Arial" pitchFamily="34" charset="-122"/>
                <a:cs typeface="Arial" pitchFamily="34" charset="-120"/>
              </a:rPr>
              <a:t>Slide 7  |  Team Stability and Retention</a:t>
            </a:r>
            <a:endParaRPr lang="en-US" sz="2100" dirty="0"/>
          </a:p>
        </p:txBody>
      </p:sp>
      <p:sp>
        <p:nvSpPr>
          <p:cNvPr id="3" name="Shape 1"/>
          <p:cNvSpPr/>
          <p:nvPr/>
        </p:nvSpPr>
        <p:spPr>
          <a:xfrm>
            <a:off x="365760" y="640080"/>
            <a:ext cx="822960" cy="201168"/>
          </a:xfrm>
          <a:prstGeom prst="rect">
            <a:avLst/>
          </a:prstGeom>
          <a:solidFill>
            <a:srgbClr val="1B3A5C"/>
          </a:solidFill>
          <a:ln/>
        </p:spPr>
      </p:sp>
      <p:sp>
        <p:nvSpPr>
          <p:cNvPr id="4" name="Text 2"/>
          <p:cNvSpPr/>
          <p:nvPr/>
        </p:nvSpPr>
        <p:spPr>
          <a:xfrm>
            <a:off x="365760" y="640080"/>
            <a:ext cx="822960" cy="201168"/>
          </a:xfrm>
          <a:prstGeom prst="rect">
            <a:avLst/>
          </a:prstGeom>
          <a:noFill/>
          <a:ln/>
        </p:spPr>
        <p:txBody>
          <a:bodyPr wrap="square" lIns="0" tIns="0" rIns="0" bIns="0"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SO WHAT</a:t>
            </a:r>
            <a:endParaRPr lang="en-US" sz="700" dirty="0"/>
          </a:p>
        </p:txBody>
      </p:sp>
      <p:sp>
        <p:nvSpPr>
          <p:cNvPr id="5" name="Text 3"/>
          <p:cNvSpPr/>
          <p:nvPr/>
        </p:nvSpPr>
        <p:spPr>
          <a:xfrm>
            <a:off x="1261872" y="640080"/>
            <a:ext cx="7406640" cy="201168"/>
          </a:xfrm>
          <a:prstGeom prst="rect">
            <a:avLst/>
          </a:prstGeom>
          <a:noFill/>
          <a:ln/>
        </p:spPr>
        <p:txBody>
          <a:bodyPr wrap="square" lIns="0" tIns="0" rIns="0" bIns="0" rtlCol="0" anchor="ctr"/>
          <a:lstStyle/>
          <a:p>
            <a:pPr indent="0" marL="0">
              <a:buNone/>
            </a:pPr>
            <a:r>
              <a:rPr lang="en-US" sz="850" i="1" dirty="0">
                <a:solidFill>
                  <a:srgbClr val="1B3A5C"/>
                </a:solidFill>
                <a:latin typeface="Arial" pitchFamily="34" charset="0"/>
                <a:ea typeface="Arial" pitchFamily="34" charset="-122"/>
                <a:cs typeface="Arial" pitchFamily="34" charset="-120"/>
              </a:rPr>
              <a:t>CEO and CTO tenure is strong — but two recent senior hires (CFO and President) in a critical 12-month integration window introduce near-term execution dependency on MacKenzie.</a:t>
            </a:r>
            <a:endParaRPr lang="en-US" sz="850" dirty="0"/>
          </a:p>
        </p:txBody>
      </p:sp>
      <p:sp>
        <p:nvSpPr>
          <p:cNvPr id="6" name="Text 4"/>
          <p:cNvSpPr/>
          <p:nvPr/>
        </p:nvSpPr>
        <p:spPr>
          <a:xfrm>
            <a:off x="274320" y="4864608"/>
            <a:ext cx="8595360" cy="182880"/>
          </a:xfrm>
          <a:prstGeom prst="rect">
            <a:avLst/>
          </a:prstGeom>
          <a:noFill/>
          <a:ln/>
        </p:spPr>
        <p:txBody>
          <a:bodyPr wrap="square" lIns="0" tIns="0" rIns="0" bIns="0" rtlCol="0" anchor="ctr"/>
          <a:lstStyle/>
          <a:p>
            <a:pPr algn="ctr" indent="0" marL="0">
              <a:buNone/>
            </a:pPr>
            <a:r>
              <a:rPr lang="en-US" sz="750" dirty="0">
                <a:solidFill>
                  <a:srgbClr val="9EABB8"/>
                </a:solidFill>
                <a:latin typeface="Arial" pitchFamily="34" charset="0"/>
                <a:ea typeface="Arial" pitchFamily="34" charset="-122"/>
                <a:cs typeface="Arial" pitchFamily="34" charset="-120"/>
              </a:rPr>
              <a:t>Confidential  |  Morsebridge Healthcare  |  Management DD  |  RevSpring  |  June 5, 2026</a:t>
            </a:r>
            <a:endParaRPr lang="en-US" sz="750" dirty="0"/>
          </a:p>
        </p:txBody>
      </p:sp>
      <p:sp>
        <p:nvSpPr>
          <p:cNvPr id="7" name="Shape 5"/>
          <p:cNvSpPr/>
          <p:nvPr/>
        </p:nvSpPr>
        <p:spPr>
          <a:xfrm>
            <a:off x="365760" y="960120"/>
            <a:ext cx="45720" cy="219456"/>
          </a:xfrm>
          <a:prstGeom prst="rect">
            <a:avLst/>
          </a:prstGeom>
          <a:solidFill>
            <a:srgbClr val="2E6DB4"/>
          </a:solidFill>
          <a:ln/>
        </p:spPr>
      </p:sp>
      <p:sp>
        <p:nvSpPr>
          <p:cNvPr id="8" name="Text 6"/>
          <p:cNvSpPr/>
          <p:nvPr/>
        </p:nvSpPr>
        <p:spPr>
          <a:xfrm>
            <a:off x="493776" y="960120"/>
            <a:ext cx="8046720" cy="219456"/>
          </a:xfrm>
          <a:prstGeom prst="rect">
            <a:avLst/>
          </a:prstGeom>
          <a:noFill/>
          <a:ln/>
        </p:spPr>
        <p:txBody>
          <a:bodyPr wrap="square" lIns="0" tIns="0" rIns="0" bIns="0" rtlCol="0" anchor="ctr"/>
          <a:lstStyle/>
          <a:p>
            <a:pPr indent="0" marL="0">
              <a:buNone/>
            </a:pPr>
            <a:r>
              <a:rPr lang="en-US" sz="950" b="1" dirty="0">
                <a:solidFill>
                  <a:srgbClr val="1B3A5C"/>
                </a:solidFill>
                <a:latin typeface="Arial" pitchFamily="34" charset="0"/>
                <a:ea typeface="Arial" pitchFamily="34" charset="-122"/>
                <a:cs typeface="Arial" pitchFamily="34" charset="-120"/>
              </a:rPr>
              <a:t>C-SUITE TENURE AND STABILITY ASSESSMENT</a:t>
            </a:r>
            <a:endParaRPr lang="en-US" sz="95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365760" y="1216152"/>
          <a:ext cx="8412480" cy="914400"/>
        </p:xfrm>
        <a:graphic>
          <a:graphicData uri="http://schemas.openxmlformats.org/drawingml/2006/table">
            <a:tbl>
              <a:tblPr/>
              <a:tblGrid>
                <a:gridCol w="1371600"/>
                <a:gridCol w="822960"/>
                <a:gridCol w="822960"/>
                <a:gridCol w="1737360"/>
                <a:gridCol w="2011680"/>
                <a:gridCol w="1645920"/>
              </a:tblGrid>
              <a:tr h="0">
                <a:tc>
                  <a:txBody>
                    <a:bodyPr/>
                    <a:lstStyle/>
                    <a:p>
                      <a:pPr algn="ctr" indent="0" marL="0">
                        <a:buNone/>
                      </a:pPr>
                      <a:r>
                        <a:rPr lang="en-US" sz="850" b="1" dirty="0">
                          <a:solidFill>
                            <a:srgbClr val="FFFFFF"/>
                          </a:solidFill>
                        </a:rPr>
                        <a:t>Name</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B3A5C"/>
                    </a:solidFill>
                  </a:tcPr>
                </a:tc>
                <a:tc>
                  <a:txBody>
                    <a:bodyPr/>
                    <a:lstStyle/>
                    <a:p>
                      <a:pPr algn="ctr" indent="0" marL="0">
                        <a:buNone/>
                      </a:pPr>
                      <a:r>
                        <a:rPr lang="en-US" sz="850" b="1" dirty="0">
                          <a:solidFill>
                            <a:srgbClr val="FFFFFF"/>
                          </a:solidFill>
                        </a:rPr>
                        <a:t>Title</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B3A5C"/>
                    </a:solidFill>
                  </a:tcPr>
                </a:tc>
                <a:tc>
                  <a:txBody>
                    <a:bodyPr/>
                    <a:lstStyle/>
                    <a:p>
                      <a:pPr algn="ctr" indent="0" marL="0">
                        <a:buNone/>
                      </a:pPr>
                      <a:r>
                        <a:rPr lang="en-US" sz="850" b="1" dirty="0">
                          <a:solidFill>
                            <a:srgbClr val="FFFFFF"/>
                          </a:solidFill>
                        </a:rPr>
                        <a:t>Tenure</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B3A5C"/>
                    </a:solidFill>
                  </a:tcPr>
                </a:tc>
                <a:tc>
                  <a:txBody>
                    <a:bodyPr/>
                    <a:lstStyle/>
                    <a:p>
                      <a:pPr algn="ctr" indent="0" marL="0">
                        <a:buNone/>
                      </a:pPr>
                      <a:r>
                        <a:rPr lang="en-US" sz="850" b="1" dirty="0">
                          <a:solidFill>
                            <a:srgbClr val="FFFFFF"/>
                          </a:solidFill>
                        </a:rPr>
                        <a:t>Hire Trigger</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B3A5C"/>
                    </a:solidFill>
                  </a:tcPr>
                </a:tc>
                <a:tc>
                  <a:txBody>
                    <a:bodyPr/>
                    <a:lstStyle/>
                    <a:p>
                      <a:pPr algn="ctr" indent="0" marL="0">
                        <a:buNone/>
                      </a:pPr>
                      <a:r>
                        <a:rPr lang="en-US" sz="850" b="1" dirty="0">
                          <a:solidFill>
                            <a:srgbClr val="FFFFFF"/>
                          </a:solidFill>
                        </a:rPr>
                        <a:t>Retention Risk</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B3A5C"/>
                    </a:solidFill>
                  </a:tcPr>
                </a:tc>
                <a:tc>
                  <a:txBody>
                    <a:bodyPr/>
                    <a:lstStyle/>
                    <a:p>
                      <a:pPr algn="ctr" indent="0" marL="0">
                        <a:buNone/>
                      </a:pPr>
                      <a:r>
                        <a:rPr lang="en-US" sz="850" b="1" dirty="0">
                          <a:solidFill>
                            <a:srgbClr val="FFFFFF"/>
                          </a:solidFill>
                        </a:rPr>
                        <a:t>Morsebridge Rating</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B3A5C"/>
                    </a:solidFill>
                  </a:tcPr>
                </a:tc>
              </a:tr>
              <a:tr h="0">
                <a:tc>
                  <a:txBody>
                    <a:bodyPr/>
                    <a:lstStyle/>
                    <a:p>
                      <a:pPr algn="l" indent="0" marL="0">
                        <a:buNone/>
                      </a:pPr>
                      <a:r>
                        <a:rPr lang="en-US" sz="850" b="1" dirty="0">
                          <a:solidFill>
                            <a:srgbClr val="1E293B"/>
                          </a:solidFill>
                        </a:rPr>
                        <a:t>Scott MacKenzie</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8F5E9"/>
                    </a:solidFill>
                  </a:tcPr>
                </a:tc>
                <a:tc>
                  <a:txBody>
                    <a:bodyPr/>
                    <a:lstStyle/>
                    <a:p>
                      <a:pPr algn="l" indent="0" marL="0">
                        <a:buNone/>
                      </a:pPr>
                      <a:r>
                        <a:rPr lang="en-US" sz="850" dirty="0">
                          <a:solidFill>
                            <a:srgbClr val="1E293B"/>
                          </a:solidFill>
                        </a:rPr>
                        <a:t>CEO</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8F5E9"/>
                    </a:solidFill>
                  </a:tcPr>
                </a:tc>
                <a:tc>
                  <a:txBody>
                    <a:bodyPr/>
                    <a:lstStyle/>
                    <a:p>
                      <a:pPr algn="ctr" indent="0" marL="0">
                        <a:buNone/>
                      </a:pPr>
                      <a:r>
                        <a:rPr lang="en-US" sz="850" b="1" dirty="0">
                          <a:solidFill>
                            <a:srgbClr val="1A7A2E"/>
                          </a:solidFill>
                        </a:rPr>
                        <a:t>7+ years</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8F5E9"/>
                    </a:solidFill>
                  </a:tcPr>
                </a:tc>
                <a:tc>
                  <a:txBody>
                    <a:bodyPr/>
                    <a:lstStyle/>
                    <a:p>
                      <a:pPr algn="l" indent="0" marL="0">
                        <a:buNone/>
                      </a:pPr>
                      <a:r>
                        <a:rPr lang="en-US" sz="850" dirty="0">
                          <a:solidFill>
                            <a:srgbClr val="1E293B"/>
                          </a:solidFill>
                        </a:rPr>
                        <a:t>Original hire (2019)</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8F5E9"/>
                    </a:solidFill>
                  </a:tcPr>
                </a:tc>
                <a:tc>
                  <a:txBody>
                    <a:bodyPr/>
                    <a:lstStyle/>
                    <a:p>
                      <a:pPr indent="0" marL="0">
                        <a:buNone/>
                      </a:pPr>
                      <a:r>
                        <a:rPr lang="en-US" sz="800" dirty="0">
                          <a:solidFill>
                            <a:srgbClr val="1A7A2E"/>
                          </a:solidFill>
                        </a:rPr>
                        <a:t>LOW — $45M rollover, GTCR→Frazier continuity</a:t>
                      </a:r>
                      <a:endParaRPr lang="en-US" sz="80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8F5E9"/>
                    </a:solidFill>
                  </a:tcPr>
                </a:tc>
                <a:tc>
                  <a:txBody>
                    <a:bodyPr/>
                    <a:lstStyle/>
                    <a:p>
                      <a:pPr algn="ctr" indent="0" marL="0">
                        <a:buNone/>
                      </a:pPr>
                      <a:r>
                        <a:rPr lang="en-US" sz="1200" dirty="0">
                          <a:solidFill>
                            <a:srgbClr val="1A7A2E"/>
                          </a:solidFill>
                        </a:rPr>
                        <a:t>★★★★★</a:t>
                      </a:r>
                      <a:endParaRPr lang="en-US" sz="120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8F5E9"/>
                    </a:solidFill>
                  </a:tcPr>
                </a:tc>
              </a:tr>
              <a:tr h="0">
                <a:tc>
                  <a:txBody>
                    <a:bodyPr/>
                    <a:lstStyle/>
                    <a:p>
                      <a:pPr algn="l" indent="0" marL="0">
                        <a:buNone/>
                      </a:pPr>
                      <a:r>
                        <a:rPr lang="en-US" sz="850" b="1" dirty="0">
                          <a:solidFill>
                            <a:srgbClr val="1E293B"/>
                          </a:solidFill>
                        </a:rPr>
                        <a:t>Howard Bright</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algn="l" indent="0" marL="0">
                        <a:buNone/>
                      </a:pPr>
                      <a:r>
                        <a:rPr lang="en-US" sz="850" dirty="0">
                          <a:solidFill>
                            <a:srgbClr val="1E293B"/>
                          </a:solidFill>
                        </a:rPr>
                        <a:t>CTO</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1A7A2E"/>
                          </a:solidFill>
                        </a:rPr>
                        <a:t>Multi-year</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8F5E9"/>
                    </a:solidFill>
                  </a:tcPr>
                </a:tc>
                <a:tc>
                  <a:txBody>
                    <a:bodyPr/>
                    <a:lstStyle/>
                    <a:p>
                      <a:pPr algn="l" indent="0" marL="0">
                        <a:buNone/>
                      </a:pPr>
                      <a:r>
                        <a:rPr lang="en-US" sz="850" dirty="0">
                          <a:solidFill>
                            <a:srgbClr val="1E293B"/>
                          </a:solidFill>
                        </a:rPr>
                        <a:t>Organic (product leader)</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indent="0" marL="0">
                        <a:buNone/>
                      </a:pPr>
                      <a:r>
                        <a:rPr lang="en-US" sz="800" dirty="0">
                          <a:solidFill>
                            <a:srgbClr val="1A7A2E"/>
                          </a:solidFill>
                        </a:rPr>
                        <a:t>LOW — core IP carrier; equity programs assumed</a:t>
                      </a:r>
                      <a:endParaRPr lang="en-US" sz="80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8F5E9"/>
                    </a:solidFill>
                  </a:tcPr>
                </a:tc>
                <a:tc>
                  <a:txBody>
                    <a:bodyPr/>
                    <a:lstStyle/>
                    <a:p>
                      <a:pPr algn="ctr" indent="0" marL="0">
                        <a:buNone/>
                      </a:pPr>
                      <a:r>
                        <a:rPr lang="en-US" sz="1200" dirty="0">
                          <a:solidFill>
                            <a:srgbClr val="2E6DB4"/>
                          </a:solidFill>
                        </a:rPr>
                        <a:t>★★★★</a:t>
                      </a:r>
                      <a:endParaRPr lang="en-US" sz="120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r>
              <a:tr h="0">
                <a:tc>
                  <a:txBody>
                    <a:bodyPr/>
                    <a:lstStyle/>
                    <a:p>
                      <a:pPr algn="l" indent="0" marL="0">
                        <a:buNone/>
                      </a:pPr>
                      <a:r>
                        <a:rPr lang="en-US" sz="850" b="1" dirty="0">
                          <a:solidFill>
                            <a:srgbClr val="1E293B"/>
                          </a:solidFill>
                        </a:rPr>
                        <a:t>Roger Davis</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algn="l" indent="0" marL="0">
                        <a:buNone/>
                      </a:pPr>
                      <a:r>
                        <a:rPr lang="en-US" sz="850" dirty="0">
                          <a:solidFill>
                            <a:srgbClr val="1E293B"/>
                          </a:solidFill>
                        </a:rPr>
                        <a:t>Exec. Chairman</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algn="ctr" indent="0" marL="0">
                        <a:buNone/>
                      </a:pPr>
                      <a:r>
                        <a:rPr lang="en-US" sz="850" b="1" dirty="0">
                          <a:solidFill>
                            <a:srgbClr val="1A7A2E"/>
                          </a:solidFill>
                        </a:rPr>
                        <a:t>Mar 2024</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8F5E9"/>
                    </a:solidFill>
                  </a:tcPr>
                </a:tc>
                <a:tc>
                  <a:txBody>
                    <a:bodyPr/>
                    <a:lstStyle/>
                    <a:p>
                      <a:pPr algn="l" indent="0" marL="0">
                        <a:buNone/>
                      </a:pPr>
                      <a:r>
                        <a:rPr lang="en-US" sz="850" dirty="0">
                          <a:solidFill>
                            <a:srgbClr val="1E293B"/>
                          </a:solidFill>
                        </a:rPr>
                        <a:t>Frazier appointment</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indent="0" marL="0">
                        <a:buNone/>
                      </a:pPr>
                      <a:r>
                        <a:rPr lang="en-US" sz="800" dirty="0">
                          <a:solidFill>
                            <a:srgbClr val="1A7A2E"/>
                          </a:solidFill>
                        </a:rPr>
                        <a:t>LOW — Frazier principal; tenure linked to hold</a:t>
                      </a:r>
                      <a:endParaRPr lang="en-US" sz="80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8F5E9"/>
                    </a:solidFill>
                  </a:tcPr>
                </a:tc>
                <a:tc>
                  <a:txBody>
                    <a:bodyPr/>
                    <a:lstStyle/>
                    <a:p>
                      <a:pPr algn="ctr" indent="0" marL="0">
                        <a:buNone/>
                      </a:pPr>
                      <a:r>
                        <a:rPr lang="en-US" sz="1200" dirty="0">
                          <a:solidFill>
                            <a:srgbClr val="2E6DB4"/>
                          </a:solidFill>
                        </a:rPr>
                        <a:t>★★★★</a:t>
                      </a:r>
                      <a:endParaRPr lang="en-US" sz="120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r>
              <a:tr h="0">
                <a:tc>
                  <a:txBody>
                    <a:bodyPr/>
                    <a:lstStyle/>
                    <a:p>
                      <a:pPr algn="l" indent="0" marL="0">
                        <a:buNone/>
                      </a:pPr>
                      <a:r>
                        <a:rPr lang="en-US" sz="850" b="1" dirty="0">
                          <a:solidFill>
                            <a:srgbClr val="1E293B"/>
                          </a:solidFill>
                        </a:rPr>
                        <a:t>David Smith</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9E6"/>
                    </a:solidFill>
                  </a:tcPr>
                </a:tc>
                <a:tc>
                  <a:txBody>
                    <a:bodyPr/>
                    <a:lstStyle/>
                    <a:p>
                      <a:pPr algn="l" indent="0" marL="0">
                        <a:buNone/>
                      </a:pPr>
                      <a:r>
                        <a:rPr lang="en-US" sz="850" dirty="0">
                          <a:solidFill>
                            <a:srgbClr val="1E293B"/>
                          </a:solidFill>
                        </a:rPr>
                        <a:t>CFO</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9E6"/>
                    </a:solidFill>
                  </a:tcPr>
                </a:tc>
                <a:tc>
                  <a:txBody>
                    <a:bodyPr/>
                    <a:lstStyle/>
                    <a:p>
                      <a:pPr algn="ctr" indent="0" marL="0">
                        <a:buNone/>
                      </a:pPr>
                      <a:r>
                        <a:rPr lang="en-US" sz="850" b="1" dirty="0">
                          <a:solidFill>
                            <a:srgbClr val="B45309"/>
                          </a:solidFill>
                        </a:rPr>
                        <a:t>~11 months</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9E6"/>
                    </a:solidFill>
                  </a:tcPr>
                </a:tc>
                <a:tc>
                  <a:txBody>
                    <a:bodyPr/>
                    <a:lstStyle/>
                    <a:p>
                      <a:pPr algn="l" indent="0" marL="0">
                        <a:buNone/>
                      </a:pPr>
                      <a:r>
                        <a:rPr lang="en-US" sz="850" dirty="0">
                          <a:solidFill>
                            <a:srgbClr val="1E293B"/>
                          </a:solidFill>
                        </a:rPr>
                        <a:t>Mid-transaction CFO replacement (Jul 2024)</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9E6"/>
                    </a:solidFill>
                  </a:tcPr>
                </a:tc>
                <a:tc>
                  <a:txBody>
                    <a:bodyPr/>
                    <a:lstStyle/>
                    <a:p>
                      <a:pPr indent="0" marL="0">
                        <a:buNone/>
                      </a:pPr>
                      <a:r>
                        <a:rPr lang="en-US" sz="800" dirty="0">
                          <a:solidFill>
                            <a:srgbClr val="B45309"/>
                          </a:solidFill>
                        </a:rPr>
                        <a:t>MEDIUM — new; model issues under review</a:t>
                      </a:r>
                      <a:endParaRPr lang="en-US" sz="80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9E6"/>
                    </a:solidFill>
                  </a:tcPr>
                </a:tc>
                <a:tc>
                  <a:txBody>
                    <a:bodyPr/>
                    <a:lstStyle/>
                    <a:p>
                      <a:pPr algn="ctr" indent="0" marL="0">
                        <a:buNone/>
                      </a:pPr>
                      <a:r>
                        <a:rPr lang="en-US" sz="1200" dirty="0">
                          <a:solidFill>
                            <a:srgbClr val="B45309"/>
                          </a:solidFill>
                        </a:rPr>
                        <a:t>★★★</a:t>
                      </a:r>
                      <a:endParaRPr lang="en-US" sz="120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9E6"/>
                    </a:solidFill>
                  </a:tcPr>
                </a:tc>
              </a:tr>
              <a:tr h="0">
                <a:tc>
                  <a:txBody>
                    <a:bodyPr/>
                    <a:lstStyle/>
                    <a:p>
                      <a:pPr algn="l" indent="0" marL="0">
                        <a:buNone/>
                      </a:pPr>
                      <a:r>
                        <a:rPr lang="en-US" sz="850" b="1" dirty="0">
                          <a:solidFill>
                            <a:srgbClr val="1E293B"/>
                          </a:solidFill>
                        </a:rPr>
                        <a:t>Nicole Rogas</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EF2F2"/>
                    </a:solidFill>
                  </a:tcPr>
                </a:tc>
                <a:tc>
                  <a:txBody>
                    <a:bodyPr/>
                    <a:lstStyle/>
                    <a:p>
                      <a:pPr algn="l" indent="0" marL="0">
                        <a:buNone/>
                      </a:pPr>
                      <a:r>
                        <a:rPr lang="en-US" sz="850" dirty="0">
                          <a:solidFill>
                            <a:srgbClr val="1E293B"/>
                          </a:solidFill>
                        </a:rPr>
                        <a:t>President</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EF2F2"/>
                    </a:solidFill>
                  </a:tcPr>
                </a:tc>
                <a:tc>
                  <a:txBody>
                    <a:bodyPr/>
                    <a:lstStyle/>
                    <a:p>
                      <a:pPr algn="ctr" indent="0" marL="0">
                        <a:buNone/>
                      </a:pPr>
                      <a:r>
                        <a:rPr lang="en-US" sz="850" b="1" dirty="0">
                          <a:solidFill>
                            <a:srgbClr val="C00000"/>
                          </a:solidFill>
                        </a:rPr>
                        <a:t>~5 months</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EF2F2"/>
                    </a:solidFill>
                  </a:tcPr>
                </a:tc>
                <a:tc>
                  <a:txBody>
                    <a:bodyPr/>
                    <a:lstStyle/>
                    <a:p>
                      <a:pPr algn="l" indent="0" marL="0">
                        <a:buNone/>
                      </a:pPr>
                      <a:r>
                        <a:rPr lang="en-US" sz="850" dirty="0">
                          <a:solidFill>
                            <a:srgbClr val="1E293B"/>
                          </a:solidFill>
                        </a:rPr>
                        <a:t>New commercial leadership hire (Jan 2025)</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EF2F2"/>
                    </a:solidFill>
                  </a:tcPr>
                </a:tc>
                <a:tc>
                  <a:txBody>
                    <a:bodyPr/>
                    <a:lstStyle/>
                    <a:p>
                      <a:pPr indent="0" marL="0">
                        <a:buNone/>
                      </a:pPr>
                      <a:r>
                        <a:rPr lang="en-US" sz="800" dirty="0">
                          <a:solidFill>
                            <a:srgbClr val="C00000"/>
                          </a:solidFill>
                        </a:rPr>
                        <a:t>ELEVATED — very new; no RevSpring track record</a:t>
                      </a:r>
                      <a:endParaRPr lang="en-US" sz="80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EF2F2"/>
                    </a:solidFill>
                  </a:tcPr>
                </a:tc>
                <a:tc>
                  <a:txBody>
                    <a:bodyPr/>
                    <a:lstStyle/>
                    <a:p>
                      <a:pPr algn="ctr" indent="0" marL="0">
                        <a:buNone/>
                      </a:pPr>
                      <a:r>
                        <a:rPr lang="en-US" sz="1200" dirty="0">
                          <a:solidFill>
                            <a:srgbClr val="C00000"/>
                          </a:solidFill>
                        </a:rPr>
                        <a:t>★★</a:t>
                      </a:r>
                      <a:endParaRPr lang="en-US" sz="120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EF2F2"/>
                    </a:solidFill>
                  </a:tcPr>
                </a:tc>
              </a:tr>
            </a:tbl>
          </a:graphicData>
        </a:graphic>
      </p:graphicFrame>
      <p:sp>
        <p:nvSpPr>
          <p:cNvPr id="10" name="Shape 7"/>
          <p:cNvSpPr/>
          <p:nvPr/>
        </p:nvSpPr>
        <p:spPr>
          <a:xfrm>
            <a:off x="365760" y="3730752"/>
            <a:ext cx="45720" cy="219456"/>
          </a:xfrm>
          <a:prstGeom prst="rect">
            <a:avLst/>
          </a:prstGeom>
          <a:solidFill>
            <a:srgbClr val="2E6DB4"/>
          </a:solidFill>
          <a:ln/>
        </p:spPr>
      </p:sp>
      <p:sp>
        <p:nvSpPr>
          <p:cNvPr id="11" name="Text 8"/>
          <p:cNvSpPr/>
          <p:nvPr/>
        </p:nvSpPr>
        <p:spPr>
          <a:xfrm>
            <a:off x="493776" y="3730752"/>
            <a:ext cx="8046720" cy="219456"/>
          </a:xfrm>
          <a:prstGeom prst="rect">
            <a:avLst/>
          </a:prstGeom>
          <a:noFill/>
          <a:ln/>
        </p:spPr>
        <p:txBody>
          <a:bodyPr wrap="square" lIns="0" tIns="0" rIns="0" bIns="0" rtlCol="0" anchor="ctr"/>
          <a:lstStyle/>
          <a:p>
            <a:pPr indent="0" marL="0">
              <a:buNone/>
            </a:pPr>
            <a:r>
              <a:rPr lang="en-US" sz="950" b="1" dirty="0">
                <a:solidFill>
                  <a:srgbClr val="1B3A5C"/>
                </a:solidFill>
                <a:latin typeface="Arial" pitchFamily="34" charset="0"/>
                <a:ea typeface="Arial" pitchFamily="34" charset="-122"/>
                <a:cs typeface="Arial" pitchFamily="34" charset="-120"/>
              </a:rPr>
              <a:t>RETENTION PROGRAMME — CIM DISCLOSURES</a:t>
            </a:r>
            <a:endParaRPr lang="en-US" sz="950" dirty="0"/>
          </a:p>
        </p:txBody>
      </p:sp>
      <p:graphicFrame>
        <p:nvGraphicFramePr>
          <p:cNvPr id="15" name="Table 1"/>
          <p:cNvGraphicFramePr>
            <a:graphicFrameLocks noGrp="1"/>
          </p:cNvGraphicFramePr>
          <p:nvPr>
            <p:extLst>
              <p:ext uri="{D42A27DB-BD31-4B8C-83A1-F6EECF244321}">
                <p14:modId xmlns:p14="http://schemas.microsoft.com/office/powerpoint/2010/main" val="1579011935"/>
              </p:ext>
            </p:extLst>
          </p:nvPr>
        </p:nvGraphicFramePr>
        <p:xfrm>
          <a:off x="365760" y="3968496"/>
          <a:ext cx="8412480" cy="914400"/>
        </p:xfrm>
        <a:graphic>
          <a:graphicData uri="http://schemas.openxmlformats.org/drawingml/2006/table">
            <a:tbl>
              <a:tblPr/>
              <a:tblGrid>
                <a:gridCol w="1371600"/>
                <a:gridCol w="2377440"/>
                <a:gridCol w="1645920"/>
                <a:gridCol w="3017520"/>
              </a:tblGrid>
              <a:tr h="0">
                <a:tc>
                  <a:txBody>
                    <a:bodyPr/>
                    <a:lstStyle/>
                    <a:p>
                      <a:pPr algn="ctr" indent="0" marL="0">
                        <a:buNone/>
                      </a:pPr>
                      <a:r>
                        <a:rPr lang="en-US" sz="850" b="1" dirty="0">
                          <a:solidFill>
                            <a:srgbClr val="FFFFFF"/>
                          </a:solidFill>
                        </a:rPr>
                        <a:t>Layer</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B3A5C"/>
                    </a:solidFill>
                  </a:tcPr>
                </a:tc>
                <a:tc>
                  <a:txBody>
                    <a:bodyPr/>
                    <a:lstStyle/>
                    <a:p>
                      <a:pPr algn="ctr" indent="0" marL="0">
                        <a:buNone/>
                      </a:pPr>
                      <a:r>
                        <a:rPr lang="en-US" sz="850" b="1" dirty="0">
                          <a:solidFill>
                            <a:srgbClr val="FFFFFF"/>
                          </a:solidFill>
                        </a:rPr>
                        <a:t>Mechanism</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B3A5C"/>
                    </a:solidFill>
                  </a:tcPr>
                </a:tc>
                <a:tc>
                  <a:txBody>
                    <a:bodyPr/>
                    <a:lstStyle/>
                    <a:p>
                      <a:pPr algn="ctr" indent="0" marL="0">
                        <a:buNone/>
                      </a:pPr>
                      <a:r>
                        <a:rPr lang="en-US" sz="850" b="1" dirty="0">
                          <a:solidFill>
                            <a:srgbClr val="FFFFFF"/>
                          </a:solidFill>
                        </a:rPr>
                        <a:t>Coverage</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B3A5C"/>
                    </a:solidFill>
                  </a:tcPr>
                </a:tc>
                <a:tc>
                  <a:txBody>
                    <a:bodyPr/>
                    <a:lstStyle/>
                    <a:p>
                      <a:pPr algn="ctr" indent="0" marL="0">
                        <a:buNone/>
                      </a:pPr>
                      <a:r>
                        <a:rPr lang="en-US" sz="850" b="1" dirty="0">
                          <a:solidFill>
                            <a:srgbClr val="FFFFFF"/>
                          </a:solidFill>
                        </a:rPr>
                        <a:t>Assessment</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B3A5C"/>
                    </a:solidFill>
                  </a:tcPr>
                </a:tc>
              </a:tr>
              <a:tr h="0">
                <a:tc>
                  <a:txBody>
                    <a:bodyPr/>
                    <a:lstStyle/>
                    <a:p>
                      <a:pPr algn="l" indent="0" marL="0">
                        <a:buNone/>
                      </a:pPr>
                      <a:r>
                        <a:rPr lang="en-US" sz="850" b="1" dirty="0">
                          <a:solidFill>
                            <a:srgbClr val="1E293B"/>
                          </a:solidFill>
                        </a:rPr>
                        <a:t>C-Suite</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8F5E9"/>
                    </a:solidFill>
                  </a:tcPr>
                </a:tc>
                <a:tc>
                  <a:txBody>
                    <a:bodyPr/>
                    <a:lstStyle/>
                    <a:p>
                      <a:pPr algn="l" indent="0" marL="0">
                        <a:buNone/>
                      </a:pPr>
                      <a:r>
                        <a:rPr lang="en-US" sz="850" dirty="0">
                          <a:solidFill>
                            <a:srgbClr val="1E293B"/>
                          </a:solidFill>
                        </a:rPr>
                        <a:t>Equity grants + bonus plans (Frazier-structured)</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8F5E9"/>
                    </a:solidFill>
                  </a:tcPr>
                </a:tc>
                <a:tc>
                  <a:txBody>
                    <a:bodyPr/>
                    <a:lstStyle/>
                    <a:p>
                      <a:pPr algn="l" indent="0" marL="0">
                        <a:buNone/>
                      </a:pPr>
                      <a:r>
                        <a:rPr lang="en-US" sz="850" dirty="0">
                          <a:solidFill>
                            <a:srgbClr val="1A7A2E"/>
                          </a:solidFill>
                        </a:rPr>
                        <a:t>CEO, CFO, President, CTO confirmed</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8F5E9"/>
                    </a:solidFill>
                  </a:tcPr>
                </a:tc>
                <a:tc>
                  <a:txBody>
                    <a:bodyPr/>
                    <a:lstStyle/>
                    <a:p>
                      <a:pPr indent="0" marL="0">
                        <a:buNone/>
                      </a:pPr>
                      <a:r>
                        <a:rPr lang="en-US" sz="850" dirty="0">
                          <a:solidFill>
                            <a:srgbClr val="1A7A2E"/>
                          </a:solidFill>
                        </a:rPr>
                        <a:t>Adequate — structure standard for PE-backed platform</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8F5E9"/>
                    </a:solidFill>
                  </a:tcPr>
                </a:tc>
              </a:tr>
              <a:tr h="0">
                <a:tc>
                  <a:txBody>
                    <a:bodyPr/>
                    <a:lstStyle/>
                    <a:p>
                      <a:pPr algn="l" indent="0" marL="0">
                        <a:buNone/>
                      </a:pPr>
                      <a:r>
                        <a:rPr lang="en-US" sz="850" b="1" dirty="0">
                          <a:solidFill>
                            <a:srgbClr val="1E293B"/>
                          </a:solidFill>
                        </a:rPr>
                        <a:t>Enterprise Account Managers</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algn="l" indent="0" marL="0">
                        <a:buNone/>
                      </a:pPr>
                      <a:r>
                        <a:rPr lang="en-US" sz="850" dirty="0">
                          <a:solidFill>
                            <a:srgbClr val="1E293B"/>
                          </a:solidFill>
                        </a:rPr>
                        <a:t>Equity grants + incentive bonus plans</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algn="l" indent="0" marL="0">
                        <a:buNone/>
                      </a:pPr>
                      <a:r>
                        <a:rPr lang="en-US" sz="850" dirty="0">
                          <a:solidFill>
                            <a:srgbClr val="1A7A2E"/>
                          </a:solidFill>
                        </a:rPr>
                        <a:t>15 AMs covering top 50 clients</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indent="0" marL="0">
                        <a:buNone/>
                      </a:pPr>
                      <a:r>
                        <a:rPr lang="en-US" sz="850" dirty="0">
                          <a:solidFill>
                            <a:srgbClr val="1A7A2E"/>
                          </a:solidFill>
                        </a:rPr>
                        <a:t>Adequate — specific cohort coverage is positive signal</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r>
              <a:tr h="0">
                <a:tc>
                  <a:txBody>
                    <a:bodyPr/>
                    <a:lstStyle/>
                    <a:p>
                      <a:pPr algn="l" indent="0" marL="0">
                        <a:buNone/>
                      </a:pPr>
                      <a:r>
                        <a:rPr lang="en-US" sz="850" b="1" dirty="0">
                          <a:solidFill>
                            <a:srgbClr val="1E293B"/>
                          </a:solidFill>
                        </a:rPr>
                        <a:t>VP-level and below</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algn="l" indent="0" marL="0">
                        <a:buNone/>
                      </a:pPr>
                      <a:r>
                        <a:rPr lang="en-US" sz="850" dirty="0">
                          <a:solidFill>
                            <a:srgbClr val="1E293B"/>
                          </a:solidFill>
                        </a:rPr>
                        <a:t>Not disclosed in CIM</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7F8FA"/>
                    </a:solidFill>
                  </a:tcPr>
                </a:tc>
                <a:tc>
                  <a:txBody>
                    <a:bodyPr/>
                    <a:lstStyle/>
                    <a:p>
                      <a:pPr algn="ctr" indent="0" marL="0">
                        <a:buNone/>
                      </a:pPr>
                      <a:r>
                        <a:rPr lang="en-US" sz="850" b="1" dirty="0">
                          <a:solidFill>
                            <a:srgbClr val="B45309"/>
                          </a:solidFill>
                        </a:rPr>
                        <a:t>Unknown</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9E6"/>
                    </a:solidFill>
                  </a:tcPr>
                </a:tc>
                <a:tc>
                  <a:txBody>
                    <a:bodyPr/>
                    <a:lstStyle/>
                    <a:p>
                      <a:pPr indent="0" marL="0">
                        <a:buNone/>
                      </a:pPr>
                      <a:r>
                        <a:rPr lang="en-US" sz="850" dirty="0">
                          <a:solidFill>
                            <a:srgbClr val="B45309"/>
                          </a:solidFill>
                        </a:rPr>
                        <a:t>Not Disclosed — request VP-level retention plan detail before IC</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9E6"/>
                    </a:solidFill>
                  </a:tcPr>
                </a:tc>
              </a:tr>
            </a:tbl>
          </a:graphicData>
        </a:graphic>
      </p:graphicFrame>
      <p:sp>
        <p:nvSpPr>
          <p:cNvPr id="13" name="Text 9"/>
          <p:cNvSpPr/>
          <p:nvPr/>
        </p:nvSpPr>
        <p:spPr>
          <a:xfrm>
            <a:off x="365760" y="4663440"/>
            <a:ext cx="8412480" cy="256032"/>
          </a:xfrm>
          <a:prstGeom prst="rect">
            <a:avLst/>
          </a:prstGeom>
          <a:noFill/>
          <a:ln/>
        </p:spPr>
        <p:txBody>
          <a:bodyPr wrap="square" lIns="0" tIns="0" rIns="0" bIns="0" rtlCol="0" anchor="ctr"/>
          <a:lstStyle/>
          <a:p>
            <a:pPr indent="0" marL="0">
              <a:buNone/>
            </a:pPr>
            <a:r>
              <a:rPr lang="en-US" sz="850" i="1" dirty="0">
                <a:solidFill>
                  <a:srgbClr val="B45309"/>
                </a:solidFill>
                <a:latin typeface="Arial" pitchFamily="34" charset="0"/>
                <a:ea typeface="Arial" pitchFamily="34" charset="-122"/>
                <a:cs typeface="Arial" pitchFamily="34" charset="-120"/>
              </a:rPr>
              <a:t>Key risk: two mission-critical roles (commercial execution, financial reporting) held by individuals with tenure &lt;12 months during the most operationally intensive period of Frazier's hold.</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46304"/>
            <a:ext cx="8412480" cy="457200"/>
          </a:xfrm>
          <a:prstGeom prst="rect">
            <a:avLst/>
          </a:prstGeom>
          <a:noFill/>
          <a:ln/>
        </p:spPr>
        <p:txBody>
          <a:bodyPr wrap="square" lIns="0" tIns="0" rIns="0" bIns="0" rtlCol="0" anchor="ctr"/>
          <a:lstStyle/>
          <a:p>
            <a:pPr indent="0" marL="0">
              <a:buNone/>
            </a:pPr>
            <a:r>
              <a:rPr lang="en-US" sz="2100" b="1" dirty="0">
                <a:solidFill>
                  <a:srgbClr val="1B3A5C"/>
                </a:solidFill>
                <a:latin typeface="Arial" pitchFamily="34" charset="0"/>
                <a:ea typeface="Arial" pitchFamily="34" charset="-122"/>
                <a:cs typeface="Arial" pitchFamily="34" charset="-120"/>
              </a:rPr>
              <a:t>Slide 8  |  Key Concerns and Open Questions for IC Memo</a:t>
            </a:r>
            <a:endParaRPr lang="en-US" sz="2100" dirty="0"/>
          </a:p>
        </p:txBody>
      </p:sp>
      <p:sp>
        <p:nvSpPr>
          <p:cNvPr id="3" name="Shape 1"/>
          <p:cNvSpPr/>
          <p:nvPr/>
        </p:nvSpPr>
        <p:spPr>
          <a:xfrm>
            <a:off x="365760" y="640080"/>
            <a:ext cx="822960" cy="201168"/>
          </a:xfrm>
          <a:prstGeom prst="rect">
            <a:avLst/>
          </a:prstGeom>
          <a:solidFill>
            <a:srgbClr val="1B3A5C"/>
          </a:solidFill>
          <a:ln/>
        </p:spPr>
      </p:sp>
      <p:sp>
        <p:nvSpPr>
          <p:cNvPr id="4" name="Text 2"/>
          <p:cNvSpPr/>
          <p:nvPr/>
        </p:nvSpPr>
        <p:spPr>
          <a:xfrm>
            <a:off x="365760" y="640080"/>
            <a:ext cx="822960" cy="201168"/>
          </a:xfrm>
          <a:prstGeom prst="rect">
            <a:avLst/>
          </a:prstGeom>
          <a:noFill/>
          <a:ln/>
        </p:spPr>
        <p:txBody>
          <a:bodyPr wrap="square" lIns="0" tIns="0" rIns="0" bIns="0"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SO WHAT</a:t>
            </a:r>
            <a:endParaRPr lang="en-US" sz="700" dirty="0"/>
          </a:p>
        </p:txBody>
      </p:sp>
      <p:sp>
        <p:nvSpPr>
          <p:cNvPr id="5" name="Text 3"/>
          <p:cNvSpPr/>
          <p:nvPr/>
        </p:nvSpPr>
        <p:spPr>
          <a:xfrm>
            <a:off x="1261872" y="640080"/>
            <a:ext cx="7406640" cy="201168"/>
          </a:xfrm>
          <a:prstGeom prst="rect">
            <a:avLst/>
          </a:prstGeom>
          <a:noFill/>
          <a:ln/>
        </p:spPr>
        <p:txBody>
          <a:bodyPr wrap="square" lIns="0" tIns="0" rIns="0" bIns="0" rtlCol="0" anchor="ctr"/>
          <a:lstStyle/>
          <a:p>
            <a:pPr indent="0" marL="0">
              <a:buNone/>
            </a:pPr>
            <a:r>
              <a:rPr lang="en-US" sz="850" i="1" dirty="0">
                <a:solidFill>
                  <a:srgbClr val="1B3A5C"/>
                </a:solidFill>
                <a:latin typeface="Arial" pitchFamily="34" charset="0"/>
                <a:ea typeface="Arial" pitchFamily="34" charset="-122"/>
                <a:cs typeface="Arial" pitchFamily="34" charset="-120"/>
              </a:rPr>
              <a:t>Five items remain open from Management DD — three are carry-forwards from Financial DD; two are new concerns surfaced by the executive assessment.</a:t>
            </a:r>
            <a:endParaRPr lang="en-US" sz="850" dirty="0"/>
          </a:p>
        </p:txBody>
      </p:sp>
      <p:sp>
        <p:nvSpPr>
          <p:cNvPr id="6" name="Text 4"/>
          <p:cNvSpPr/>
          <p:nvPr/>
        </p:nvSpPr>
        <p:spPr>
          <a:xfrm>
            <a:off x="274320" y="4864608"/>
            <a:ext cx="8595360" cy="182880"/>
          </a:xfrm>
          <a:prstGeom prst="rect">
            <a:avLst/>
          </a:prstGeom>
          <a:noFill/>
          <a:ln/>
        </p:spPr>
        <p:txBody>
          <a:bodyPr wrap="square" lIns="0" tIns="0" rIns="0" bIns="0" rtlCol="0" anchor="ctr"/>
          <a:lstStyle/>
          <a:p>
            <a:pPr algn="ctr" indent="0" marL="0">
              <a:buNone/>
            </a:pPr>
            <a:r>
              <a:rPr lang="en-US" sz="750" dirty="0">
                <a:solidFill>
                  <a:srgbClr val="9EABB8"/>
                </a:solidFill>
                <a:latin typeface="Arial" pitchFamily="34" charset="0"/>
                <a:ea typeface="Arial" pitchFamily="34" charset="-122"/>
                <a:cs typeface="Arial" pitchFamily="34" charset="-120"/>
              </a:rPr>
              <a:t>Confidential  |  Morsebridge Healthcare  |  Management DD  |  RevSpring  |  June 5, 2026</a:t>
            </a:r>
            <a:endParaRPr lang="en-US" sz="750" dirty="0"/>
          </a:p>
        </p:txBody>
      </p:sp>
      <p:sp>
        <p:nvSpPr>
          <p:cNvPr id="7" name="Shape 5"/>
          <p:cNvSpPr/>
          <p:nvPr/>
        </p:nvSpPr>
        <p:spPr>
          <a:xfrm>
            <a:off x="365760" y="960120"/>
            <a:ext cx="8412480" cy="694944"/>
          </a:xfrm>
          <a:prstGeom prst="rect">
            <a:avLst/>
          </a:prstGeom>
          <a:solidFill>
            <a:srgbClr val="F7F8FA"/>
          </a:solidFill>
          <a:ln w="5080">
            <a:solidFill>
              <a:srgbClr val="D0D5DD"/>
            </a:solidFill>
            <a:prstDash val="solid"/>
          </a:ln>
        </p:spPr>
      </p:sp>
      <p:sp>
        <p:nvSpPr>
          <p:cNvPr id="8" name="Shape 6"/>
          <p:cNvSpPr/>
          <p:nvPr/>
        </p:nvSpPr>
        <p:spPr>
          <a:xfrm>
            <a:off x="365760" y="960120"/>
            <a:ext cx="45720" cy="694944"/>
          </a:xfrm>
          <a:prstGeom prst="rect">
            <a:avLst/>
          </a:prstGeom>
          <a:solidFill>
            <a:srgbClr val="C00000"/>
          </a:solidFill>
          <a:ln/>
        </p:spPr>
      </p:sp>
      <p:sp>
        <p:nvSpPr>
          <p:cNvPr id="9" name="Shape 7"/>
          <p:cNvSpPr/>
          <p:nvPr/>
        </p:nvSpPr>
        <p:spPr>
          <a:xfrm>
            <a:off x="493776" y="1051560"/>
            <a:ext cx="777240" cy="201168"/>
          </a:xfrm>
          <a:prstGeom prst="rect">
            <a:avLst>
              <a:gd name="adj" fmla="val 18182"/>
            </a:avLst>
          </a:prstGeom>
          <a:solidFill>
            <a:srgbClr val="C00000"/>
          </a:solidFill>
          <a:ln/>
        </p:spPr>
      </p:sp>
      <p:sp>
        <p:nvSpPr>
          <p:cNvPr id="10" name="Text 8"/>
          <p:cNvSpPr/>
          <p:nvPr/>
        </p:nvSpPr>
        <p:spPr>
          <a:xfrm>
            <a:off x="493776" y="1051560"/>
            <a:ext cx="777240" cy="201168"/>
          </a:xfrm>
          <a:prstGeom prst="rect">
            <a:avLst/>
          </a:prstGeom>
          <a:noFill/>
          <a:ln/>
        </p:spPr>
        <p:txBody>
          <a:bodyPr wrap="square" lIns="0" tIns="0" rIns="0" bIns="0" rtlCol="0" anchor="ctr"/>
          <a:lstStyle/>
          <a:p>
            <a:pPr algn="ctr" indent="0" marL="0">
              <a:buNone/>
            </a:pPr>
            <a:r>
              <a:rPr lang="en-US" sz="750" b="1" dirty="0">
                <a:solidFill>
                  <a:srgbClr val="FFFFFF"/>
                </a:solidFill>
                <a:latin typeface="Arial" pitchFamily="34" charset="0"/>
                <a:ea typeface="Arial" pitchFamily="34" charset="-122"/>
                <a:cs typeface="Arial" pitchFamily="34" charset="-120"/>
              </a:rPr>
              <a:t>CRITICAL</a:t>
            </a:r>
            <a:endParaRPr lang="en-US" sz="750" dirty="0"/>
          </a:p>
        </p:txBody>
      </p:sp>
      <p:sp>
        <p:nvSpPr>
          <p:cNvPr id="11" name="Text 9"/>
          <p:cNvSpPr/>
          <p:nvPr/>
        </p:nvSpPr>
        <p:spPr>
          <a:xfrm>
            <a:off x="1353312" y="1014984"/>
            <a:ext cx="4572000" cy="201168"/>
          </a:xfrm>
          <a:prstGeom prst="rect">
            <a:avLst/>
          </a:prstGeom>
          <a:noFill/>
          <a:ln/>
        </p:spPr>
        <p:txBody>
          <a:bodyPr wrap="square" lIns="0" tIns="0" rIns="0" bIns="0" rtlCol="0" anchor="ctr"/>
          <a:lstStyle/>
          <a:p>
            <a:pPr indent="0" marL="0">
              <a:buNone/>
            </a:pPr>
            <a:r>
              <a:rPr lang="en-US" sz="1000" b="1" dirty="0">
                <a:solidFill>
                  <a:srgbClr val="1B3A5C"/>
                </a:solidFill>
                <a:latin typeface="Arial" pitchFamily="34" charset="0"/>
                <a:ea typeface="Arial" pitchFamily="34" charset="-122"/>
                <a:cs typeface="Arial" pitchFamily="34" charset="-120"/>
              </a:rPr>
              <a:t>Financial Model Ownership — CFO</a:t>
            </a:r>
            <a:endParaRPr lang="en-US" sz="1000" dirty="0"/>
          </a:p>
        </p:txBody>
      </p:sp>
      <p:sp>
        <p:nvSpPr>
          <p:cNvPr id="12" name="Shape 10"/>
          <p:cNvSpPr/>
          <p:nvPr/>
        </p:nvSpPr>
        <p:spPr>
          <a:xfrm>
            <a:off x="6016752" y="1014984"/>
            <a:ext cx="2743200" cy="201168"/>
          </a:xfrm>
          <a:prstGeom prst="rect">
            <a:avLst/>
          </a:prstGeom>
          <a:solidFill>
            <a:srgbClr val="F1F5F9"/>
          </a:solidFill>
          <a:ln w="6350">
            <a:solidFill>
              <a:srgbClr val="D0D5DD"/>
            </a:solidFill>
            <a:prstDash val="solid"/>
          </a:ln>
        </p:spPr>
      </p:sp>
      <p:sp>
        <p:nvSpPr>
          <p:cNvPr id="13" name="Text 11"/>
          <p:cNvSpPr/>
          <p:nvPr/>
        </p:nvSpPr>
        <p:spPr>
          <a:xfrm>
            <a:off x="6071616" y="1014984"/>
            <a:ext cx="2651760" cy="201168"/>
          </a:xfrm>
          <a:prstGeom prst="rect">
            <a:avLst/>
          </a:prstGeom>
          <a:noFill/>
          <a:ln/>
        </p:spPr>
        <p:txBody>
          <a:bodyPr wrap="square" lIns="0" tIns="0" rIns="0" bIns="0" rtlCol="0" anchor="ctr"/>
          <a:lstStyle/>
          <a:p>
            <a:pPr indent="0" marL="0">
              <a:buNone/>
            </a:pPr>
            <a:r>
              <a:rPr lang="en-US" sz="750" i="1" dirty="0">
                <a:solidFill>
                  <a:srgbClr val="2E6DB4"/>
                </a:solidFill>
                <a:latin typeface="Arial" pitchFamily="34" charset="0"/>
                <a:ea typeface="Arial" pitchFamily="34" charset="-122"/>
                <a:cs typeface="Arial" pitchFamily="34" charset="-120"/>
              </a:rPr>
              <a:t>→ Post-interview: confirm model corrected and re-issued</a:t>
            </a:r>
            <a:endParaRPr lang="en-US" sz="750" dirty="0"/>
          </a:p>
        </p:txBody>
      </p:sp>
      <p:sp>
        <p:nvSpPr>
          <p:cNvPr id="14" name="Text 12"/>
          <p:cNvSpPr/>
          <p:nvPr/>
        </p:nvSpPr>
        <p:spPr>
          <a:xfrm>
            <a:off x="1353312" y="1234440"/>
            <a:ext cx="7360920" cy="384048"/>
          </a:xfrm>
          <a:prstGeom prst="rect">
            <a:avLst/>
          </a:prstGeom>
          <a:noFill/>
          <a:ln/>
        </p:spPr>
        <p:txBody>
          <a:bodyPr wrap="square" lIns="0" tIns="0" rIns="0" bIns="0" rtlCol="0" anchor="ctr"/>
          <a:lstStyle/>
          <a:p>
            <a:pPr indent="0" marL="0">
              <a:buNone/>
            </a:pPr>
            <a:r>
              <a:rPr lang="en-US" sz="800" dirty="0">
                <a:solidFill>
                  <a:srgbClr val="374151"/>
                </a:solidFill>
                <a:latin typeface="Arial" pitchFamily="34" charset="0"/>
                <a:ea typeface="Arial" pitchFamily="34" charset="-122"/>
                <a:cs typeface="Arial" pitchFamily="34" charset="-120"/>
              </a:rPr>
              <a:t>The financial model has two Critical flags: G&amp;A formula error and MOIC main table inconsistency. As CFO, Smith owns this model. His ability to explain, correct, and re-present accurate projections is a direct test of PE reporting readiness. If Smith is unaware of either issue, this is a material CFO competency flag.</a:t>
            </a:r>
            <a:endParaRPr lang="en-US" sz="800" dirty="0"/>
          </a:p>
        </p:txBody>
      </p:sp>
      <p:sp>
        <p:nvSpPr>
          <p:cNvPr id="15" name="Shape 13"/>
          <p:cNvSpPr/>
          <p:nvPr/>
        </p:nvSpPr>
        <p:spPr>
          <a:xfrm>
            <a:off x="365760" y="1728216"/>
            <a:ext cx="8412480" cy="694944"/>
          </a:xfrm>
          <a:prstGeom prst="rect">
            <a:avLst/>
          </a:prstGeom>
          <a:solidFill>
            <a:srgbClr val="FFFFFF"/>
          </a:solidFill>
          <a:ln w="5080">
            <a:solidFill>
              <a:srgbClr val="D0D5DD"/>
            </a:solidFill>
            <a:prstDash val="solid"/>
          </a:ln>
        </p:spPr>
      </p:sp>
      <p:sp>
        <p:nvSpPr>
          <p:cNvPr id="16" name="Shape 14"/>
          <p:cNvSpPr/>
          <p:nvPr/>
        </p:nvSpPr>
        <p:spPr>
          <a:xfrm>
            <a:off x="365760" y="1728216"/>
            <a:ext cx="45720" cy="694944"/>
          </a:xfrm>
          <a:prstGeom prst="rect">
            <a:avLst/>
          </a:prstGeom>
          <a:solidFill>
            <a:srgbClr val="C00000"/>
          </a:solidFill>
          <a:ln/>
        </p:spPr>
      </p:sp>
      <p:sp>
        <p:nvSpPr>
          <p:cNvPr id="17" name="Shape 15"/>
          <p:cNvSpPr/>
          <p:nvPr/>
        </p:nvSpPr>
        <p:spPr>
          <a:xfrm>
            <a:off x="493776" y="1819656"/>
            <a:ext cx="777240" cy="201168"/>
          </a:xfrm>
          <a:prstGeom prst="rect">
            <a:avLst>
              <a:gd name="adj" fmla="val 18182"/>
            </a:avLst>
          </a:prstGeom>
          <a:solidFill>
            <a:srgbClr val="C00000"/>
          </a:solidFill>
          <a:ln/>
        </p:spPr>
      </p:sp>
      <p:sp>
        <p:nvSpPr>
          <p:cNvPr id="18" name="Text 16"/>
          <p:cNvSpPr/>
          <p:nvPr/>
        </p:nvSpPr>
        <p:spPr>
          <a:xfrm>
            <a:off x="493776" y="1819656"/>
            <a:ext cx="777240" cy="201168"/>
          </a:xfrm>
          <a:prstGeom prst="rect">
            <a:avLst/>
          </a:prstGeom>
          <a:noFill/>
          <a:ln/>
        </p:spPr>
        <p:txBody>
          <a:bodyPr wrap="square" lIns="0" tIns="0" rIns="0" bIns="0" rtlCol="0" anchor="ctr"/>
          <a:lstStyle/>
          <a:p>
            <a:pPr algn="ctr" indent="0" marL="0">
              <a:buNone/>
            </a:pPr>
            <a:r>
              <a:rPr lang="en-US" sz="750" b="1" dirty="0">
                <a:solidFill>
                  <a:srgbClr val="FFFFFF"/>
                </a:solidFill>
                <a:latin typeface="Arial" pitchFamily="34" charset="0"/>
                <a:ea typeface="Arial" pitchFamily="34" charset="-122"/>
                <a:cs typeface="Arial" pitchFamily="34" charset="-120"/>
              </a:rPr>
              <a:t>CRITICAL</a:t>
            </a:r>
            <a:endParaRPr lang="en-US" sz="750" dirty="0"/>
          </a:p>
        </p:txBody>
      </p:sp>
      <p:sp>
        <p:nvSpPr>
          <p:cNvPr id="19" name="Text 17"/>
          <p:cNvSpPr/>
          <p:nvPr/>
        </p:nvSpPr>
        <p:spPr>
          <a:xfrm>
            <a:off x="1353312" y="1783080"/>
            <a:ext cx="4572000" cy="201168"/>
          </a:xfrm>
          <a:prstGeom prst="rect">
            <a:avLst/>
          </a:prstGeom>
          <a:noFill/>
          <a:ln/>
        </p:spPr>
        <p:txBody>
          <a:bodyPr wrap="square" lIns="0" tIns="0" rIns="0" bIns="0" rtlCol="0" anchor="ctr"/>
          <a:lstStyle/>
          <a:p>
            <a:pPr indent="0" marL="0">
              <a:buNone/>
            </a:pPr>
            <a:r>
              <a:rPr lang="en-US" sz="1000" b="1" dirty="0">
                <a:solidFill>
                  <a:srgbClr val="1B3A5C"/>
                </a:solidFill>
                <a:latin typeface="Arial" pitchFamily="34" charset="0"/>
                <a:ea typeface="Arial" pitchFamily="34" charset="-122"/>
                <a:cs typeface="Arial" pitchFamily="34" charset="-120"/>
              </a:rPr>
              <a:t>Kyruus + TrustCommerce Revenue Unlabelled</a:t>
            </a:r>
            <a:endParaRPr lang="en-US" sz="1000" dirty="0"/>
          </a:p>
        </p:txBody>
      </p:sp>
      <p:sp>
        <p:nvSpPr>
          <p:cNvPr id="20" name="Shape 18"/>
          <p:cNvSpPr/>
          <p:nvPr/>
        </p:nvSpPr>
        <p:spPr>
          <a:xfrm>
            <a:off x="6016752" y="1783080"/>
            <a:ext cx="2743200" cy="201168"/>
          </a:xfrm>
          <a:prstGeom prst="rect">
            <a:avLst/>
          </a:prstGeom>
          <a:solidFill>
            <a:srgbClr val="F1F5F9"/>
          </a:solidFill>
          <a:ln w="6350">
            <a:solidFill>
              <a:srgbClr val="D0D5DD"/>
            </a:solidFill>
            <a:prstDash val="solid"/>
          </a:ln>
        </p:spPr>
      </p:sp>
      <p:sp>
        <p:nvSpPr>
          <p:cNvPr id="21" name="Text 19"/>
          <p:cNvSpPr/>
          <p:nvPr/>
        </p:nvSpPr>
        <p:spPr>
          <a:xfrm>
            <a:off x="6071616" y="1783080"/>
            <a:ext cx="2651760" cy="201168"/>
          </a:xfrm>
          <a:prstGeom prst="rect">
            <a:avLst/>
          </a:prstGeom>
          <a:noFill/>
          <a:ln/>
        </p:spPr>
        <p:txBody>
          <a:bodyPr wrap="square" lIns="0" tIns="0" rIns="0" bIns="0" rtlCol="0" anchor="ctr"/>
          <a:lstStyle/>
          <a:p>
            <a:pPr indent="0" marL="0">
              <a:buNone/>
            </a:pPr>
            <a:r>
              <a:rPr lang="en-US" sz="750" i="1" dirty="0">
                <a:solidFill>
                  <a:srgbClr val="2E6DB4"/>
                </a:solidFill>
                <a:latin typeface="Arial" pitchFamily="34" charset="0"/>
                <a:ea typeface="Arial" pitchFamily="34" charset="-122"/>
                <a:cs typeface="Arial" pitchFamily="34" charset="-120"/>
              </a:rPr>
              <a:t>→ Request post-close P&amp;Ls and NRR for both acquisitions</a:t>
            </a:r>
            <a:endParaRPr lang="en-US" sz="750" dirty="0"/>
          </a:p>
        </p:txBody>
      </p:sp>
      <p:sp>
        <p:nvSpPr>
          <p:cNvPr id="22" name="Text 20"/>
          <p:cNvSpPr/>
          <p:nvPr/>
        </p:nvSpPr>
        <p:spPr>
          <a:xfrm>
            <a:off x="1353312" y="2002536"/>
            <a:ext cx="7360920" cy="384048"/>
          </a:xfrm>
          <a:prstGeom prst="rect">
            <a:avLst/>
          </a:prstGeom>
          <a:noFill/>
          <a:ln/>
        </p:spPr>
        <p:txBody>
          <a:bodyPr wrap="square" lIns="0" tIns="0" rIns="0" bIns="0" rtlCol="0" anchor="ctr"/>
          <a:lstStyle/>
          <a:p>
            <a:pPr indent="0" marL="0">
              <a:buNone/>
            </a:pPr>
            <a:r>
              <a:rPr lang="en-US" sz="800" dirty="0">
                <a:solidFill>
                  <a:srgbClr val="374151"/>
                </a:solidFill>
                <a:latin typeface="Arial" pitchFamily="34" charset="0"/>
                <a:ea typeface="Arial" pitchFamily="34" charset="-122"/>
                <a:cs typeface="Arial" pitchFamily="34" charset="-120"/>
              </a:rPr>
              <a:t>Two acquisitions closed in the last 12 months with no labelled revenue contribution in the financial model. The Professional Services line jumps 188% in FY2025E without attribution. The IC memo cannot include a credible return model until both acquisitions are reflected on a pro forma basis.</a:t>
            </a:r>
            <a:endParaRPr lang="en-US" sz="800" dirty="0"/>
          </a:p>
        </p:txBody>
      </p:sp>
      <p:sp>
        <p:nvSpPr>
          <p:cNvPr id="23" name="Shape 21"/>
          <p:cNvSpPr/>
          <p:nvPr/>
        </p:nvSpPr>
        <p:spPr>
          <a:xfrm>
            <a:off x="365760" y="2496312"/>
            <a:ext cx="8412480" cy="694944"/>
          </a:xfrm>
          <a:prstGeom prst="rect">
            <a:avLst/>
          </a:prstGeom>
          <a:solidFill>
            <a:srgbClr val="F7F8FA"/>
          </a:solidFill>
          <a:ln w="5080">
            <a:solidFill>
              <a:srgbClr val="D0D5DD"/>
            </a:solidFill>
            <a:prstDash val="solid"/>
          </a:ln>
        </p:spPr>
      </p:sp>
      <p:sp>
        <p:nvSpPr>
          <p:cNvPr id="24" name="Shape 22"/>
          <p:cNvSpPr/>
          <p:nvPr/>
        </p:nvSpPr>
        <p:spPr>
          <a:xfrm>
            <a:off x="365760" y="2496312"/>
            <a:ext cx="45720" cy="694944"/>
          </a:xfrm>
          <a:prstGeom prst="rect">
            <a:avLst/>
          </a:prstGeom>
          <a:solidFill>
            <a:srgbClr val="B45309"/>
          </a:solidFill>
          <a:ln/>
        </p:spPr>
      </p:sp>
      <p:sp>
        <p:nvSpPr>
          <p:cNvPr id="25" name="Shape 23"/>
          <p:cNvSpPr/>
          <p:nvPr/>
        </p:nvSpPr>
        <p:spPr>
          <a:xfrm>
            <a:off x="493776" y="2587752"/>
            <a:ext cx="777240" cy="201168"/>
          </a:xfrm>
          <a:prstGeom prst="rect">
            <a:avLst>
              <a:gd name="adj" fmla="val 18182"/>
            </a:avLst>
          </a:prstGeom>
          <a:solidFill>
            <a:srgbClr val="B45309"/>
          </a:solidFill>
          <a:ln/>
        </p:spPr>
      </p:sp>
      <p:sp>
        <p:nvSpPr>
          <p:cNvPr id="26" name="Text 24"/>
          <p:cNvSpPr/>
          <p:nvPr/>
        </p:nvSpPr>
        <p:spPr>
          <a:xfrm>
            <a:off x="493776" y="2587752"/>
            <a:ext cx="777240" cy="201168"/>
          </a:xfrm>
          <a:prstGeom prst="rect">
            <a:avLst/>
          </a:prstGeom>
          <a:noFill/>
          <a:ln/>
        </p:spPr>
        <p:txBody>
          <a:bodyPr wrap="square" lIns="0" tIns="0" rIns="0" bIns="0" rtlCol="0" anchor="ctr"/>
          <a:lstStyle/>
          <a:p>
            <a:pPr algn="ctr" indent="0" marL="0">
              <a:buNone/>
            </a:pPr>
            <a:r>
              <a:rPr lang="en-US" sz="750" b="1" dirty="0">
                <a:solidFill>
                  <a:srgbClr val="FFFFFF"/>
                </a:solidFill>
                <a:latin typeface="Arial" pitchFamily="34" charset="0"/>
                <a:ea typeface="Arial" pitchFamily="34" charset="-122"/>
                <a:cs typeface="Arial" pitchFamily="34" charset="-120"/>
              </a:rPr>
              <a:t>SIGNIFICANT</a:t>
            </a:r>
            <a:endParaRPr lang="en-US" sz="750" dirty="0"/>
          </a:p>
        </p:txBody>
      </p:sp>
      <p:sp>
        <p:nvSpPr>
          <p:cNvPr id="27" name="Text 25"/>
          <p:cNvSpPr/>
          <p:nvPr/>
        </p:nvSpPr>
        <p:spPr>
          <a:xfrm>
            <a:off x="1353312" y="2551176"/>
            <a:ext cx="4572000" cy="201168"/>
          </a:xfrm>
          <a:prstGeom prst="rect">
            <a:avLst/>
          </a:prstGeom>
          <a:noFill/>
          <a:ln/>
        </p:spPr>
        <p:txBody>
          <a:bodyPr wrap="square" lIns="0" tIns="0" rIns="0" bIns="0" rtlCol="0" anchor="ctr"/>
          <a:lstStyle/>
          <a:p>
            <a:pPr indent="0" marL="0">
              <a:buNone/>
            </a:pPr>
            <a:r>
              <a:rPr lang="en-US" sz="1000" b="1" dirty="0">
                <a:solidFill>
                  <a:srgbClr val="1B3A5C"/>
                </a:solidFill>
                <a:latin typeface="Arial" pitchFamily="34" charset="0"/>
                <a:ea typeface="Arial" pitchFamily="34" charset="-122"/>
                <a:cs typeface="Arial" pitchFamily="34" charset="-120"/>
              </a:rPr>
              <a:t>CFO Transition from Mark Coggin</a:t>
            </a:r>
            <a:endParaRPr lang="en-US" sz="1000" dirty="0"/>
          </a:p>
        </p:txBody>
      </p:sp>
      <p:sp>
        <p:nvSpPr>
          <p:cNvPr id="28" name="Shape 26"/>
          <p:cNvSpPr/>
          <p:nvPr/>
        </p:nvSpPr>
        <p:spPr>
          <a:xfrm>
            <a:off x="6016752" y="2551176"/>
            <a:ext cx="2743200" cy="201168"/>
          </a:xfrm>
          <a:prstGeom prst="rect">
            <a:avLst/>
          </a:prstGeom>
          <a:solidFill>
            <a:srgbClr val="F1F5F9"/>
          </a:solidFill>
          <a:ln w="6350">
            <a:solidFill>
              <a:srgbClr val="D0D5DD"/>
            </a:solidFill>
            <a:prstDash val="solid"/>
          </a:ln>
        </p:spPr>
      </p:sp>
      <p:sp>
        <p:nvSpPr>
          <p:cNvPr id="29" name="Text 27"/>
          <p:cNvSpPr/>
          <p:nvPr/>
        </p:nvSpPr>
        <p:spPr>
          <a:xfrm>
            <a:off x="6071616" y="2551176"/>
            <a:ext cx="2651760" cy="201168"/>
          </a:xfrm>
          <a:prstGeom prst="rect">
            <a:avLst/>
          </a:prstGeom>
          <a:noFill/>
          <a:ln/>
        </p:spPr>
        <p:txBody>
          <a:bodyPr wrap="square" lIns="0" tIns="0" rIns="0" bIns="0" rtlCol="0" anchor="ctr"/>
          <a:lstStyle/>
          <a:p>
            <a:pPr indent="0" marL="0">
              <a:buNone/>
            </a:pPr>
            <a:r>
              <a:rPr lang="en-US" sz="750" i="1" dirty="0">
                <a:solidFill>
                  <a:srgbClr val="2E6DB4"/>
                </a:solidFill>
                <a:latin typeface="Arial" pitchFamily="34" charset="0"/>
                <a:ea typeface="Arial" pitchFamily="34" charset="-122"/>
                <a:cs typeface="Arial" pitchFamily="34" charset="-120"/>
              </a:rPr>
              <a:t>→ Confirm Big 4 audit sign-off on FY2024A; request management letter</a:t>
            </a:r>
            <a:endParaRPr lang="en-US" sz="750" dirty="0"/>
          </a:p>
        </p:txBody>
      </p:sp>
      <p:sp>
        <p:nvSpPr>
          <p:cNvPr id="30" name="Text 28"/>
          <p:cNvSpPr/>
          <p:nvPr/>
        </p:nvSpPr>
        <p:spPr>
          <a:xfrm>
            <a:off x="1353312" y="2770632"/>
            <a:ext cx="7360920" cy="384048"/>
          </a:xfrm>
          <a:prstGeom prst="rect">
            <a:avLst/>
          </a:prstGeom>
          <a:noFill/>
          <a:ln/>
        </p:spPr>
        <p:txBody>
          <a:bodyPr wrap="square" lIns="0" tIns="0" rIns="0" bIns="0" rtlCol="0" anchor="ctr"/>
          <a:lstStyle/>
          <a:p>
            <a:pPr indent="0" marL="0">
              <a:buNone/>
            </a:pPr>
            <a:r>
              <a:rPr lang="en-US" sz="800" dirty="0">
                <a:solidFill>
                  <a:srgbClr val="374151"/>
                </a:solidFill>
                <a:latin typeface="Arial" pitchFamily="34" charset="0"/>
                <a:ea typeface="Arial" pitchFamily="34" charset="-122"/>
                <a:cs typeface="Arial" pitchFamily="34" charset="-120"/>
              </a:rPr>
              <a:t>Smith replaced Coggin in July 2024 mid-transaction. Any restatements, accounting policy changes, or period-end adjustments since then must be confirmed. FY2024E figures should be confirmed as actuals, not estimates.</a:t>
            </a:r>
            <a:endParaRPr lang="en-US" sz="800" dirty="0"/>
          </a:p>
        </p:txBody>
      </p:sp>
      <p:sp>
        <p:nvSpPr>
          <p:cNvPr id="31" name="Shape 29"/>
          <p:cNvSpPr/>
          <p:nvPr/>
        </p:nvSpPr>
        <p:spPr>
          <a:xfrm>
            <a:off x="365760" y="3264408"/>
            <a:ext cx="8412480" cy="694944"/>
          </a:xfrm>
          <a:prstGeom prst="rect">
            <a:avLst/>
          </a:prstGeom>
          <a:solidFill>
            <a:srgbClr val="FFFFFF"/>
          </a:solidFill>
          <a:ln w="5080">
            <a:solidFill>
              <a:srgbClr val="D0D5DD"/>
            </a:solidFill>
            <a:prstDash val="solid"/>
          </a:ln>
        </p:spPr>
      </p:sp>
      <p:sp>
        <p:nvSpPr>
          <p:cNvPr id="32" name="Shape 30"/>
          <p:cNvSpPr/>
          <p:nvPr/>
        </p:nvSpPr>
        <p:spPr>
          <a:xfrm>
            <a:off x="365760" y="3264408"/>
            <a:ext cx="45720" cy="694944"/>
          </a:xfrm>
          <a:prstGeom prst="rect">
            <a:avLst/>
          </a:prstGeom>
          <a:solidFill>
            <a:srgbClr val="B45309"/>
          </a:solidFill>
          <a:ln/>
        </p:spPr>
      </p:sp>
      <p:sp>
        <p:nvSpPr>
          <p:cNvPr id="33" name="Shape 31"/>
          <p:cNvSpPr/>
          <p:nvPr/>
        </p:nvSpPr>
        <p:spPr>
          <a:xfrm>
            <a:off x="493776" y="3355848"/>
            <a:ext cx="777240" cy="201168"/>
          </a:xfrm>
          <a:prstGeom prst="rect">
            <a:avLst>
              <a:gd name="adj" fmla="val 18182"/>
            </a:avLst>
          </a:prstGeom>
          <a:solidFill>
            <a:srgbClr val="B45309"/>
          </a:solidFill>
          <a:ln/>
        </p:spPr>
      </p:sp>
      <p:sp>
        <p:nvSpPr>
          <p:cNvPr id="34" name="Text 32"/>
          <p:cNvSpPr/>
          <p:nvPr/>
        </p:nvSpPr>
        <p:spPr>
          <a:xfrm>
            <a:off x="493776" y="3355848"/>
            <a:ext cx="777240" cy="201168"/>
          </a:xfrm>
          <a:prstGeom prst="rect">
            <a:avLst/>
          </a:prstGeom>
          <a:noFill/>
          <a:ln/>
        </p:spPr>
        <p:txBody>
          <a:bodyPr wrap="square" lIns="0" tIns="0" rIns="0" bIns="0" rtlCol="0" anchor="ctr"/>
          <a:lstStyle/>
          <a:p>
            <a:pPr algn="ctr" indent="0" marL="0">
              <a:buNone/>
            </a:pPr>
            <a:r>
              <a:rPr lang="en-US" sz="750" b="1" dirty="0">
                <a:solidFill>
                  <a:srgbClr val="FFFFFF"/>
                </a:solidFill>
                <a:latin typeface="Arial" pitchFamily="34" charset="0"/>
                <a:ea typeface="Arial" pitchFamily="34" charset="-122"/>
                <a:cs typeface="Arial" pitchFamily="34" charset="-120"/>
              </a:rPr>
              <a:t>SIGNIFICANT</a:t>
            </a:r>
            <a:endParaRPr lang="en-US" sz="750" dirty="0"/>
          </a:p>
        </p:txBody>
      </p:sp>
      <p:sp>
        <p:nvSpPr>
          <p:cNvPr id="35" name="Text 33"/>
          <p:cNvSpPr/>
          <p:nvPr/>
        </p:nvSpPr>
        <p:spPr>
          <a:xfrm>
            <a:off x="1353312" y="3319272"/>
            <a:ext cx="4572000" cy="201168"/>
          </a:xfrm>
          <a:prstGeom prst="rect">
            <a:avLst/>
          </a:prstGeom>
          <a:noFill/>
          <a:ln/>
        </p:spPr>
        <p:txBody>
          <a:bodyPr wrap="square" lIns="0" tIns="0" rIns="0" bIns="0" rtlCol="0" anchor="ctr"/>
          <a:lstStyle/>
          <a:p>
            <a:pPr indent="0" marL="0">
              <a:buNone/>
            </a:pPr>
            <a:r>
              <a:rPr lang="en-US" sz="1000" b="1" dirty="0">
                <a:solidFill>
                  <a:srgbClr val="1B3A5C"/>
                </a:solidFill>
                <a:latin typeface="Arial" pitchFamily="34" charset="0"/>
                <a:ea typeface="Arial" pitchFamily="34" charset="-122"/>
                <a:cs typeface="Arial" pitchFamily="34" charset="-120"/>
              </a:rPr>
              <a:t>President Tenure — Cross-Sell Execution Risk</a:t>
            </a:r>
            <a:endParaRPr lang="en-US" sz="1000" dirty="0"/>
          </a:p>
        </p:txBody>
      </p:sp>
      <p:sp>
        <p:nvSpPr>
          <p:cNvPr id="36" name="Shape 34"/>
          <p:cNvSpPr/>
          <p:nvPr/>
        </p:nvSpPr>
        <p:spPr>
          <a:xfrm>
            <a:off x="6016752" y="3319272"/>
            <a:ext cx="2743200" cy="201168"/>
          </a:xfrm>
          <a:prstGeom prst="rect">
            <a:avLst/>
          </a:prstGeom>
          <a:solidFill>
            <a:srgbClr val="F1F5F9"/>
          </a:solidFill>
          <a:ln w="6350">
            <a:solidFill>
              <a:srgbClr val="D0D5DD"/>
            </a:solidFill>
            <a:prstDash val="solid"/>
          </a:ln>
        </p:spPr>
      </p:sp>
      <p:sp>
        <p:nvSpPr>
          <p:cNvPr id="37" name="Text 35"/>
          <p:cNvSpPr/>
          <p:nvPr/>
        </p:nvSpPr>
        <p:spPr>
          <a:xfrm>
            <a:off x="6071616" y="3319272"/>
            <a:ext cx="2651760" cy="201168"/>
          </a:xfrm>
          <a:prstGeom prst="rect">
            <a:avLst/>
          </a:prstGeom>
          <a:noFill/>
          <a:ln/>
        </p:spPr>
        <p:txBody>
          <a:bodyPr wrap="square" lIns="0" tIns="0" rIns="0" bIns="0" rtlCol="0" anchor="ctr"/>
          <a:lstStyle/>
          <a:p>
            <a:pPr indent="0" marL="0">
              <a:buNone/>
            </a:pPr>
            <a:r>
              <a:rPr lang="en-US" sz="750" i="1" dirty="0">
                <a:solidFill>
                  <a:srgbClr val="2E6DB4"/>
                </a:solidFill>
                <a:latin typeface="Arial" pitchFamily="34" charset="0"/>
                <a:ea typeface="Arial" pitchFamily="34" charset="-122"/>
                <a:cs typeface="Arial" pitchFamily="34" charset="-120"/>
              </a:rPr>
              <a:t>→ Request sales pipeline breakdown; confirm Rogas retention package</a:t>
            </a:r>
            <a:endParaRPr lang="en-US" sz="750" dirty="0"/>
          </a:p>
        </p:txBody>
      </p:sp>
      <p:sp>
        <p:nvSpPr>
          <p:cNvPr id="38" name="Text 36"/>
          <p:cNvSpPr/>
          <p:nvPr/>
        </p:nvSpPr>
        <p:spPr>
          <a:xfrm>
            <a:off x="1353312" y="3538728"/>
            <a:ext cx="7360920" cy="384048"/>
          </a:xfrm>
          <a:prstGeom prst="rect">
            <a:avLst/>
          </a:prstGeom>
          <a:noFill/>
          <a:ln/>
        </p:spPr>
        <p:txBody>
          <a:bodyPr wrap="square" lIns="0" tIns="0" rIns="0" bIns="0" rtlCol="0" anchor="ctr"/>
          <a:lstStyle/>
          <a:p>
            <a:pPr indent="0" marL="0">
              <a:buNone/>
            </a:pPr>
            <a:r>
              <a:rPr lang="en-US" sz="800" dirty="0">
                <a:solidFill>
                  <a:srgbClr val="374151"/>
                </a:solidFill>
                <a:latin typeface="Arial" pitchFamily="34" charset="0"/>
                <a:ea typeface="Arial" pitchFamily="34" charset="-122"/>
                <a:cs typeface="Arial" pitchFamily="34" charset="-120"/>
              </a:rPr>
              <a:t>Nicole Rogas owns the $45M+ cross-sell ARR thesis with 5 months of tenure. If she departs in the first 18 months, the primary near-term growth driver is at risk. Retention structure and pipeline ownership (versus individual vs. institutional) must be assessed.</a:t>
            </a:r>
            <a:endParaRPr lang="en-US" sz="800" dirty="0"/>
          </a:p>
        </p:txBody>
      </p:sp>
      <p:sp>
        <p:nvSpPr>
          <p:cNvPr id="39" name="Shape 37"/>
          <p:cNvSpPr/>
          <p:nvPr/>
        </p:nvSpPr>
        <p:spPr>
          <a:xfrm>
            <a:off x="365760" y="4032504"/>
            <a:ext cx="8412480" cy="694944"/>
          </a:xfrm>
          <a:prstGeom prst="rect">
            <a:avLst/>
          </a:prstGeom>
          <a:solidFill>
            <a:srgbClr val="F7F8FA"/>
          </a:solidFill>
          <a:ln w="5080">
            <a:solidFill>
              <a:srgbClr val="D0D5DD"/>
            </a:solidFill>
            <a:prstDash val="solid"/>
          </a:ln>
        </p:spPr>
      </p:sp>
      <p:sp>
        <p:nvSpPr>
          <p:cNvPr id="40" name="Shape 38"/>
          <p:cNvSpPr/>
          <p:nvPr/>
        </p:nvSpPr>
        <p:spPr>
          <a:xfrm>
            <a:off x="365760" y="4032504"/>
            <a:ext cx="45720" cy="694944"/>
          </a:xfrm>
          <a:prstGeom prst="rect">
            <a:avLst/>
          </a:prstGeom>
          <a:solidFill>
            <a:srgbClr val="2E6DB4"/>
          </a:solidFill>
          <a:ln/>
        </p:spPr>
      </p:sp>
      <p:sp>
        <p:nvSpPr>
          <p:cNvPr id="41" name="Shape 39"/>
          <p:cNvSpPr/>
          <p:nvPr/>
        </p:nvSpPr>
        <p:spPr>
          <a:xfrm>
            <a:off x="493776" y="4123944"/>
            <a:ext cx="777240" cy="201168"/>
          </a:xfrm>
          <a:prstGeom prst="rect">
            <a:avLst>
              <a:gd name="adj" fmla="val 18182"/>
            </a:avLst>
          </a:prstGeom>
          <a:solidFill>
            <a:srgbClr val="2E6DB4"/>
          </a:solidFill>
          <a:ln/>
        </p:spPr>
      </p:sp>
      <p:sp>
        <p:nvSpPr>
          <p:cNvPr id="42" name="Text 40"/>
          <p:cNvSpPr/>
          <p:nvPr/>
        </p:nvSpPr>
        <p:spPr>
          <a:xfrm>
            <a:off x="493776" y="4123944"/>
            <a:ext cx="777240" cy="201168"/>
          </a:xfrm>
          <a:prstGeom prst="rect">
            <a:avLst/>
          </a:prstGeom>
          <a:noFill/>
          <a:ln/>
        </p:spPr>
        <p:txBody>
          <a:bodyPr wrap="square" lIns="0" tIns="0" rIns="0" bIns="0" rtlCol="0" anchor="ctr"/>
          <a:lstStyle/>
          <a:p>
            <a:pPr algn="ctr" indent="0" marL="0">
              <a:buNone/>
            </a:pPr>
            <a:r>
              <a:rPr lang="en-US" sz="750" b="1" dirty="0">
                <a:solidFill>
                  <a:srgbClr val="FFFFFF"/>
                </a:solidFill>
                <a:latin typeface="Arial" pitchFamily="34" charset="0"/>
                <a:ea typeface="Arial" pitchFamily="34" charset="-122"/>
                <a:cs typeface="Arial" pitchFamily="34" charset="-120"/>
              </a:rPr>
              <a:t>MONITOR</a:t>
            </a:r>
            <a:endParaRPr lang="en-US" sz="750" dirty="0"/>
          </a:p>
        </p:txBody>
      </p:sp>
      <p:sp>
        <p:nvSpPr>
          <p:cNvPr id="43" name="Text 41"/>
          <p:cNvSpPr/>
          <p:nvPr/>
        </p:nvSpPr>
        <p:spPr>
          <a:xfrm>
            <a:off x="1353312" y="4087368"/>
            <a:ext cx="4572000" cy="201168"/>
          </a:xfrm>
          <a:prstGeom prst="rect">
            <a:avLst/>
          </a:prstGeom>
          <a:noFill/>
          <a:ln/>
        </p:spPr>
        <p:txBody>
          <a:bodyPr wrap="square" lIns="0" tIns="0" rIns="0" bIns="0" rtlCol="0" anchor="ctr"/>
          <a:lstStyle/>
          <a:p>
            <a:pPr indent="0" marL="0">
              <a:buNone/>
            </a:pPr>
            <a:r>
              <a:rPr lang="en-US" sz="1000" b="1" dirty="0">
                <a:solidFill>
                  <a:srgbClr val="1B3A5C"/>
                </a:solidFill>
                <a:latin typeface="Arial" pitchFamily="34" charset="0"/>
                <a:ea typeface="Arial" pitchFamily="34" charset="-122"/>
                <a:cs typeface="Arial" pitchFamily="34" charset="-120"/>
              </a:rPr>
              <a:t>Payer Market — Speculative Growth Lever</a:t>
            </a:r>
            <a:endParaRPr lang="en-US" sz="1000" dirty="0"/>
          </a:p>
        </p:txBody>
      </p:sp>
      <p:sp>
        <p:nvSpPr>
          <p:cNvPr id="44" name="Shape 42"/>
          <p:cNvSpPr/>
          <p:nvPr/>
        </p:nvSpPr>
        <p:spPr>
          <a:xfrm>
            <a:off x="6016752" y="4087368"/>
            <a:ext cx="2743200" cy="201168"/>
          </a:xfrm>
          <a:prstGeom prst="rect">
            <a:avLst/>
          </a:prstGeom>
          <a:solidFill>
            <a:srgbClr val="F1F5F9"/>
          </a:solidFill>
          <a:ln w="6350">
            <a:solidFill>
              <a:srgbClr val="D0D5DD"/>
            </a:solidFill>
            <a:prstDash val="solid"/>
          </a:ln>
        </p:spPr>
      </p:sp>
      <p:sp>
        <p:nvSpPr>
          <p:cNvPr id="45" name="Text 43"/>
          <p:cNvSpPr/>
          <p:nvPr/>
        </p:nvSpPr>
        <p:spPr>
          <a:xfrm>
            <a:off x="6071616" y="4087368"/>
            <a:ext cx="2651760" cy="201168"/>
          </a:xfrm>
          <a:prstGeom prst="rect">
            <a:avLst/>
          </a:prstGeom>
          <a:noFill/>
          <a:ln/>
        </p:spPr>
        <p:txBody>
          <a:bodyPr wrap="square" lIns="0" tIns="0" rIns="0" bIns="0" rtlCol="0" anchor="ctr"/>
          <a:lstStyle/>
          <a:p>
            <a:pPr indent="0" marL="0">
              <a:buNone/>
            </a:pPr>
            <a:r>
              <a:rPr lang="en-US" sz="750" i="1" dirty="0">
                <a:solidFill>
                  <a:srgbClr val="2E6DB4"/>
                </a:solidFill>
                <a:latin typeface="Arial" pitchFamily="34" charset="0"/>
                <a:ea typeface="Arial" pitchFamily="34" charset="-122"/>
                <a:cs typeface="Arial" pitchFamily="34" charset="-120"/>
              </a:rPr>
              <a:t>→ Remove from base case unless management provides payer pipeline evidence</a:t>
            </a:r>
            <a:endParaRPr lang="en-US" sz="750" dirty="0"/>
          </a:p>
        </p:txBody>
      </p:sp>
      <p:sp>
        <p:nvSpPr>
          <p:cNvPr id="46" name="Text 44"/>
          <p:cNvSpPr/>
          <p:nvPr/>
        </p:nvSpPr>
        <p:spPr>
          <a:xfrm>
            <a:off x="1353312" y="4306824"/>
            <a:ext cx="7360920" cy="384048"/>
          </a:xfrm>
          <a:prstGeom prst="rect">
            <a:avLst/>
          </a:prstGeom>
          <a:noFill/>
          <a:ln/>
        </p:spPr>
        <p:txBody>
          <a:bodyPr wrap="square" lIns="0" tIns="0" rIns="0" bIns="0" rtlCol="0" anchor="ctr"/>
          <a:lstStyle/>
          <a:p>
            <a:pPr indent="0" marL="0">
              <a:buNone/>
            </a:pPr>
            <a:r>
              <a:rPr lang="en-US" sz="800" dirty="0">
                <a:solidFill>
                  <a:srgbClr val="374151"/>
                </a:solidFill>
                <a:latin typeface="Arial" pitchFamily="34" charset="0"/>
                <a:ea typeface="Arial" pitchFamily="34" charset="-122"/>
                <a:cs typeface="Arial" pitchFamily="34" charset="-120"/>
              </a:rPr>
              <a:t>MacKenzie has cited the payer market as a $2-3B incremental opportunity in public forums. The CIM includes it in investment highlights. The financial model does not reflect any payer revenue. If payer expansion is a material component of the bull case narrative, management must provide a concrete entry plan or it must be excluded from IC consideration.</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46304"/>
            <a:ext cx="8412480" cy="457200"/>
          </a:xfrm>
          <a:prstGeom prst="rect">
            <a:avLst/>
          </a:prstGeom>
          <a:noFill/>
          <a:ln/>
        </p:spPr>
        <p:txBody>
          <a:bodyPr wrap="square" lIns="0" tIns="0" rIns="0" bIns="0" rtlCol="0" anchor="ctr"/>
          <a:lstStyle/>
          <a:p>
            <a:pPr indent="0" marL="0">
              <a:buNone/>
            </a:pPr>
            <a:r>
              <a:rPr lang="en-US" sz="2100" b="1" dirty="0">
                <a:solidFill>
                  <a:srgbClr val="1B3A5C"/>
                </a:solidFill>
                <a:latin typeface="Arial" pitchFamily="34" charset="0"/>
                <a:ea typeface="Arial" pitchFamily="34" charset="-122"/>
                <a:cs typeface="Arial" pitchFamily="34" charset="-120"/>
              </a:rPr>
              <a:t>Slide 9  |  Management DD Score</a:t>
            </a:r>
            <a:endParaRPr lang="en-US" sz="2100" dirty="0"/>
          </a:p>
        </p:txBody>
      </p:sp>
      <p:sp>
        <p:nvSpPr>
          <p:cNvPr id="3" name="Shape 1"/>
          <p:cNvSpPr/>
          <p:nvPr/>
        </p:nvSpPr>
        <p:spPr>
          <a:xfrm>
            <a:off x="365760" y="640080"/>
            <a:ext cx="822960" cy="201168"/>
          </a:xfrm>
          <a:prstGeom prst="rect">
            <a:avLst/>
          </a:prstGeom>
          <a:solidFill>
            <a:srgbClr val="1B3A5C"/>
          </a:solidFill>
          <a:ln/>
        </p:spPr>
      </p:sp>
      <p:sp>
        <p:nvSpPr>
          <p:cNvPr id="4" name="Text 2"/>
          <p:cNvSpPr/>
          <p:nvPr/>
        </p:nvSpPr>
        <p:spPr>
          <a:xfrm>
            <a:off x="365760" y="640080"/>
            <a:ext cx="822960" cy="201168"/>
          </a:xfrm>
          <a:prstGeom prst="rect">
            <a:avLst/>
          </a:prstGeom>
          <a:noFill/>
          <a:ln/>
        </p:spPr>
        <p:txBody>
          <a:bodyPr wrap="square" lIns="0" tIns="0" rIns="0" bIns="0"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SO WHAT</a:t>
            </a:r>
            <a:endParaRPr lang="en-US" sz="700" dirty="0"/>
          </a:p>
        </p:txBody>
      </p:sp>
      <p:sp>
        <p:nvSpPr>
          <p:cNvPr id="5" name="Text 3"/>
          <p:cNvSpPr/>
          <p:nvPr/>
        </p:nvSpPr>
        <p:spPr>
          <a:xfrm>
            <a:off x="1261872" y="640080"/>
            <a:ext cx="7406640" cy="201168"/>
          </a:xfrm>
          <a:prstGeom prst="rect">
            <a:avLst/>
          </a:prstGeom>
          <a:noFill/>
          <a:ln/>
        </p:spPr>
        <p:txBody>
          <a:bodyPr wrap="square" lIns="0" tIns="0" rIns="0" bIns="0" rtlCol="0" anchor="ctr"/>
          <a:lstStyle/>
          <a:p>
            <a:pPr indent="0" marL="0">
              <a:buNone/>
            </a:pPr>
            <a:r>
              <a:rPr lang="en-US" sz="850" i="1" dirty="0">
                <a:solidFill>
                  <a:srgbClr val="1B3A5C"/>
                </a:solidFill>
                <a:latin typeface="Arial" pitchFamily="34" charset="0"/>
                <a:ea typeface="Arial" pitchFamily="34" charset="-122"/>
                <a:cs typeface="Arial" pitchFamily="34" charset="-120"/>
              </a:rPr>
              <a:t>70.8 / 100 — Conditional Proceed. MacKenzie is exceptional. CFO and President tenure introduce conditions. Score to be updated after interview sessions.</a:t>
            </a:r>
            <a:endParaRPr lang="en-US" sz="850" dirty="0"/>
          </a:p>
        </p:txBody>
      </p:sp>
      <p:sp>
        <p:nvSpPr>
          <p:cNvPr id="6" name="Text 4"/>
          <p:cNvSpPr/>
          <p:nvPr/>
        </p:nvSpPr>
        <p:spPr>
          <a:xfrm>
            <a:off x="274320" y="4864608"/>
            <a:ext cx="8595360" cy="182880"/>
          </a:xfrm>
          <a:prstGeom prst="rect">
            <a:avLst/>
          </a:prstGeom>
          <a:noFill/>
          <a:ln/>
        </p:spPr>
        <p:txBody>
          <a:bodyPr wrap="square" lIns="0" tIns="0" rIns="0" bIns="0" rtlCol="0" anchor="ctr"/>
          <a:lstStyle/>
          <a:p>
            <a:pPr algn="ctr" indent="0" marL="0">
              <a:buNone/>
            </a:pPr>
            <a:r>
              <a:rPr lang="en-US" sz="750" dirty="0">
                <a:solidFill>
                  <a:srgbClr val="9EABB8"/>
                </a:solidFill>
                <a:latin typeface="Arial" pitchFamily="34" charset="0"/>
                <a:ea typeface="Arial" pitchFamily="34" charset="-122"/>
                <a:cs typeface="Arial" pitchFamily="34" charset="-120"/>
              </a:rPr>
              <a:t>Confidential  |  Morsebridge Healthcare  |  Management DD  |  RevSpring  |  June 5, 2026</a:t>
            </a:r>
            <a:endParaRPr lang="en-US" sz="750" dirty="0"/>
          </a:p>
        </p:txBody>
      </p:sp>
      <p:sp>
        <p:nvSpPr>
          <p:cNvPr id="7" name="Shape 5"/>
          <p:cNvSpPr/>
          <p:nvPr/>
        </p:nvSpPr>
        <p:spPr>
          <a:xfrm>
            <a:off x="365760" y="960120"/>
            <a:ext cx="45720" cy="219456"/>
          </a:xfrm>
          <a:prstGeom prst="rect">
            <a:avLst/>
          </a:prstGeom>
          <a:solidFill>
            <a:srgbClr val="2E6DB4"/>
          </a:solidFill>
          <a:ln/>
        </p:spPr>
      </p:sp>
      <p:sp>
        <p:nvSpPr>
          <p:cNvPr id="8" name="Text 6"/>
          <p:cNvSpPr/>
          <p:nvPr/>
        </p:nvSpPr>
        <p:spPr>
          <a:xfrm>
            <a:off x="493776" y="960120"/>
            <a:ext cx="8046720" cy="219456"/>
          </a:xfrm>
          <a:prstGeom prst="rect">
            <a:avLst/>
          </a:prstGeom>
          <a:noFill/>
          <a:ln/>
        </p:spPr>
        <p:txBody>
          <a:bodyPr wrap="square" lIns="0" tIns="0" rIns="0" bIns="0" rtlCol="0" anchor="ctr"/>
          <a:lstStyle/>
          <a:p>
            <a:pPr indent="0" marL="0">
              <a:buNone/>
            </a:pPr>
            <a:r>
              <a:rPr lang="en-US" sz="950" b="1" dirty="0">
                <a:solidFill>
                  <a:srgbClr val="1B3A5C"/>
                </a:solidFill>
                <a:latin typeface="Arial" pitchFamily="34" charset="0"/>
                <a:ea typeface="Arial" pitchFamily="34" charset="-122"/>
                <a:cs typeface="Arial" pitchFamily="34" charset="-120"/>
              </a:rPr>
              <a:t>MANAGEMENT DD SCORECARD  (PRE-INTERVIEW ASSESSMENT — UPDATED POST-SESSION)</a:t>
            </a:r>
            <a:endParaRPr lang="en-US" sz="95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365760" y="1216152"/>
          <a:ext cx="5852160" cy="914400"/>
        </p:xfrm>
        <a:graphic>
          <a:graphicData uri="http://schemas.openxmlformats.org/drawingml/2006/table">
            <a:tbl>
              <a:tblPr/>
              <a:tblGrid>
                <a:gridCol w="3749040"/>
                <a:gridCol w="594360"/>
                <a:gridCol w="685800"/>
                <a:gridCol w="822960"/>
              </a:tblGrid>
              <a:tr h="0">
                <a:tc>
                  <a:txBody>
                    <a:bodyPr/>
                    <a:lstStyle/>
                    <a:p>
                      <a:pPr indent="0" marL="0">
                        <a:buNone/>
                      </a:pPr>
                      <a:r>
                        <a:rPr lang="en-US" sz="850" b="1" dirty="0">
                          <a:solidFill>
                            <a:srgbClr val="FFFFFF"/>
                          </a:solidFill>
                        </a:rPr>
                        <a:t>Criterion</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B3A5C"/>
                    </a:solidFill>
                  </a:tcPr>
                </a:tc>
                <a:tc>
                  <a:txBody>
                    <a:bodyPr/>
                    <a:lstStyle/>
                    <a:p>
                      <a:pPr algn="ctr" indent="0" marL="0">
                        <a:buNone/>
                      </a:pPr>
                      <a:r>
                        <a:rPr lang="en-US" sz="850" b="1" dirty="0">
                          <a:solidFill>
                            <a:srgbClr val="FFFFFF"/>
                          </a:solidFill>
                        </a:rPr>
                        <a:t>Score</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B3A5C"/>
                    </a:solidFill>
                  </a:tcPr>
                </a:tc>
                <a:tc>
                  <a:txBody>
                    <a:bodyPr/>
                    <a:lstStyle/>
                    <a:p>
                      <a:pPr algn="ctr" indent="0" marL="0">
                        <a:buNone/>
                      </a:pPr>
                      <a:r>
                        <a:rPr lang="en-US" sz="850" b="1" dirty="0">
                          <a:solidFill>
                            <a:srgbClr val="FFFFFF"/>
                          </a:solidFill>
                        </a:rPr>
                        <a:t>Weight</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B3A5C"/>
                    </a:solidFill>
                  </a:tcPr>
                </a:tc>
                <a:tc>
                  <a:txBody>
                    <a:bodyPr/>
                    <a:lstStyle/>
                    <a:p>
                      <a:pPr algn="ctr" indent="0" marL="0">
                        <a:buNone/>
                      </a:pPr>
                      <a:r>
                        <a:rPr lang="en-US" sz="850" b="1" dirty="0">
                          <a:solidFill>
                            <a:srgbClr val="FFFFFF"/>
                          </a:solidFill>
                        </a:rPr>
                        <a:t>Wtd Score</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B3A5C"/>
                    </a:solidFill>
                  </a:tcPr>
                </a:tc>
              </a:tr>
              <a:tr h="0">
                <a:tc>
                  <a:txBody>
                    <a:bodyPr/>
                    <a:lstStyle/>
                    <a:p>
                      <a:pPr indent="0" marL="0">
                        <a:buNone/>
                      </a:pPr>
                      <a:r>
                        <a:rPr lang="en-US" sz="850" dirty="0">
                          <a:solidFill>
                            <a:srgbClr val="000000"/>
                          </a:solidFill>
                        </a:rPr>
                        <a:t>Prior PE Experience — CEO: MacKenzie has 2 PE-backed exits as CEO, $45M rollover, 7yr GTCR partnership</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2F2F2"/>
                    </a:solidFill>
                  </a:tcPr>
                </a:tc>
                <a:tc>
                  <a:txBody>
                    <a:bodyPr/>
                    <a:lstStyle/>
                    <a:p>
                      <a:pPr algn="ctr" indent="0" marL="0">
                        <a:buNone/>
                      </a:pPr>
                      <a:r>
                        <a:rPr lang="en-US" sz="900" b="1" dirty="0">
                          <a:solidFill>
                            <a:srgbClr val="FFFFFF"/>
                          </a:solidFill>
                        </a:rPr>
                        <a:t>5</a:t>
                      </a:r>
                      <a:endParaRPr lang="en-US" sz="90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A7A2E"/>
                    </a:solidFill>
                  </a:tcPr>
                </a:tc>
                <a:tc>
                  <a:txBody>
                    <a:bodyPr/>
                    <a:lstStyle/>
                    <a:p>
                      <a:pPr algn="ctr" indent="0" marL="0">
                        <a:buNone/>
                      </a:pPr>
                      <a:r>
                        <a:rPr lang="en-US" sz="850" dirty="0">
                          <a:solidFill>
                            <a:srgbClr val="64748B"/>
                          </a:solidFill>
                        </a:rPr>
                        <a:t>15%</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2F2F2"/>
                    </a:solidFill>
                  </a:tcPr>
                </a:tc>
                <a:tc>
                  <a:txBody>
                    <a:bodyPr/>
                    <a:lstStyle/>
                    <a:p>
                      <a:pPr algn="ctr" indent="0" marL="0">
                        <a:buNone/>
                      </a:pPr>
                      <a:r>
                        <a:rPr lang="en-US" sz="850" dirty="0">
                          <a:solidFill>
                            <a:srgbClr val="000000"/>
                          </a:solidFill>
                        </a:rPr>
                        <a:t>1.50</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2F2F2"/>
                    </a:solidFill>
                  </a:tcPr>
                </a:tc>
              </a:tr>
              <a:tr h="0">
                <a:tc>
                  <a:txBody>
                    <a:bodyPr/>
                    <a:lstStyle/>
                    <a:p>
                      <a:pPr indent="0" marL="0">
                        <a:buNone/>
                      </a:pPr>
                      <a:r>
                        <a:rPr lang="en-US" sz="850" dirty="0">
                          <a:solidFill>
                            <a:srgbClr val="000000"/>
                          </a:solidFill>
                        </a:rPr>
                        <a:t>CFO PE Readiness: Strong credentials + buy-side PE exp (Highland Capital); 11-month tenure is the conditional item</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000000"/>
                          </a:solidFill>
                        </a:rPr>
                        <a:t>4</a:t>
                      </a:r>
                      <a:endParaRPr lang="en-US" sz="90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92D050"/>
                    </a:solidFill>
                  </a:tcPr>
                </a:tc>
                <a:tc>
                  <a:txBody>
                    <a:bodyPr/>
                    <a:lstStyle/>
                    <a:p>
                      <a:pPr algn="ctr" indent="0" marL="0">
                        <a:buNone/>
                      </a:pPr>
                      <a:r>
                        <a:rPr lang="en-US" sz="850" dirty="0">
                          <a:solidFill>
                            <a:srgbClr val="64748B"/>
                          </a:solidFill>
                        </a:rPr>
                        <a:t>12%</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000000"/>
                          </a:solidFill>
                        </a:rPr>
                        <a:t>0.96</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r>
              <a:tr h="0">
                <a:tc>
                  <a:txBody>
                    <a:bodyPr/>
                    <a:lstStyle/>
                    <a:p>
                      <a:pPr indent="0" marL="0">
                        <a:buNone/>
                      </a:pPr>
                      <a:r>
                        <a:rPr lang="en-US" sz="850" dirty="0">
                          <a:solidFill>
                            <a:srgbClr val="000000"/>
                          </a:solidFill>
                        </a:rPr>
                        <a:t>Management Equity Rollover: ~$45M (~4.5% of equity) — meets 2-5% adequate band; below 5%+ exceptional</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2F2F2"/>
                    </a:solidFill>
                  </a:tcPr>
                </a:tc>
                <a:tc>
                  <a:txBody>
                    <a:bodyPr/>
                    <a:lstStyle/>
                    <a:p>
                      <a:pPr algn="ctr" indent="0" marL="0">
                        <a:buNone/>
                      </a:pPr>
                      <a:r>
                        <a:rPr lang="en-US" sz="900" b="1" dirty="0">
                          <a:solidFill>
                            <a:srgbClr val="000000"/>
                          </a:solidFill>
                        </a:rPr>
                        <a:t>3</a:t>
                      </a:r>
                      <a:endParaRPr lang="en-US" sz="90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C000"/>
                    </a:solidFill>
                  </a:tcPr>
                </a:tc>
                <a:tc>
                  <a:txBody>
                    <a:bodyPr/>
                    <a:lstStyle/>
                    <a:p>
                      <a:pPr algn="ctr" indent="0" marL="0">
                        <a:buNone/>
                      </a:pPr>
                      <a:r>
                        <a:rPr lang="en-US" sz="850" dirty="0">
                          <a:solidFill>
                            <a:srgbClr val="64748B"/>
                          </a:solidFill>
                        </a:rPr>
                        <a:t>8%</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2F2F2"/>
                    </a:solidFill>
                  </a:tcPr>
                </a:tc>
                <a:tc>
                  <a:txBody>
                    <a:bodyPr/>
                    <a:lstStyle/>
                    <a:p>
                      <a:pPr algn="ctr" indent="0" marL="0">
                        <a:buNone/>
                      </a:pPr>
                      <a:r>
                        <a:rPr lang="en-US" sz="850" dirty="0">
                          <a:solidFill>
                            <a:srgbClr val="000000"/>
                          </a:solidFill>
                        </a:rPr>
                        <a:t>0.48</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2F2F2"/>
                    </a:solidFill>
                  </a:tcPr>
                </a:tc>
              </a:tr>
              <a:tr h="0">
                <a:tc>
                  <a:txBody>
                    <a:bodyPr/>
                    <a:lstStyle/>
                    <a:p>
                      <a:pPr indent="0" marL="0">
                        <a:buNone/>
                      </a:pPr>
                      <a:r>
                        <a:rPr lang="en-US" sz="850" dirty="0">
                          <a:solidFill>
                            <a:srgbClr val="000000"/>
                          </a:solidFill>
                        </a:rPr>
                        <a:t>Strategy Clarity: 'Connected Care Journey' thesis is specific, M&amp;A-backed, and CIM-consistent</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FFFFFF"/>
                          </a:solidFill>
                        </a:rPr>
                        <a:t>5</a:t>
                      </a:r>
                      <a:endParaRPr lang="en-US" sz="90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A7A2E"/>
                    </a:solidFill>
                  </a:tcPr>
                </a:tc>
                <a:tc>
                  <a:txBody>
                    <a:bodyPr/>
                    <a:lstStyle/>
                    <a:p>
                      <a:pPr algn="ctr" indent="0" marL="0">
                        <a:buNone/>
                      </a:pPr>
                      <a:r>
                        <a:rPr lang="en-US" sz="850" dirty="0">
                          <a:solidFill>
                            <a:srgbClr val="64748B"/>
                          </a:solidFill>
                        </a:rPr>
                        <a:t>12%</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000000"/>
                          </a:solidFill>
                        </a:rPr>
                        <a:t>1.20</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r>
              <a:tr h="0">
                <a:tc>
                  <a:txBody>
                    <a:bodyPr/>
                    <a:lstStyle/>
                    <a:p>
                      <a:pPr indent="0" marL="0">
                        <a:buNone/>
                      </a:pPr>
                      <a:r>
                        <a:rPr lang="en-US" sz="850" dirty="0">
                          <a:solidFill>
                            <a:srgbClr val="000000"/>
                          </a:solidFill>
                        </a:rPr>
                        <a:t>Risk Acknowledgement: Public forum engagement high; financial model transparency gaps are a concern</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2F2F2"/>
                    </a:solidFill>
                  </a:tcPr>
                </a:tc>
                <a:tc>
                  <a:txBody>
                    <a:bodyPr/>
                    <a:lstStyle/>
                    <a:p>
                      <a:pPr algn="ctr" indent="0" marL="0">
                        <a:buNone/>
                      </a:pPr>
                      <a:r>
                        <a:rPr lang="en-US" sz="900" b="1" dirty="0">
                          <a:solidFill>
                            <a:srgbClr val="000000"/>
                          </a:solidFill>
                        </a:rPr>
                        <a:t>3</a:t>
                      </a:r>
                      <a:endParaRPr lang="en-US" sz="90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C000"/>
                    </a:solidFill>
                  </a:tcPr>
                </a:tc>
                <a:tc>
                  <a:txBody>
                    <a:bodyPr/>
                    <a:lstStyle/>
                    <a:p>
                      <a:pPr algn="ctr" indent="0" marL="0">
                        <a:buNone/>
                      </a:pPr>
                      <a:r>
                        <a:rPr lang="en-US" sz="850" dirty="0">
                          <a:solidFill>
                            <a:srgbClr val="64748B"/>
                          </a:solidFill>
                        </a:rPr>
                        <a:t>8%</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2F2F2"/>
                    </a:solidFill>
                  </a:tcPr>
                </a:tc>
                <a:tc>
                  <a:txBody>
                    <a:bodyPr/>
                    <a:lstStyle/>
                    <a:p>
                      <a:pPr algn="ctr" indent="0" marL="0">
                        <a:buNone/>
                      </a:pPr>
                      <a:r>
                        <a:rPr lang="en-US" sz="850" dirty="0">
                          <a:solidFill>
                            <a:srgbClr val="000000"/>
                          </a:solidFill>
                        </a:rPr>
                        <a:t>0.48</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2F2F2"/>
                    </a:solidFill>
                  </a:tcPr>
                </a:tc>
              </a:tr>
              <a:tr h="0">
                <a:tc>
                  <a:txBody>
                    <a:bodyPr/>
                    <a:lstStyle/>
                    <a:p>
                      <a:pPr indent="0" marL="0">
                        <a:buNone/>
                      </a:pPr>
                      <a:r>
                        <a:rPr lang="en-US" sz="850" dirty="0">
                          <a:solidFill>
                            <a:srgbClr val="000000"/>
                          </a:solidFill>
                        </a:rPr>
                        <a:t>Second-Tier Leadership: CTO deep; ops/compliance leadership not named; President very new</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000000"/>
                          </a:solidFill>
                        </a:rPr>
                        <a:t>3</a:t>
                      </a:r>
                      <a:endParaRPr lang="en-US" sz="90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C000"/>
                    </a:solidFill>
                  </a:tcPr>
                </a:tc>
                <a:tc>
                  <a:txBody>
                    <a:bodyPr/>
                    <a:lstStyle/>
                    <a:p>
                      <a:pPr algn="ctr" indent="0" marL="0">
                        <a:buNone/>
                      </a:pPr>
                      <a:r>
                        <a:rPr lang="en-US" sz="850" dirty="0">
                          <a:solidFill>
                            <a:srgbClr val="64748B"/>
                          </a:solidFill>
                        </a:rPr>
                        <a:t>10%</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000000"/>
                          </a:solidFill>
                        </a:rPr>
                        <a:t>0.60</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r>
              <a:tr h="0">
                <a:tc>
                  <a:txBody>
                    <a:bodyPr/>
                    <a:lstStyle/>
                    <a:p>
                      <a:pPr indent="0" marL="0">
                        <a:buNone/>
                      </a:pPr>
                      <a:r>
                        <a:rPr lang="en-US" sz="850" dirty="0">
                          <a:solidFill>
                            <a:srgbClr val="000000"/>
                          </a:solidFill>
                        </a:rPr>
                        <a:t>Technology and Product Leadership: Howard Bright (CTO) is architect of Engage IQ — credible domain expert</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2F2F2"/>
                    </a:solidFill>
                  </a:tcPr>
                </a:tc>
                <a:tc>
                  <a:txBody>
                    <a:bodyPr/>
                    <a:lstStyle/>
                    <a:p>
                      <a:pPr algn="ctr" indent="0" marL="0">
                        <a:buNone/>
                      </a:pPr>
                      <a:r>
                        <a:rPr lang="en-US" sz="900" b="1" dirty="0">
                          <a:solidFill>
                            <a:srgbClr val="000000"/>
                          </a:solidFill>
                        </a:rPr>
                        <a:t>4</a:t>
                      </a:r>
                      <a:endParaRPr lang="en-US" sz="90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92D050"/>
                    </a:solidFill>
                  </a:tcPr>
                </a:tc>
                <a:tc>
                  <a:txBody>
                    <a:bodyPr/>
                    <a:lstStyle/>
                    <a:p>
                      <a:pPr algn="ctr" indent="0" marL="0">
                        <a:buNone/>
                      </a:pPr>
                      <a:r>
                        <a:rPr lang="en-US" sz="850" dirty="0">
                          <a:solidFill>
                            <a:srgbClr val="64748B"/>
                          </a:solidFill>
                        </a:rPr>
                        <a:t>8%</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2F2F2"/>
                    </a:solidFill>
                  </a:tcPr>
                </a:tc>
                <a:tc>
                  <a:txBody>
                    <a:bodyPr/>
                    <a:lstStyle/>
                    <a:p>
                      <a:pPr algn="ctr" indent="0" marL="0">
                        <a:buNone/>
                      </a:pPr>
                      <a:r>
                        <a:rPr lang="en-US" sz="850" dirty="0">
                          <a:solidFill>
                            <a:srgbClr val="000000"/>
                          </a:solidFill>
                        </a:rPr>
                        <a:t>0.64</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2F2F2"/>
                    </a:solidFill>
                  </a:tcPr>
                </a:tc>
              </a:tr>
              <a:tr h="0">
                <a:tc>
                  <a:txBody>
                    <a:bodyPr/>
                    <a:lstStyle/>
                    <a:p>
                      <a:pPr indent="0" marL="0">
                        <a:buNone/>
                      </a:pPr>
                      <a:r>
                        <a:rPr lang="en-US" sz="850" dirty="0">
                          <a:solidFill>
                            <a:srgbClr val="000000"/>
                          </a:solidFill>
                        </a:rPr>
                        <a:t>C-Suite Tenure: MacKenzie 7yr and Bright strong; Smith 11mo and Rogas 5mo dilute average to ~3yr</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000000"/>
                          </a:solidFill>
                        </a:rPr>
                        <a:t>3</a:t>
                      </a:r>
                      <a:endParaRPr lang="en-US" sz="90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C000"/>
                    </a:solidFill>
                  </a:tcPr>
                </a:tc>
                <a:tc>
                  <a:txBody>
                    <a:bodyPr/>
                    <a:lstStyle/>
                    <a:p>
                      <a:pPr algn="ctr" indent="0" marL="0">
                        <a:buNone/>
                      </a:pPr>
                      <a:r>
                        <a:rPr lang="en-US" sz="850" dirty="0">
                          <a:solidFill>
                            <a:srgbClr val="64748B"/>
                          </a:solidFill>
                        </a:rPr>
                        <a:t>10%</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000000"/>
                          </a:solidFill>
                        </a:rPr>
                        <a:t>0.60</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r>
              <a:tr h="0">
                <a:tc>
                  <a:txBody>
                    <a:bodyPr/>
                    <a:lstStyle/>
                    <a:p>
                      <a:pPr indent="0" marL="0">
                        <a:buNone/>
                      </a:pPr>
                      <a:r>
                        <a:rPr lang="en-US" sz="850" dirty="0">
                          <a:solidFill>
                            <a:srgbClr val="000000"/>
                          </a:solidFill>
                        </a:rPr>
                        <a:t>Retention Plan: Equity for C-suite and 15 enterprise AMs confirmed; below VP-level undisclosed</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2F2F2"/>
                    </a:solidFill>
                  </a:tcPr>
                </a:tc>
                <a:tc>
                  <a:txBody>
                    <a:bodyPr/>
                    <a:lstStyle/>
                    <a:p>
                      <a:pPr algn="ctr" indent="0" marL="0">
                        <a:buNone/>
                      </a:pPr>
                      <a:r>
                        <a:rPr lang="en-US" sz="900" b="1" dirty="0">
                          <a:solidFill>
                            <a:srgbClr val="000000"/>
                          </a:solidFill>
                        </a:rPr>
                        <a:t>3</a:t>
                      </a:r>
                      <a:endParaRPr lang="en-US" sz="90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C000"/>
                    </a:solidFill>
                  </a:tcPr>
                </a:tc>
                <a:tc>
                  <a:txBody>
                    <a:bodyPr/>
                    <a:lstStyle/>
                    <a:p>
                      <a:pPr algn="ctr" indent="0" marL="0">
                        <a:buNone/>
                      </a:pPr>
                      <a:r>
                        <a:rPr lang="en-US" sz="850" dirty="0">
                          <a:solidFill>
                            <a:srgbClr val="64748B"/>
                          </a:solidFill>
                        </a:rPr>
                        <a:t>7%</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2F2F2"/>
                    </a:solidFill>
                  </a:tcPr>
                </a:tc>
                <a:tc>
                  <a:txBody>
                    <a:bodyPr/>
                    <a:lstStyle/>
                    <a:p>
                      <a:pPr algn="ctr" indent="0" marL="0">
                        <a:buNone/>
                      </a:pPr>
                      <a:r>
                        <a:rPr lang="en-US" sz="850" dirty="0">
                          <a:solidFill>
                            <a:srgbClr val="000000"/>
                          </a:solidFill>
                        </a:rPr>
                        <a:t>0.42</a:t>
                      </a:r>
                      <a:endParaRPr lang="en-US" sz="85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2F2F2"/>
                    </a:solidFill>
                  </a:tcPr>
                </a:tc>
              </a:tr>
              <a:tr h="0">
                <a:tc gridSpan="3">
                  <a:txBody>
                    <a:bodyPr/>
                    <a:lstStyle/>
                    <a:p>
                      <a:pPr indent="0" marL="0">
                        <a:buNone/>
                      </a:pPr>
                      <a:r>
                        <a:rPr lang="en-US" sz="900" b="1" dirty="0">
                          <a:solidFill>
                            <a:srgbClr val="FFFFFF"/>
                          </a:solidFill>
                        </a:rPr>
                        <a:t>TOTAL WEIGHTED SCORE</a:t>
                      </a:r>
                      <a:endParaRPr lang="en-US" sz="90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B3A5C"/>
                    </a:solidFill>
                  </a:tcPr>
                </a:tc>
                <a:tc hMerge="1">
                  <a:tcPr/>
                </a:tc>
                <a:tc hMerge="1">
                  <a:tcPr/>
                </a:tc>
                <a:tc>
                  <a:txBody>
                    <a:bodyPr/>
                    <a:lstStyle/>
                    <a:p>
                      <a:pPr indent="0" marL="0">
                        <a:buNone/>
                      </a:pPr>
                      <a:endParaRPr lang="en-US" sz="120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B3A5C"/>
                    </a:solidFill>
                  </a:tcPr>
                </a:tc>
                <a:tc>
                  <a:txBody>
                    <a:bodyPr/>
                    <a:lstStyle/>
                    <a:p>
                      <a:pPr indent="0" marL="0">
                        <a:buNone/>
                      </a:pPr>
                      <a:endParaRPr lang="en-US" sz="120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B3A5C"/>
                    </a:solidFill>
                  </a:tcPr>
                </a:tc>
                <a:tc>
                  <a:txBody>
                    <a:bodyPr/>
                    <a:lstStyle/>
                    <a:p>
                      <a:pPr algn="ctr" indent="0" marL="0">
                        <a:buNone/>
                      </a:pPr>
                      <a:r>
                        <a:rPr lang="en-US" sz="1100" b="1" dirty="0">
                          <a:solidFill>
                            <a:srgbClr val="FFFFFF"/>
                          </a:solidFill>
                        </a:rPr>
                        <a:t>70.8 / 100</a:t>
                      </a:r>
                      <a:endParaRPr lang="en-US" sz="1100" dirty="0"/>
                    </a:p>
                  </a:txBody>
                  <a:tcPr marL="91440" marR="91440" marT="45720" marB="45720">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B45309"/>
                    </a:solidFill>
                  </a:tcPr>
                </a:tc>
              </a:tr>
            </a:tbl>
          </a:graphicData>
        </a:graphic>
      </p:graphicFrame>
      <p:sp>
        <p:nvSpPr>
          <p:cNvPr id="10" name="Shape 7"/>
          <p:cNvSpPr/>
          <p:nvPr/>
        </p:nvSpPr>
        <p:spPr>
          <a:xfrm>
            <a:off x="6400800" y="1216152"/>
            <a:ext cx="2377440" cy="438912"/>
          </a:xfrm>
          <a:prstGeom prst="rect">
            <a:avLst/>
          </a:prstGeom>
          <a:solidFill>
            <a:srgbClr val="1B3A5C"/>
          </a:solidFill>
          <a:ln/>
        </p:spPr>
      </p:sp>
      <p:sp>
        <p:nvSpPr>
          <p:cNvPr id="11" name="Text 8"/>
          <p:cNvSpPr/>
          <p:nvPr/>
        </p:nvSpPr>
        <p:spPr>
          <a:xfrm>
            <a:off x="6400800" y="1216152"/>
            <a:ext cx="2377440" cy="438912"/>
          </a:xfrm>
          <a:prstGeom prst="rect">
            <a:avLst/>
          </a:prstGeom>
          <a:noFill/>
          <a:ln/>
        </p:spPr>
        <p:txBody>
          <a:bodyPr wrap="square" lIns="0" tIns="0" rIns="0" bIns="0" rtlCol="0" anchor="ctr"/>
          <a:lstStyle/>
          <a:p>
            <a:pPr algn="ctr" indent="0" marL="0">
              <a:buNone/>
            </a:pPr>
            <a:r>
              <a:rPr lang="en-US" sz="950" dirty="0">
                <a:solidFill>
                  <a:srgbClr val="FFFFFF"/>
                </a:solidFill>
                <a:latin typeface="Arial" pitchFamily="34" charset="0"/>
                <a:ea typeface="Arial" pitchFamily="34" charset="-122"/>
                <a:cs typeface="Arial" pitchFamily="34" charset="-120"/>
              </a:rPr>
              <a:t>80–100  —  Strong Proceed</a:t>
            </a:r>
            <a:endParaRPr lang="en-US" sz="950" dirty="0"/>
          </a:p>
        </p:txBody>
      </p:sp>
      <p:sp>
        <p:nvSpPr>
          <p:cNvPr id="12" name="Shape 9"/>
          <p:cNvSpPr/>
          <p:nvPr/>
        </p:nvSpPr>
        <p:spPr>
          <a:xfrm>
            <a:off x="6400800" y="1728216"/>
            <a:ext cx="2377440" cy="438912"/>
          </a:xfrm>
          <a:prstGeom prst="rect">
            <a:avLst/>
          </a:prstGeom>
          <a:solidFill>
            <a:srgbClr val="B45309"/>
          </a:solidFill>
          <a:ln/>
        </p:spPr>
      </p:sp>
      <p:sp>
        <p:nvSpPr>
          <p:cNvPr id="13" name="Text 10"/>
          <p:cNvSpPr/>
          <p:nvPr/>
        </p:nvSpPr>
        <p:spPr>
          <a:xfrm>
            <a:off x="6400800" y="1728216"/>
            <a:ext cx="2377440" cy="438912"/>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65–79  —  Conditional Proceed</a:t>
            </a:r>
            <a:endParaRPr lang="en-US" sz="950" dirty="0"/>
          </a:p>
        </p:txBody>
      </p:sp>
      <p:sp>
        <p:nvSpPr>
          <p:cNvPr id="14" name="Shape 11"/>
          <p:cNvSpPr/>
          <p:nvPr/>
        </p:nvSpPr>
        <p:spPr>
          <a:xfrm>
            <a:off x="6400800" y="2240280"/>
            <a:ext cx="2377440" cy="438912"/>
          </a:xfrm>
          <a:prstGeom prst="rect">
            <a:avLst/>
          </a:prstGeom>
          <a:solidFill>
            <a:srgbClr val="C00000"/>
          </a:solidFill>
          <a:ln/>
        </p:spPr>
      </p:sp>
      <p:sp>
        <p:nvSpPr>
          <p:cNvPr id="15" name="Text 12"/>
          <p:cNvSpPr/>
          <p:nvPr/>
        </p:nvSpPr>
        <p:spPr>
          <a:xfrm>
            <a:off x="6400800" y="2240280"/>
            <a:ext cx="2377440" cy="438912"/>
          </a:xfrm>
          <a:prstGeom prst="rect">
            <a:avLst/>
          </a:prstGeom>
          <a:noFill/>
          <a:ln/>
        </p:spPr>
        <p:txBody>
          <a:bodyPr wrap="square" lIns="0" tIns="0" rIns="0" bIns="0" rtlCol="0" anchor="ctr"/>
          <a:lstStyle/>
          <a:p>
            <a:pPr algn="ctr" indent="0" marL="0">
              <a:buNone/>
            </a:pPr>
            <a:r>
              <a:rPr lang="en-US" sz="950" dirty="0">
                <a:solidFill>
                  <a:srgbClr val="FFFFFF"/>
                </a:solidFill>
                <a:latin typeface="Arial" pitchFamily="34" charset="0"/>
                <a:ea typeface="Arial" pitchFamily="34" charset="-122"/>
                <a:cs typeface="Arial" pitchFamily="34" charset="-120"/>
              </a:rPr>
              <a:t>&lt; 65  —  Pass</a:t>
            </a:r>
            <a:endParaRPr lang="en-US" sz="950" dirty="0"/>
          </a:p>
        </p:txBody>
      </p:sp>
      <p:sp>
        <p:nvSpPr>
          <p:cNvPr id="16" name="Shape 13"/>
          <p:cNvSpPr/>
          <p:nvPr/>
        </p:nvSpPr>
        <p:spPr>
          <a:xfrm>
            <a:off x="6400800" y="2761488"/>
            <a:ext cx="2377440" cy="914400"/>
          </a:xfrm>
          <a:prstGeom prst="rect">
            <a:avLst/>
          </a:prstGeom>
          <a:solidFill>
            <a:srgbClr val="B45309"/>
          </a:solidFill>
          <a:ln/>
          <a:effectLst>
            <a:outerShdw sx="100000" sy="100000" kx="0" ky="0" algn="bl" rotWithShape="0" blurRad="50800" dist="25400" dir="16200000">
              <a:srgbClr val="000000">
                <a:alpha val="8000"/>
              </a:srgbClr>
            </a:outerShdw>
          </a:effectLst>
        </p:spPr>
      </p:sp>
      <p:sp>
        <p:nvSpPr>
          <p:cNvPr id="17" name="Text 14"/>
          <p:cNvSpPr/>
          <p:nvPr/>
        </p:nvSpPr>
        <p:spPr>
          <a:xfrm>
            <a:off x="6400800" y="2798064"/>
            <a:ext cx="2377440" cy="530352"/>
          </a:xfrm>
          <a:prstGeom prst="rect">
            <a:avLst/>
          </a:prstGeom>
          <a:noFill/>
          <a:ln/>
        </p:spPr>
        <p:txBody>
          <a:bodyPr wrap="square" lIns="0" tIns="0" rIns="0" bIns="0" rtlCol="0" anchor="ctr"/>
          <a:lstStyle/>
          <a:p>
            <a:pPr algn="ctr" indent="0" marL="0">
              <a:buNone/>
            </a:pPr>
            <a:r>
              <a:rPr lang="en-US" sz="4800" b="1" dirty="0">
                <a:solidFill>
                  <a:srgbClr val="FFFFFF"/>
                </a:solidFill>
                <a:latin typeface="Arial" pitchFamily="34" charset="0"/>
                <a:ea typeface="Arial" pitchFamily="34" charset="-122"/>
                <a:cs typeface="Arial" pitchFamily="34" charset="-120"/>
              </a:rPr>
              <a:t>70.8</a:t>
            </a:r>
            <a:endParaRPr lang="en-US" sz="4800" dirty="0"/>
          </a:p>
        </p:txBody>
      </p:sp>
      <p:sp>
        <p:nvSpPr>
          <p:cNvPr id="18" name="Text 15"/>
          <p:cNvSpPr/>
          <p:nvPr/>
        </p:nvSpPr>
        <p:spPr>
          <a:xfrm>
            <a:off x="6400800" y="3346704"/>
            <a:ext cx="2377440"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CONDITIONAL PROCEED</a:t>
            </a:r>
            <a:endParaRPr lang="en-US" sz="900" dirty="0"/>
          </a:p>
        </p:txBody>
      </p:sp>
      <p:sp>
        <p:nvSpPr>
          <p:cNvPr id="19" name="Shape 16"/>
          <p:cNvSpPr/>
          <p:nvPr/>
        </p:nvSpPr>
        <p:spPr>
          <a:xfrm>
            <a:off x="365760" y="4526280"/>
            <a:ext cx="8412480" cy="347472"/>
          </a:xfrm>
          <a:prstGeom prst="rect">
            <a:avLst/>
          </a:prstGeom>
          <a:solidFill>
            <a:srgbClr val="FFF9E6"/>
          </a:solidFill>
          <a:ln w="9525">
            <a:solidFill>
              <a:srgbClr val="B45309"/>
            </a:solidFill>
            <a:prstDash val="solid"/>
          </a:ln>
        </p:spPr>
      </p:sp>
      <p:sp>
        <p:nvSpPr>
          <p:cNvPr id="20" name="Text 17"/>
          <p:cNvSpPr/>
          <p:nvPr/>
        </p:nvSpPr>
        <p:spPr>
          <a:xfrm>
            <a:off x="457200" y="4553712"/>
            <a:ext cx="8229600" cy="292608"/>
          </a:xfrm>
          <a:prstGeom prst="rect">
            <a:avLst/>
          </a:prstGeom>
          <a:noFill/>
          <a:ln/>
        </p:spPr>
        <p:txBody>
          <a:bodyPr wrap="square" lIns="0" tIns="0" rIns="0" bIns="0" rtlCol="0" anchor="ctr"/>
          <a:lstStyle/>
          <a:p>
            <a:pPr indent="0" marL="0">
              <a:buNone/>
            </a:pPr>
            <a:r>
              <a:rPr lang="en-US" sz="800" dirty="0">
                <a:solidFill>
                  <a:srgbClr val="78350F"/>
                </a:solidFill>
                <a:latin typeface="Arial" pitchFamily="34" charset="0"/>
                <a:ea typeface="Arial" pitchFamily="34" charset="-122"/>
                <a:cs typeface="Arial" pitchFamily="34" charset="-120"/>
              </a:rPr>
              <a:t>Pre-interview score. Revise after CEO and CFO sessions. Key swing factors: (1) CFO explains and corrects model errors → +5–8 points. (2) Kyruus/TrustCommerce revenue confirmed and attributed → +3–5 points. (3) Rogas provides cross-sell pipeline evidence → +3 points. Upward revision to Strong Proceed (80+) is achievable if all three conditions are met.</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RevSpring Management DD</dc:title>
  <dc:subject>PptxGenJS Presentation</dc:subject>
  <dc:creator>PptxGenJS</dc:creator>
  <cp:lastModifiedBy>PptxGenJS</cp:lastModifiedBy>
  <cp:revision>1</cp:revision>
  <dcterms:created xsi:type="dcterms:W3CDTF">2026-06-08T11:48:52Z</dcterms:created>
  <dcterms:modified xsi:type="dcterms:W3CDTF">2026-06-08T11:48:52Z</dcterms:modified>
</cp:coreProperties>
</file>