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3.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4.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$B</c:v>
                </c:pt>
              </c:strCache>
            </c:strRef>
          </c:tx>
          <c:spPr>
            <a:solidFill>
              <a:srgbClr val="1B3A5C"/>
            </a:solidFill>
            <a:effectLst/>
          </c:spPr>
          <c:invertIfNegative val="0"/>
          <c:dLbls>
            <c:numFmt formatCode="#,##0"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dPt>
            <c:idx val="0"/>
            <c:invertIfNegative val="0"/>
            <c:bubble3D val="0"/>
            <c:spPr>
              <a:solidFill>
                <a:srgbClr val="1B3A5C"/>
              </a:solidFill>
              <a:effectLst/>
            </c:spPr>
          </c:dPt>
          <c:dPt>
            <c:idx val="1"/>
            <c:invertIfNegative val="0"/>
            <c:bubble3D val="0"/>
            <c:spPr>
              <a:solidFill>
                <a:srgbClr val="2E6DB4"/>
              </a:solidFill>
              <a:effectLst/>
            </c:spPr>
          </c:dPt>
          <c:dPt>
            <c:idx val="2"/>
            <c:invertIfNegative val="0"/>
            <c:bubble3D val="0"/>
            <c:spPr>
              <a:solidFill>
                <a:srgbClr val="2E6DB4"/>
              </a:solidFill>
              <a:effectLst/>
            </c:spPr>
          </c:dPt>
          <c:dPt>
            <c:idx val="3"/>
            <c:invertIfNegative val="0"/>
            <c:bubble3D val="0"/>
            <c:spPr>
              <a:solidFill>
                <a:srgbClr val="4A90D9"/>
              </a:solidFill>
              <a:effectLst/>
            </c:spPr>
          </c:dPt>
          <c:cat>
            <c:multiLvlStrRef>
              <c:f>Sheet1!$A$2:$A$5</c:f>
              <c:multiLvlStrCache>
                <c:ptCount val="4"/>
                <c:lvl>
                  <c:pt idx="0">
                    <c:v>U.S. RCM Total
(2026)</c:v>
                  </c:pt>
                  <c:pt idx="1">
                    <c:v>Patient
Engagement
(2026)</c:v>
                  </c:pt>
                  <c:pt idx="2">
                    <c:v>Pt. Financial
Eng. (2024)</c:v>
                  </c:pt>
                  <c:pt idx="3">
                    <c:v>RevSpring
SAM (2026)</c:v>
                  </c:pt>
                </c:lvl>
              </c:multiLvlStrCache>
            </c:multiLvlStrRef>
          </c:cat>
          <c:val>
            <c:numRef>
              <c:f>Sheet1!$B$2:$B$5</c:f>
              <c:numCache>
                <c:formatCode>General</c:formatCode>
                <c:ptCount val="4"/>
                <c:pt idx="0">
                  <c:v>73</c:v>
                </c:pt>
                <c:pt idx="1">
                  <c:v>29.3</c:v>
                </c:pt>
                <c:pt idx="2">
                  <c:v>9.2</c:v>
                </c:pt>
                <c:pt idx="3">
                  <c:v>4</c:v>
                </c:pt>
              </c:numCache>
            </c:numRef>
          </c:val>
        </c:ser>
        <c:dLbls>
          <c:numFmt formatCode="#,##0"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KLAS Score</c:v>
                </c:pt>
              </c:strCache>
            </c:strRef>
          </c:tx>
          <c:spPr>
            <a:solidFill>
              <a:srgbClr val="1A7A2E"/>
            </a:solidFill>
            <a:effectLst/>
          </c:spPr>
          <c:invertIfNegative val="0"/>
          <c:dLbls>
            <c:numFmt formatCode="#,##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dPt>
            <c:idx val="0"/>
            <c:invertIfNegative val="0"/>
            <c:bubble3D val="0"/>
            <c:spPr>
              <a:solidFill>
                <a:srgbClr val="1A7A2E"/>
              </a:solidFill>
              <a:effectLst/>
            </c:spPr>
          </c:dPt>
          <c:dPt>
            <c:idx val="1"/>
            <c:invertIfNegative val="0"/>
            <c:bubble3D val="0"/>
            <c:spPr>
              <a:solidFill>
                <a:srgbClr val="4A90D9"/>
              </a:solidFill>
              <a:effectLst/>
            </c:spPr>
          </c:dPt>
          <c:dPt>
            <c:idx val="2"/>
            <c:invertIfNegative val="0"/>
            <c:bubble3D val="0"/>
            <c:spPr>
              <a:solidFill>
                <a:srgbClr val="9EABB8"/>
              </a:solidFill>
              <a:effectLst/>
            </c:spPr>
          </c:dPt>
          <c:cat>
            <c:multiLvlStrRef>
              <c:f>Sheet1!$A$2:$A$4</c:f>
              <c:multiLvlStrCache>
                <c:ptCount val="3"/>
                <c:lvl>
                  <c:pt idx="0">
                    <c:v>RevSpring</c:v>
                  </c:pt>
                  <c:pt idx="1">
                    <c:v>Waystar</c:v>
                  </c:pt>
                  <c:pt idx="2">
                    <c:v>Flywire</c:v>
                  </c:pt>
                </c:lvl>
              </c:multiLvlStrCache>
            </c:multiLvlStrRef>
          </c:cat>
          <c:val>
            <c:numRef>
              <c:f>Sheet1!$B$2:$B$4</c:f>
              <c:numCache>
                <c:formatCode>General</c:formatCode>
                <c:ptCount val="3"/>
                <c:pt idx="0">
                  <c:v>90.3</c:v>
                </c:pt>
                <c:pt idx="1">
                  <c:v>88.8</c:v>
                </c:pt>
                <c:pt idx="2">
                  <c:v>88.4</c:v>
                </c:pt>
              </c:numCache>
            </c:numRef>
          </c:val>
        </c:ser>
        <c:dLbls>
          <c:numFmt formatCode="#,##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92"/>
          <c:min val="85"/>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Bear</c:v>
                </c:pt>
              </c:strCache>
            </c:strRef>
          </c:tx>
          <c:spPr>
            <a:solidFill>
              <a:srgbClr val="C00000"/>
            </a:solidFill>
            <a:effectLst/>
          </c:spPr>
          <c:invertIfNegative val="0"/>
          <c:dLbls>
            <c:numFmt formatCode="#,##0" sourceLinked="0"/>
            <c:txPr>
              <a:bodyPr/>
              <a:lstStyle/>
              <a:p>
                <a:pPr>
                  <a:defRPr b="0" i="0" strike="noStrike" sz="850" u="none">
                    <a:solidFill>
                      <a:srgbClr val="000000"/>
                    </a:solidFill>
                    <a:latin typeface="Arial"/>
                  </a:defRPr>
                </a:pPr>
              </a:p>
            </c:txPr>
            <c:showLegendKey val="0"/>
            <c:showVal val="1"/>
            <c:showCatName val="0"/>
            <c:showSerName val="0"/>
            <c:showPercent val="0"/>
            <c:showBubbleSize val="0"/>
            <c:showLeaderLines val="0"/>
          </c:dLbls>
          <c:cat>
            <c:multiLvlStrRef>
              <c:f>Sheet1!$A$2:$A$3</c:f>
              <c:multiLvlStrCache>
                <c:ptCount val="2"/>
                <c:lvl>
                  <c:pt idx="0">
                    <c:v>FY25E</c:v>
                  </c:pt>
                  <c:pt idx="1">
                    <c:v>FY26E</c:v>
                  </c:pt>
                </c:lvl>
              </c:multiLvlStrCache>
            </c:multiLvlStrRef>
          </c:cat>
          <c:val>
            <c:numRef>
              <c:f>Sheet1!$B$2:$B$3</c:f>
              <c:numCache>
                <c:formatCode>General</c:formatCode>
                <c:ptCount val="2"/>
                <c:pt idx="0">
                  <c:v>84.2</c:v>
                </c:pt>
                <c:pt idx="1">
                  <c:v>91.7</c:v>
                </c:pt>
              </c:numCache>
            </c:numRef>
          </c:val>
        </c:ser>
        <c:ser>
          <c:idx val="1"/>
          <c:order val="1"/>
          <c:tx>
            <c:strRef>
              <c:f>Sheet1!$C$1</c:f>
              <c:strCache>
                <c:ptCount val="1"/>
                <c:pt idx="0">
                  <c:v>Base</c:v>
                </c:pt>
              </c:strCache>
            </c:strRef>
          </c:tx>
          <c:spPr>
            <a:solidFill>
              <a:srgbClr val="2E6DB4"/>
            </a:solidFill>
            <a:effectLst/>
          </c:spPr>
          <c:invertIfNegative val="0"/>
          <c:dLbls>
            <c:numFmt formatCode="#,##0" sourceLinked="0"/>
            <c:txPr>
              <a:bodyPr/>
              <a:lstStyle/>
              <a:p>
                <a:pPr>
                  <a:defRPr b="0" i="0" strike="noStrike" sz="850" u="none">
                    <a:solidFill>
                      <a:srgbClr val="000000"/>
                    </a:solidFill>
                    <a:latin typeface="Arial"/>
                  </a:defRPr>
                </a:pPr>
              </a:p>
            </c:txPr>
            <c:showLegendKey val="0"/>
            <c:showVal val="1"/>
            <c:showCatName val="0"/>
            <c:showSerName val="0"/>
            <c:showPercent val="0"/>
            <c:showBubbleSize val="0"/>
            <c:showLeaderLines val="0"/>
          </c:dLbls>
          <c:cat>
            <c:multiLvlStrRef>
              <c:f>Sheet1!$A$2:$A$3</c:f>
              <c:multiLvlStrCache>
                <c:ptCount val="2"/>
                <c:lvl>
                  <c:pt idx="0">
                    <c:v>FY25E</c:v>
                  </c:pt>
                  <c:pt idx="1">
                    <c:v>FY26E</c:v>
                  </c:pt>
                </c:lvl>
              </c:multiLvlStrCache>
            </c:multiLvlStrRef>
          </c:cat>
          <c:val>
            <c:numRef>
              <c:f>Sheet1!$C$2:$C$3</c:f>
              <c:numCache>
                <c:formatCode>General</c:formatCode>
                <c:ptCount val="2"/>
                <c:pt idx="0">
                  <c:v>91.4</c:v>
                </c:pt>
                <c:pt idx="1">
                  <c:v>104.4</c:v>
                </c:pt>
              </c:numCache>
            </c:numRef>
          </c:val>
        </c:ser>
        <c:ser>
          <c:idx val="2"/>
          <c:order val="2"/>
          <c:tx>
            <c:strRef>
              <c:f>Sheet1!$D$1</c:f>
              <c:strCache>
                <c:ptCount val="1"/>
                <c:pt idx="0">
                  <c:v>Bull</c:v>
                </c:pt>
              </c:strCache>
            </c:strRef>
          </c:tx>
          <c:spPr>
            <a:solidFill>
              <a:srgbClr val="1A7A2E"/>
            </a:solidFill>
            <a:effectLst/>
          </c:spPr>
          <c:invertIfNegative val="0"/>
          <c:dLbls>
            <c:numFmt formatCode="#,##0" sourceLinked="0"/>
            <c:txPr>
              <a:bodyPr/>
              <a:lstStyle/>
              <a:p>
                <a:pPr>
                  <a:defRPr b="0" i="0" strike="noStrike" sz="850" u="none">
                    <a:solidFill>
                      <a:srgbClr val="000000"/>
                    </a:solidFill>
                    <a:latin typeface="Arial"/>
                  </a:defRPr>
                </a:pPr>
              </a:p>
            </c:txPr>
            <c:showLegendKey val="0"/>
            <c:showVal val="1"/>
            <c:showCatName val="0"/>
            <c:showSerName val="0"/>
            <c:showPercent val="0"/>
            <c:showBubbleSize val="0"/>
            <c:showLeaderLines val="0"/>
          </c:dLbls>
          <c:cat>
            <c:multiLvlStrRef>
              <c:f>Sheet1!$A$2:$A$3</c:f>
              <c:multiLvlStrCache>
                <c:ptCount val="2"/>
                <c:lvl>
                  <c:pt idx="0">
                    <c:v>FY25E</c:v>
                  </c:pt>
                  <c:pt idx="1">
                    <c:v>FY26E</c:v>
                  </c:pt>
                </c:lvl>
              </c:multiLvlStrCache>
            </c:multiLvlStrRef>
          </c:cat>
          <c:val>
            <c:numRef>
              <c:f>Sheet1!$D$2:$D$3</c:f>
              <c:numCache>
                <c:formatCode>General</c:formatCode>
                <c:ptCount val="2"/>
                <c:pt idx="0">
                  <c:v>97.4</c:v>
                </c:pt>
                <c:pt idx="1">
                  <c:v>115.1</c:v>
                </c:pt>
              </c:numCache>
            </c:numRef>
          </c:val>
        </c:ser>
        <c:dLbls>
          <c:numFmt formatCode="#,##0" sourceLinked="0"/>
          <c:txPr>
            <a:bodyPr/>
            <a:lstStyle/>
            <a:p>
              <a:pPr>
                <a:defRPr b="0" i="0" strike="noStrike" sz="85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in val="7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defRPr>
          </a:pPr>
          <a:endParaRPr lang="en-US"/>
        </a:p>
      </c:txPr>
    </c:legend>
    <c:plotVisOnly val="1"/>
    <c:dispBlanksAs val="span"/>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Score</c:v>
                </c:pt>
              </c:strCache>
            </c:strRef>
          </c:tx>
          <c:spPr>
            <a:solidFill>
              <a:srgbClr val="1A7A2E"/>
            </a:solidFill>
            <a:effectLst/>
          </c:spPr>
          <c:invertIfNegative val="0"/>
          <c:dLbls>
            <c:numFmt formatCode="#,##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dPt>
            <c:idx val="0"/>
            <c:invertIfNegative val="0"/>
            <c:bubble3D val="0"/>
            <c:spPr>
              <a:solidFill>
                <a:srgbClr val="1A7A2E"/>
              </a:solidFill>
              <a:effectLst/>
            </c:spPr>
          </c:dPt>
          <c:dPt>
            <c:idx val="1"/>
            <c:invertIfNegative val="0"/>
            <c:bubble3D val="0"/>
            <c:spPr>
              <a:solidFill>
                <a:srgbClr val="1A7A2E"/>
              </a:solidFill>
              <a:effectLst/>
            </c:spPr>
          </c:dPt>
          <c:dPt>
            <c:idx val="2"/>
            <c:invertIfNegative val="0"/>
            <c:bubble3D val="0"/>
            <c:spPr>
              <a:solidFill>
                <a:srgbClr val="B45309"/>
              </a:solidFill>
              <a:effectLst/>
            </c:spPr>
          </c:dPt>
          <c:dPt>
            <c:idx val="3"/>
            <c:invertIfNegative val="0"/>
            <c:bubble3D val="0"/>
            <c:spPr>
              <a:solidFill>
                <a:srgbClr val="C00000"/>
              </a:solidFill>
              <a:effectLst/>
            </c:spPr>
          </c:dPt>
          <c:cat>
            <c:multiLvlStrRef>
              <c:f>Sheet1!$A$2:$A$5</c:f>
              <c:multiLvlStrCache>
                <c:ptCount val="4"/>
                <c:lvl>
                  <c:pt idx="0">
                    <c:v>CIM Screening</c:v>
                  </c:pt>
                  <c:pt idx="1">
                    <c:v>Commercial DD</c:v>
                  </c:pt>
                  <c:pt idx="2">
                    <c:v>Management DD</c:v>
                  </c:pt>
                  <c:pt idx="3">
                    <c:v>Financial DD</c:v>
                  </c:pt>
                </c:lvl>
              </c:multiLvlStrCache>
            </c:multiLvlStrRef>
          </c:cat>
          <c:val>
            <c:numRef>
              <c:f>Sheet1!$B$2:$B$5</c:f>
              <c:numCache>
                <c:formatCode>General</c:formatCode>
                <c:ptCount val="4"/>
                <c:pt idx="0">
                  <c:v>82</c:v>
                </c:pt>
                <c:pt idx="1">
                  <c:v>85.8</c:v>
                </c:pt>
                <c:pt idx="2">
                  <c:v>70.8</c:v>
                </c:pt>
                <c:pt idx="3">
                  <c:v>63.2</c:v>
                </c:pt>
              </c:numCache>
            </c:numRef>
          </c:val>
        </c:ser>
        <c:dLbls>
          <c:numFmt formatCode="#,##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5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00"/>
          <c:min val="0"/>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3383280"/>
            <a:ext cx="9144000" cy="1760220"/>
          </a:xfrm>
          <a:prstGeom prst="rect">
            <a:avLst/>
          </a:prstGeom>
          <a:solidFill>
            <a:srgbClr val="111E2B"/>
          </a:solidFill>
          <a:ln/>
        </p:spPr>
      </p:sp>
      <p:sp>
        <p:nvSpPr>
          <p:cNvPr id="3" name="Text 1"/>
          <p:cNvSpPr/>
          <p:nvPr/>
        </p:nvSpPr>
        <p:spPr>
          <a:xfrm>
            <a:off x="457200" y="457200"/>
            <a:ext cx="8229600" cy="502920"/>
          </a:xfrm>
          <a:prstGeom prst="rect">
            <a:avLst/>
          </a:prstGeom>
          <a:noFill/>
          <a:ln/>
        </p:spPr>
        <p:txBody>
          <a:bodyPr wrap="square" rtlCol="0" anchor="ctr"/>
          <a:lstStyle/>
          <a:p>
            <a:pPr indent="0" marL="0">
              <a:buNone/>
            </a:pPr>
            <a:r>
              <a:rPr lang="en-US" sz="3200" b="1" spc="200" kern="0" dirty="0">
                <a:solidFill>
                  <a:srgbClr val="FFFFFF"/>
                </a:solidFill>
                <a:latin typeface="Arial" pitchFamily="34" charset="0"/>
                <a:ea typeface="Arial" pitchFamily="34" charset="-122"/>
                <a:cs typeface="Arial" pitchFamily="34" charset="-120"/>
              </a:rPr>
              <a:t>INVESTMENT COMMITTEE MEMORANDUM</a:t>
            </a:r>
            <a:endParaRPr lang="en-US" sz="3200" dirty="0"/>
          </a:p>
        </p:txBody>
      </p:sp>
      <p:sp>
        <p:nvSpPr>
          <p:cNvPr id="4" name="Text 2"/>
          <p:cNvSpPr/>
          <p:nvPr/>
        </p:nvSpPr>
        <p:spPr>
          <a:xfrm>
            <a:off x="457200" y="1078992"/>
            <a:ext cx="8229600" cy="310896"/>
          </a:xfrm>
          <a:prstGeom prst="rect">
            <a:avLst/>
          </a:prstGeom>
          <a:noFill/>
          <a:ln/>
        </p:spPr>
        <p:txBody>
          <a:bodyPr wrap="square" rtlCol="0" anchor="ctr"/>
          <a:lstStyle/>
          <a:p>
            <a:pPr indent="0" marL="0">
              <a:buNone/>
            </a:pPr>
            <a:r>
              <a:rPr lang="en-US" sz="1500" dirty="0">
                <a:solidFill>
                  <a:srgbClr val="8BAED4"/>
                </a:solidFill>
                <a:latin typeface="Arial" pitchFamily="34" charset="0"/>
                <a:ea typeface="Arial" pitchFamily="34" charset="-122"/>
                <a:cs typeface="Arial" pitchFamily="34" charset="-120"/>
              </a:rPr>
              <a:t>RevSpring, Inc.  |  Patient Engagement &amp; Revenue Cycle Management</a:t>
            </a:r>
            <a:endParaRPr lang="en-US" sz="1500" dirty="0"/>
          </a:p>
        </p:txBody>
      </p:sp>
      <p:sp>
        <p:nvSpPr>
          <p:cNvPr id="5" name="Shape 3"/>
          <p:cNvSpPr/>
          <p:nvPr/>
        </p:nvSpPr>
        <p:spPr>
          <a:xfrm>
            <a:off x="457200" y="1481328"/>
            <a:ext cx="3200400" cy="36576"/>
          </a:xfrm>
          <a:prstGeom prst="rect">
            <a:avLst/>
          </a:prstGeom>
          <a:solidFill>
            <a:srgbClr val="2E6DB4"/>
          </a:solidFill>
          <a:ln/>
        </p:spPr>
      </p:sp>
      <p:sp>
        <p:nvSpPr>
          <p:cNvPr id="6" name="Text 4"/>
          <p:cNvSpPr/>
          <p:nvPr/>
        </p:nvSpPr>
        <p:spPr>
          <a:xfrm>
            <a:off x="457200" y="1664208"/>
            <a:ext cx="1463040" cy="274320"/>
          </a:xfrm>
          <a:prstGeom prst="rect">
            <a:avLst/>
          </a:prstGeom>
          <a:noFill/>
          <a:ln/>
        </p:spPr>
        <p:txBody>
          <a:bodyPr wrap="square" lIns="0" tIns="0" rIns="0" bIns="0" rtlCol="0" anchor="ctr"/>
          <a:lstStyle/>
          <a:p>
            <a:pPr indent="0" marL="0">
              <a:buNone/>
            </a:pPr>
            <a:r>
              <a:rPr lang="en-US" sz="1000" b="1" dirty="0">
                <a:solidFill>
                  <a:srgbClr val="8BAED4"/>
                </a:solidFill>
                <a:latin typeface="Arial" pitchFamily="34" charset="0"/>
                <a:ea typeface="Arial" pitchFamily="34" charset="-122"/>
                <a:cs typeface="Arial" pitchFamily="34" charset="-120"/>
              </a:rPr>
              <a:t>Transaction:</a:t>
            </a:r>
            <a:endParaRPr lang="en-US" sz="1000" dirty="0"/>
          </a:p>
        </p:txBody>
      </p:sp>
      <p:sp>
        <p:nvSpPr>
          <p:cNvPr id="7" name="Text 5"/>
          <p:cNvSpPr/>
          <p:nvPr/>
        </p:nvSpPr>
        <p:spPr>
          <a:xfrm>
            <a:off x="2011680" y="1664208"/>
            <a:ext cx="6675120" cy="274320"/>
          </a:xfrm>
          <a:prstGeom prst="rect">
            <a:avLst/>
          </a:prstGeom>
          <a:noFill/>
          <a:ln/>
        </p:spPr>
        <p:txBody>
          <a:bodyPr wrap="square" lIns="0" tIns="0" rIns="0" bIns="0" rtlCol="0" anchor="ctr"/>
          <a:lstStyle/>
          <a:p>
            <a:pPr indent="0" marL="0">
              <a:buNone/>
            </a:pPr>
            <a:r>
              <a:rPr lang="en-US" sz="1000" dirty="0">
                <a:solidFill>
                  <a:srgbClr val="FFFFFF"/>
                </a:solidFill>
                <a:latin typeface="Arial" pitchFamily="34" charset="0"/>
                <a:ea typeface="Arial" pitchFamily="34" charset="-122"/>
                <a:cs typeface="Arial" pitchFamily="34" charset="-120"/>
              </a:rPr>
              <a:t>Secondary Buyout  |  GTCR → Frazier Healthcare Partners</a:t>
            </a:r>
            <a:endParaRPr lang="en-US" sz="1000" dirty="0"/>
          </a:p>
        </p:txBody>
      </p:sp>
      <p:sp>
        <p:nvSpPr>
          <p:cNvPr id="8" name="Text 6"/>
          <p:cNvSpPr/>
          <p:nvPr/>
        </p:nvSpPr>
        <p:spPr>
          <a:xfrm>
            <a:off x="457200" y="1993392"/>
            <a:ext cx="1463040" cy="274320"/>
          </a:xfrm>
          <a:prstGeom prst="rect">
            <a:avLst/>
          </a:prstGeom>
          <a:noFill/>
          <a:ln/>
        </p:spPr>
        <p:txBody>
          <a:bodyPr wrap="square" lIns="0" tIns="0" rIns="0" bIns="0" rtlCol="0" anchor="ctr"/>
          <a:lstStyle/>
          <a:p>
            <a:pPr indent="0" marL="0">
              <a:buNone/>
            </a:pPr>
            <a:r>
              <a:rPr lang="en-US" sz="1000" b="1" dirty="0">
                <a:solidFill>
                  <a:srgbClr val="8BAED4"/>
                </a:solidFill>
                <a:latin typeface="Arial" pitchFamily="34" charset="0"/>
                <a:ea typeface="Arial" pitchFamily="34" charset="-122"/>
                <a:cs typeface="Arial" pitchFamily="34" charset="-120"/>
              </a:rPr>
              <a:t>Enterprise Value:</a:t>
            </a:r>
            <a:endParaRPr lang="en-US" sz="1000" dirty="0"/>
          </a:p>
        </p:txBody>
      </p:sp>
      <p:sp>
        <p:nvSpPr>
          <p:cNvPr id="9" name="Text 7"/>
          <p:cNvSpPr/>
          <p:nvPr/>
        </p:nvSpPr>
        <p:spPr>
          <a:xfrm>
            <a:off x="2011680" y="1993392"/>
            <a:ext cx="6675120" cy="274320"/>
          </a:xfrm>
          <a:prstGeom prst="rect">
            <a:avLst/>
          </a:prstGeom>
          <a:noFill/>
          <a:ln/>
        </p:spPr>
        <p:txBody>
          <a:bodyPr wrap="square" lIns="0" tIns="0" rIns="0" bIns="0" rtlCol="0" anchor="ctr"/>
          <a:lstStyle/>
          <a:p>
            <a:pPr indent="0" marL="0">
              <a:buNone/>
            </a:pPr>
            <a:r>
              <a:rPr lang="en-US" sz="1000" dirty="0">
                <a:solidFill>
                  <a:srgbClr val="FFFFFF"/>
                </a:solidFill>
                <a:latin typeface="Arial" pitchFamily="34" charset="0"/>
                <a:ea typeface="Arial" pitchFamily="34" charset="-122"/>
                <a:cs typeface="Arial" pitchFamily="34" charset="-120"/>
              </a:rPr>
              <a:t>~$1.30 billion  |  5.2x Revenue  |  19.4x EBITDA</a:t>
            </a:r>
            <a:endParaRPr lang="en-US" sz="1000" dirty="0"/>
          </a:p>
        </p:txBody>
      </p:sp>
      <p:sp>
        <p:nvSpPr>
          <p:cNvPr id="10" name="Text 8"/>
          <p:cNvSpPr/>
          <p:nvPr/>
        </p:nvSpPr>
        <p:spPr>
          <a:xfrm>
            <a:off x="457200" y="2322576"/>
            <a:ext cx="1463040" cy="274320"/>
          </a:xfrm>
          <a:prstGeom prst="rect">
            <a:avLst/>
          </a:prstGeom>
          <a:noFill/>
          <a:ln/>
        </p:spPr>
        <p:txBody>
          <a:bodyPr wrap="square" lIns="0" tIns="0" rIns="0" bIns="0" rtlCol="0" anchor="ctr"/>
          <a:lstStyle/>
          <a:p>
            <a:pPr indent="0" marL="0">
              <a:buNone/>
            </a:pPr>
            <a:r>
              <a:rPr lang="en-US" sz="1000" b="1" dirty="0">
                <a:solidFill>
                  <a:srgbClr val="8BAED4"/>
                </a:solidFill>
                <a:latin typeface="Arial" pitchFamily="34" charset="0"/>
                <a:ea typeface="Arial" pitchFamily="34" charset="-122"/>
                <a:cs typeface="Arial" pitchFamily="34" charset="-120"/>
              </a:rPr>
              <a:t>Date:</a:t>
            </a:r>
            <a:endParaRPr lang="en-US" sz="1000" dirty="0"/>
          </a:p>
        </p:txBody>
      </p:sp>
      <p:sp>
        <p:nvSpPr>
          <p:cNvPr id="11" name="Text 9"/>
          <p:cNvSpPr/>
          <p:nvPr/>
        </p:nvSpPr>
        <p:spPr>
          <a:xfrm>
            <a:off x="2011680" y="2322576"/>
            <a:ext cx="6675120" cy="274320"/>
          </a:xfrm>
          <a:prstGeom prst="rect">
            <a:avLst/>
          </a:prstGeom>
          <a:noFill/>
          <a:ln/>
        </p:spPr>
        <p:txBody>
          <a:bodyPr wrap="square" lIns="0" tIns="0" rIns="0" bIns="0" rtlCol="0" anchor="ctr"/>
          <a:lstStyle/>
          <a:p>
            <a:pPr indent="0" marL="0">
              <a:buNone/>
            </a:pPr>
            <a:r>
              <a:rPr lang="en-US" sz="1000" dirty="0">
                <a:solidFill>
                  <a:srgbClr val="FFFFFF"/>
                </a:solidFill>
                <a:latin typeface="Arial" pitchFamily="34" charset="0"/>
                <a:ea typeface="Arial" pitchFamily="34" charset="-122"/>
                <a:cs typeface="Arial" pitchFamily="34" charset="-120"/>
              </a:rPr>
              <a:t>June 5, 2026</a:t>
            </a:r>
            <a:endParaRPr lang="en-US" sz="1000" dirty="0"/>
          </a:p>
        </p:txBody>
      </p:sp>
      <p:sp>
        <p:nvSpPr>
          <p:cNvPr id="12" name="Text 10"/>
          <p:cNvSpPr/>
          <p:nvPr/>
        </p:nvSpPr>
        <p:spPr>
          <a:xfrm>
            <a:off x="457200" y="2651760"/>
            <a:ext cx="1463040" cy="274320"/>
          </a:xfrm>
          <a:prstGeom prst="rect">
            <a:avLst/>
          </a:prstGeom>
          <a:noFill/>
          <a:ln/>
        </p:spPr>
        <p:txBody>
          <a:bodyPr wrap="square" lIns="0" tIns="0" rIns="0" bIns="0" rtlCol="0" anchor="ctr"/>
          <a:lstStyle/>
          <a:p>
            <a:pPr indent="0" marL="0">
              <a:buNone/>
            </a:pPr>
            <a:r>
              <a:rPr lang="en-US" sz="1000" b="1" dirty="0">
                <a:solidFill>
                  <a:srgbClr val="8BAED4"/>
                </a:solidFill>
                <a:latin typeface="Arial" pitchFamily="34" charset="0"/>
                <a:ea typeface="Arial" pitchFamily="34" charset="-122"/>
                <a:cs typeface="Arial" pitchFamily="34" charset="-120"/>
              </a:rPr>
              <a:t>Status:</a:t>
            </a:r>
            <a:endParaRPr lang="en-US" sz="1000" dirty="0"/>
          </a:p>
        </p:txBody>
      </p:sp>
      <p:sp>
        <p:nvSpPr>
          <p:cNvPr id="13" name="Text 11"/>
          <p:cNvSpPr/>
          <p:nvPr/>
        </p:nvSpPr>
        <p:spPr>
          <a:xfrm>
            <a:off x="2011680" y="2651760"/>
            <a:ext cx="6675120" cy="274320"/>
          </a:xfrm>
          <a:prstGeom prst="rect">
            <a:avLst/>
          </a:prstGeom>
          <a:noFill/>
          <a:ln/>
        </p:spPr>
        <p:txBody>
          <a:bodyPr wrap="square" lIns="0" tIns="0" rIns="0" bIns="0" rtlCol="0" anchor="ctr"/>
          <a:lstStyle/>
          <a:p>
            <a:pPr indent="0" marL="0">
              <a:buNone/>
            </a:pPr>
            <a:r>
              <a:rPr lang="en-US" sz="1000" dirty="0">
                <a:solidFill>
                  <a:srgbClr val="FFFFFF"/>
                </a:solidFill>
                <a:latin typeface="Arial" pitchFamily="34" charset="0"/>
                <a:ea typeface="Arial" pitchFamily="34" charset="-122"/>
                <a:cs typeface="Arial" pitchFamily="34" charset="-120"/>
              </a:rPr>
              <a:t>CONDITIONAL INVEST — subject to three conditions</a:t>
            </a:r>
            <a:endParaRPr lang="en-US" sz="1000" dirty="0"/>
          </a:p>
        </p:txBody>
      </p:sp>
      <p:sp>
        <p:nvSpPr>
          <p:cNvPr id="14" name="Shape 12"/>
          <p:cNvSpPr/>
          <p:nvPr/>
        </p:nvSpPr>
        <p:spPr>
          <a:xfrm>
            <a:off x="457200" y="3547872"/>
            <a:ext cx="2926080" cy="603504"/>
          </a:xfrm>
          <a:prstGeom prst="rect">
            <a:avLst/>
          </a:prstGeom>
          <a:solidFill>
            <a:srgbClr val="B45309"/>
          </a:solidFill>
          <a:ln/>
          <a:effectLst>
            <a:outerShdw sx="100000" sy="100000" kx="0" ky="0" algn="bl" rotWithShape="0" blurRad="50800" dist="25400" dir="16200000">
              <a:srgbClr val="000000">
                <a:alpha val="8000"/>
              </a:srgbClr>
            </a:outerShdw>
          </a:effectLst>
        </p:spPr>
      </p:sp>
      <p:sp>
        <p:nvSpPr>
          <p:cNvPr id="15" name="Text 13"/>
          <p:cNvSpPr/>
          <p:nvPr/>
        </p:nvSpPr>
        <p:spPr>
          <a:xfrm>
            <a:off x="457200" y="3566160"/>
            <a:ext cx="2926080" cy="347472"/>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CONDITIONAL INVEST</a:t>
            </a:r>
            <a:endParaRPr lang="en-US" sz="1500" dirty="0"/>
          </a:p>
        </p:txBody>
      </p:sp>
      <p:sp>
        <p:nvSpPr>
          <p:cNvPr id="16" name="Text 14"/>
          <p:cNvSpPr/>
          <p:nvPr/>
        </p:nvSpPr>
        <p:spPr>
          <a:xfrm>
            <a:off x="457200" y="3913632"/>
            <a:ext cx="2926080" cy="219456"/>
          </a:xfrm>
          <a:prstGeom prst="rect">
            <a:avLst/>
          </a:prstGeom>
          <a:noFill/>
          <a:ln/>
        </p:spPr>
        <p:txBody>
          <a:bodyPr wrap="square" lIns="0" tIns="0" rIns="0" bIns="0" rtlCol="0" anchor="ctr"/>
          <a:lstStyle/>
          <a:p>
            <a:pPr algn="ctr" indent="0" marL="0">
              <a:buNone/>
            </a:pPr>
            <a:r>
              <a:rPr lang="en-US" sz="900" dirty="0">
                <a:solidFill>
                  <a:srgbClr val="FFFFFF"/>
                </a:solidFill>
                <a:latin typeface="Arial" pitchFamily="34" charset="0"/>
                <a:ea typeface="Arial" pitchFamily="34" charset="-122"/>
                <a:cs typeface="Arial" pitchFamily="34" charset="-120"/>
              </a:rPr>
              <a:t>3 conditions to resolve before close</a:t>
            </a:r>
            <a:endParaRPr lang="en-US" sz="900" dirty="0"/>
          </a:p>
        </p:txBody>
      </p:sp>
      <p:sp>
        <p:nvSpPr>
          <p:cNvPr id="17" name="Shape 15"/>
          <p:cNvSpPr/>
          <p:nvPr/>
        </p:nvSpPr>
        <p:spPr>
          <a:xfrm>
            <a:off x="3566160" y="3547872"/>
            <a:ext cx="1298448" cy="603504"/>
          </a:xfrm>
          <a:prstGeom prst="rect">
            <a:avLst/>
          </a:prstGeom>
          <a:solidFill>
            <a:srgbClr val="1B3A5C"/>
          </a:solidFill>
          <a:ln/>
          <a:effectLst>
            <a:outerShdw sx="100000" sy="100000" kx="0" ky="0" algn="bl" rotWithShape="0" blurRad="50800" dist="25400" dir="16200000">
              <a:srgbClr val="000000">
                <a:alpha val="8000"/>
              </a:srgbClr>
            </a:outerShdw>
          </a:effectLst>
        </p:spPr>
      </p:sp>
      <p:sp>
        <p:nvSpPr>
          <p:cNvPr id="18" name="Text 16"/>
          <p:cNvSpPr/>
          <p:nvPr/>
        </p:nvSpPr>
        <p:spPr>
          <a:xfrm>
            <a:off x="3566160" y="3566160"/>
            <a:ext cx="1298448" cy="201168"/>
          </a:xfrm>
          <a:prstGeom prst="rect">
            <a:avLst/>
          </a:prstGeom>
          <a:noFill/>
          <a:ln/>
        </p:spPr>
        <p:txBody>
          <a:bodyPr wrap="square" lIns="0" tIns="0" rIns="0" bIns="0" rtlCol="0" anchor="ctr"/>
          <a:lstStyle/>
          <a:p>
            <a:pPr algn="ctr" indent="0" marL="0">
              <a:buNone/>
            </a:pPr>
            <a:r>
              <a:rPr lang="en-US" sz="800" dirty="0">
                <a:solidFill>
                  <a:srgbClr val="FFFFFF"/>
                </a:solidFill>
                <a:latin typeface="Arial" pitchFamily="34" charset="0"/>
                <a:ea typeface="Arial" pitchFamily="34" charset="-122"/>
                <a:cs typeface="Arial" pitchFamily="34" charset="-120"/>
              </a:rPr>
              <a:t>CIM</a:t>
            </a:r>
            <a:endParaRPr lang="en-US" sz="800" dirty="0"/>
          </a:p>
        </p:txBody>
      </p:sp>
      <p:sp>
        <p:nvSpPr>
          <p:cNvPr id="19" name="Text 17"/>
          <p:cNvSpPr/>
          <p:nvPr/>
        </p:nvSpPr>
        <p:spPr>
          <a:xfrm>
            <a:off x="3566160" y="3785616"/>
            <a:ext cx="1298448" cy="292608"/>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82.0</a:t>
            </a:r>
            <a:endParaRPr lang="en-US" sz="1600" dirty="0"/>
          </a:p>
        </p:txBody>
      </p:sp>
      <p:sp>
        <p:nvSpPr>
          <p:cNvPr id="20" name="Shape 18"/>
          <p:cNvSpPr/>
          <p:nvPr/>
        </p:nvSpPr>
        <p:spPr>
          <a:xfrm>
            <a:off x="4956048" y="3547872"/>
            <a:ext cx="1298448" cy="603504"/>
          </a:xfrm>
          <a:prstGeom prst="rect">
            <a:avLst/>
          </a:prstGeom>
          <a:solidFill>
            <a:srgbClr val="1B3A5C"/>
          </a:solidFill>
          <a:ln/>
          <a:effectLst>
            <a:outerShdw sx="100000" sy="100000" kx="0" ky="0" algn="bl" rotWithShape="0" blurRad="50800" dist="25400" dir="16200000">
              <a:srgbClr val="000000">
                <a:alpha val="8000"/>
              </a:srgbClr>
            </a:outerShdw>
          </a:effectLst>
        </p:spPr>
      </p:sp>
      <p:sp>
        <p:nvSpPr>
          <p:cNvPr id="21" name="Text 19"/>
          <p:cNvSpPr/>
          <p:nvPr/>
        </p:nvSpPr>
        <p:spPr>
          <a:xfrm>
            <a:off x="4956048" y="3566160"/>
            <a:ext cx="1298448" cy="201168"/>
          </a:xfrm>
          <a:prstGeom prst="rect">
            <a:avLst/>
          </a:prstGeom>
          <a:noFill/>
          <a:ln/>
        </p:spPr>
        <p:txBody>
          <a:bodyPr wrap="square" lIns="0" tIns="0" rIns="0" bIns="0" rtlCol="0" anchor="ctr"/>
          <a:lstStyle/>
          <a:p>
            <a:pPr algn="ctr" indent="0" marL="0">
              <a:buNone/>
            </a:pPr>
            <a:r>
              <a:rPr lang="en-US" sz="800" dirty="0">
                <a:solidFill>
                  <a:srgbClr val="FFFFFF"/>
                </a:solidFill>
                <a:latin typeface="Arial" pitchFamily="34" charset="0"/>
                <a:ea typeface="Arial" pitchFamily="34" charset="-122"/>
                <a:cs typeface="Arial" pitchFamily="34" charset="-120"/>
              </a:rPr>
              <a:t>Commercial DD</a:t>
            </a:r>
            <a:endParaRPr lang="en-US" sz="800" dirty="0"/>
          </a:p>
        </p:txBody>
      </p:sp>
      <p:sp>
        <p:nvSpPr>
          <p:cNvPr id="22" name="Text 20"/>
          <p:cNvSpPr/>
          <p:nvPr/>
        </p:nvSpPr>
        <p:spPr>
          <a:xfrm>
            <a:off x="4956048" y="3785616"/>
            <a:ext cx="1298448" cy="292608"/>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85.8</a:t>
            </a:r>
            <a:endParaRPr lang="en-US" sz="1600" dirty="0"/>
          </a:p>
        </p:txBody>
      </p:sp>
      <p:sp>
        <p:nvSpPr>
          <p:cNvPr id="23" name="Shape 21"/>
          <p:cNvSpPr/>
          <p:nvPr/>
        </p:nvSpPr>
        <p:spPr>
          <a:xfrm>
            <a:off x="6345936" y="3547872"/>
            <a:ext cx="1298448" cy="603504"/>
          </a:xfrm>
          <a:prstGeom prst="rect">
            <a:avLst/>
          </a:prstGeom>
          <a:solidFill>
            <a:srgbClr val="C00000"/>
          </a:solidFill>
          <a:ln/>
          <a:effectLst>
            <a:outerShdw sx="100000" sy="100000" kx="0" ky="0" algn="bl" rotWithShape="0" blurRad="50800" dist="25400" dir="16200000">
              <a:srgbClr val="000000">
                <a:alpha val="8000"/>
              </a:srgbClr>
            </a:outerShdw>
          </a:effectLst>
        </p:spPr>
      </p:sp>
      <p:sp>
        <p:nvSpPr>
          <p:cNvPr id="24" name="Text 22"/>
          <p:cNvSpPr/>
          <p:nvPr/>
        </p:nvSpPr>
        <p:spPr>
          <a:xfrm>
            <a:off x="6345936" y="3566160"/>
            <a:ext cx="1298448" cy="201168"/>
          </a:xfrm>
          <a:prstGeom prst="rect">
            <a:avLst/>
          </a:prstGeom>
          <a:noFill/>
          <a:ln/>
        </p:spPr>
        <p:txBody>
          <a:bodyPr wrap="square" lIns="0" tIns="0" rIns="0" bIns="0" rtlCol="0" anchor="ctr"/>
          <a:lstStyle/>
          <a:p>
            <a:pPr algn="ctr" indent="0" marL="0">
              <a:buNone/>
            </a:pPr>
            <a:r>
              <a:rPr lang="en-US" sz="800" dirty="0">
                <a:solidFill>
                  <a:srgbClr val="FFFFFF"/>
                </a:solidFill>
                <a:latin typeface="Arial" pitchFamily="34" charset="0"/>
                <a:ea typeface="Arial" pitchFamily="34" charset="-122"/>
                <a:cs typeface="Arial" pitchFamily="34" charset="-120"/>
              </a:rPr>
              <a:t>Financial DD</a:t>
            </a:r>
            <a:endParaRPr lang="en-US" sz="800" dirty="0"/>
          </a:p>
        </p:txBody>
      </p:sp>
      <p:sp>
        <p:nvSpPr>
          <p:cNvPr id="25" name="Text 23"/>
          <p:cNvSpPr/>
          <p:nvPr/>
        </p:nvSpPr>
        <p:spPr>
          <a:xfrm>
            <a:off x="6345936" y="3785616"/>
            <a:ext cx="1298448" cy="292608"/>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63.2 ⚠</a:t>
            </a:r>
            <a:endParaRPr lang="en-US" sz="1600" dirty="0"/>
          </a:p>
        </p:txBody>
      </p:sp>
      <p:sp>
        <p:nvSpPr>
          <p:cNvPr id="26" name="Shape 24"/>
          <p:cNvSpPr/>
          <p:nvPr/>
        </p:nvSpPr>
        <p:spPr>
          <a:xfrm>
            <a:off x="7735824" y="3547872"/>
            <a:ext cx="1298448" cy="603504"/>
          </a:xfrm>
          <a:prstGeom prst="rect">
            <a:avLst/>
          </a:prstGeom>
          <a:solidFill>
            <a:srgbClr val="1B3A5C"/>
          </a:solidFill>
          <a:ln/>
          <a:effectLst>
            <a:outerShdw sx="100000" sy="100000" kx="0" ky="0" algn="bl" rotWithShape="0" blurRad="50800" dist="25400" dir="16200000">
              <a:srgbClr val="000000">
                <a:alpha val="8000"/>
              </a:srgbClr>
            </a:outerShdw>
          </a:effectLst>
        </p:spPr>
      </p:sp>
      <p:sp>
        <p:nvSpPr>
          <p:cNvPr id="27" name="Text 25"/>
          <p:cNvSpPr/>
          <p:nvPr/>
        </p:nvSpPr>
        <p:spPr>
          <a:xfrm>
            <a:off x="7735824" y="3566160"/>
            <a:ext cx="1298448" cy="201168"/>
          </a:xfrm>
          <a:prstGeom prst="rect">
            <a:avLst/>
          </a:prstGeom>
          <a:noFill/>
          <a:ln/>
        </p:spPr>
        <p:txBody>
          <a:bodyPr wrap="square" lIns="0" tIns="0" rIns="0" bIns="0" rtlCol="0" anchor="ctr"/>
          <a:lstStyle/>
          <a:p>
            <a:pPr algn="ctr" indent="0" marL="0">
              <a:buNone/>
            </a:pPr>
            <a:r>
              <a:rPr lang="en-US" sz="800" dirty="0">
                <a:solidFill>
                  <a:srgbClr val="FFFFFF"/>
                </a:solidFill>
                <a:latin typeface="Arial" pitchFamily="34" charset="0"/>
                <a:ea typeface="Arial" pitchFamily="34" charset="-122"/>
                <a:cs typeface="Arial" pitchFamily="34" charset="-120"/>
              </a:rPr>
              <a:t>Management DD</a:t>
            </a:r>
            <a:endParaRPr lang="en-US" sz="800" dirty="0"/>
          </a:p>
        </p:txBody>
      </p:sp>
      <p:sp>
        <p:nvSpPr>
          <p:cNvPr id="28" name="Text 26"/>
          <p:cNvSpPr/>
          <p:nvPr/>
        </p:nvSpPr>
        <p:spPr>
          <a:xfrm>
            <a:off x="7735824" y="3785616"/>
            <a:ext cx="1298448" cy="292608"/>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70.8</a:t>
            </a:r>
            <a:endParaRPr lang="en-US" sz="1600" dirty="0"/>
          </a:p>
        </p:txBody>
      </p:sp>
      <p:sp>
        <p:nvSpPr>
          <p:cNvPr id="29" name="Text 27"/>
          <p:cNvSpPr/>
          <p:nvPr/>
        </p:nvSpPr>
        <p:spPr>
          <a:xfrm>
            <a:off x="274320" y="4864608"/>
            <a:ext cx="8595360" cy="182880"/>
          </a:xfrm>
          <a:prstGeom prst="rect">
            <a:avLst/>
          </a:prstGeom>
          <a:noFill/>
          <a:ln/>
        </p:spPr>
        <p:txBody>
          <a:bodyPr wrap="square" lIns="0" tIns="0" rIns="0" bIns="0" rtlCol="0" anchor="ctr"/>
          <a:lstStyle/>
          <a:p>
            <a:pPr algn="ctr" indent="0" marL="0">
              <a:buNone/>
            </a:pPr>
            <a:r>
              <a:rPr lang="en-US" sz="750" dirty="0">
                <a:solidFill>
                  <a:srgbClr val="3A4E5E"/>
                </a:solidFill>
                <a:latin typeface="Arial" pitchFamily="34" charset="0"/>
                <a:ea typeface="Arial" pitchFamily="34" charset="-122"/>
                <a:cs typeface="Arial" pitchFamily="34" charset="-120"/>
              </a:rPr>
              <a:t>Confidential  |  Morsebridge Healthcare  |  IC Memo  |  RevSpring, Inc.  |  June 5, 2026</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46304"/>
            <a:ext cx="8412480" cy="457200"/>
          </a:xfrm>
          <a:prstGeom prst="rect">
            <a:avLst/>
          </a:prstGeom>
          <a:noFill/>
          <a:ln/>
        </p:spPr>
        <p:txBody>
          <a:bodyPr wrap="square" lIns="0" tIns="0" rIns="0" bIns="0" rtlCol="0" anchor="ctr"/>
          <a:lstStyle/>
          <a:p>
            <a:pPr indent="0" marL="0">
              <a:buNone/>
            </a:pPr>
            <a:r>
              <a:rPr lang="en-US" sz="2000" b="1" dirty="0">
                <a:solidFill>
                  <a:srgbClr val="1B3A5C"/>
                </a:solidFill>
                <a:latin typeface="Arial" pitchFamily="34" charset="0"/>
                <a:ea typeface="Arial" pitchFamily="34" charset="-122"/>
                <a:cs typeface="Arial" pitchFamily="34" charset="-120"/>
              </a:rPr>
              <a:t>Slide 2  |  Transaction Summary</a:t>
            </a:r>
            <a:endParaRPr lang="en-US" sz="2000" dirty="0"/>
          </a:p>
        </p:txBody>
      </p:sp>
      <p:sp>
        <p:nvSpPr>
          <p:cNvPr id="3" name="Shape 1"/>
          <p:cNvSpPr/>
          <p:nvPr/>
        </p:nvSpPr>
        <p:spPr>
          <a:xfrm>
            <a:off x="365760" y="640080"/>
            <a:ext cx="822960" cy="201168"/>
          </a:xfrm>
          <a:prstGeom prst="rect">
            <a:avLst/>
          </a:prstGeom>
          <a:solidFill>
            <a:srgbClr val="1B3A5C"/>
          </a:solidFill>
          <a:ln/>
        </p:spPr>
      </p:sp>
      <p:sp>
        <p:nvSpPr>
          <p:cNvPr id="4" name="Text 2"/>
          <p:cNvSpPr/>
          <p:nvPr/>
        </p:nvSpPr>
        <p:spPr>
          <a:xfrm>
            <a:off x="365760" y="640080"/>
            <a:ext cx="822960"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SO WHAT</a:t>
            </a:r>
            <a:endParaRPr lang="en-US" sz="700" dirty="0"/>
          </a:p>
        </p:txBody>
      </p:sp>
      <p:sp>
        <p:nvSpPr>
          <p:cNvPr id="5" name="Text 3"/>
          <p:cNvSpPr/>
          <p:nvPr/>
        </p:nvSpPr>
        <p:spPr>
          <a:xfrm>
            <a:off x="1261872" y="640080"/>
            <a:ext cx="7406640" cy="201168"/>
          </a:xfrm>
          <a:prstGeom prst="rect">
            <a:avLst/>
          </a:prstGeom>
          <a:noFill/>
          <a:ln/>
        </p:spPr>
        <p:txBody>
          <a:bodyPr wrap="square" lIns="0" tIns="0" rIns="0" bIns="0" rtlCol="0" anchor="ctr"/>
          <a:lstStyle/>
          <a:p>
            <a:pPr indent="0" marL="0">
              <a:buNone/>
            </a:pPr>
            <a:r>
              <a:rPr lang="en-US" sz="850" i="1" dirty="0">
                <a:solidFill>
                  <a:srgbClr val="1B3A5C"/>
                </a:solidFill>
                <a:latin typeface="Arial" pitchFamily="34" charset="0"/>
                <a:ea typeface="Arial" pitchFamily="34" charset="-122"/>
                <a:cs typeface="Arial" pitchFamily="34" charset="-120"/>
              </a:rPr>
              <a:t>Frazier acquired RevSpring in March 2024 for $1.3B — the second PE-to-PE sale for a platform that grew 14% CAGR under GTCR's 8-year ownership.</a:t>
            </a:r>
            <a:endParaRPr lang="en-US" sz="850" dirty="0"/>
          </a:p>
        </p:txBody>
      </p:sp>
      <p:sp>
        <p:nvSpPr>
          <p:cNvPr id="6" name="Text 4"/>
          <p:cNvSpPr/>
          <p:nvPr/>
        </p:nvSpPr>
        <p:spPr>
          <a:xfrm>
            <a:off x="274320" y="4864608"/>
            <a:ext cx="8595360" cy="182880"/>
          </a:xfrm>
          <a:prstGeom prst="rect">
            <a:avLst/>
          </a:prstGeom>
          <a:noFill/>
          <a:ln/>
        </p:spPr>
        <p:txBody>
          <a:bodyPr wrap="square" lIns="0" tIns="0" rIns="0" bIns="0" rtlCol="0" anchor="ctr"/>
          <a:lstStyle/>
          <a:p>
            <a:pPr algn="ctr" indent="0" marL="0">
              <a:buNone/>
            </a:pPr>
            <a:r>
              <a:rPr lang="en-US" sz="750" dirty="0">
                <a:solidFill>
                  <a:srgbClr val="9EABB8"/>
                </a:solidFill>
                <a:latin typeface="Arial" pitchFamily="34" charset="0"/>
                <a:ea typeface="Arial" pitchFamily="34" charset="-122"/>
                <a:cs typeface="Arial" pitchFamily="34" charset="-120"/>
              </a:rPr>
              <a:t>Confidential  |  Morsebridge Healthcare  |  IC Memo  |  RevSpring, Inc.  |  June 5, 2026</a:t>
            </a:r>
            <a:endParaRPr lang="en-US" sz="750" dirty="0"/>
          </a:p>
        </p:txBody>
      </p:sp>
      <p:sp>
        <p:nvSpPr>
          <p:cNvPr id="7" name="Shape 5"/>
          <p:cNvSpPr/>
          <p:nvPr/>
        </p:nvSpPr>
        <p:spPr>
          <a:xfrm>
            <a:off x="365760" y="960120"/>
            <a:ext cx="45720" cy="219456"/>
          </a:xfrm>
          <a:prstGeom prst="rect">
            <a:avLst/>
          </a:prstGeom>
          <a:solidFill>
            <a:srgbClr val="2E6DB4"/>
          </a:solidFill>
          <a:ln/>
        </p:spPr>
      </p:sp>
      <p:sp>
        <p:nvSpPr>
          <p:cNvPr id="8" name="Text 6"/>
          <p:cNvSpPr/>
          <p:nvPr/>
        </p:nvSpPr>
        <p:spPr>
          <a:xfrm>
            <a:off x="493776" y="960120"/>
            <a:ext cx="8046720" cy="219456"/>
          </a:xfrm>
          <a:prstGeom prst="rect">
            <a:avLst/>
          </a:prstGeom>
          <a:noFill/>
          <a:ln/>
        </p:spPr>
        <p:txBody>
          <a:bodyPr wrap="square" lIns="0" tIns="0" rIns="0" bIns="0" rtlCol="0" anchor="ctr"/>
          <a:lstStyle/>
          <a:p>
            <a:pPr indent="0" marL="0">
              <a:buNone/>
            </a:pPr>
            <a:r>
              <a:rPr lang="en-US" sz="950" b="1" dirty="0">
                <a:solidFill>
                  <a:srgbClr val="1B3A5C"/>
                </a:solidFill>
                <a:latin typeface="Arial" pitchFamily="34" charset="0"/>
                <a:ea typeface="Arial" pitchFamily="34" charset="-122"/>
                <a:cs typeface="Arial" pitchFamily="34" charset="-120"/>
              </a:rPr>
              <a:t>DEAL SNAPSHOT</a:t>
            </a:r>
            <a:endParaRPr lang="en-US" sz="95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365760" y="1216152"/>
          <a:ext cx="4206240" cy="914400"/>
        </p:xfrm>
        <a:graphic>
          <a:graphicData uri="http://schemas.openxmlformats.org/drawingml/2006/table">
            <a:tbl>
              <a:tblPr/>
              <a:tblGrid>
                <a:gridCol w="1371600"/>
                <a:gridCol w="2834640"/>
              </a:tblGrid>
              <a:tr h="0">
                <a:tc>
                  <a:txBody>
                    <a:bodyPr/>
                    <a:lstStyle/>
                    <a:p>
                      <a:pPr algn="ctr" indent="0" marL="0">
                        <a:buNone/>
                      </a:pPr>
                      <a:r>
                        <a:rPr lang="en-US" sz="850" b="1" dirty="0">
                          <a:solidFill>
                            <a:srgbClr val="FFFFFF"/>
                          </a:solidFill>
                        </a:rPr>
                        <a:t>Field</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Detail</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r>
              <a:tr h="0">
                <a:tc>
                  <a:txBody>
                    <a:bodyPr/>
                    <a:lstStyle/>
                    <a:p>
                      <a:pPr algn="l" indent="0" marL="0">
                        <a:buNone/>
                      </a:pPr>
                      <a:r>
                        <a:rPr lang="en-US" sz="850" b="1" dirty="0">
                          <a:solidFill>
                            <a:srgbClr val="1E293B"/>
                          </a:solidFill>
                        </a:rPr>
                        <a:t>Target</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l" indent="0" marL="0">
                        <a:buNone/>
                      </a:pPr>
                      <a:r>
                        <a:rPr lang="en-US" sz="850" dirty="0">
                          <a:solidFill>
                            <a:srgbClr val="1E293B"/>
                          </a:solidFill>
                        </a:rPr>
                        <a:t>RevSpring, Inc. — Nashville, TN</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r>
              <a:tr h="0">
                <a:tc>
                  <a:txBody>
                    <a:bodyPr/>
                    <a:lstStyle/>
                    <a:p>
                      <a:pPr algn="l" indent="0" marL="0">
                        <a:buNone/>
                      </a:pPr>
                      <a:r>
                        <a:rPr lang="en-US" sz="850" b="1" dirty="0">
                          <a:solidFill>
                            <a:srgbClr val="1E293B"/>
                          </a:solidFill>
                        </a:rPr>
                        <a:t>Sector</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l" indent="0" marL="0">
                        <a:buNone/>
                      </a:pPr>
                      <a:r>
                        <a:rPr lang="en-US" sz="850" dirty="0">
                          <a:solidFill>
                            <a:srgbClr val="1E293B"/>
                          </a:solidFill>
                        </a:rPr>
                        <a:t>Patient Engagement &amp; Revenue Cycle Management (Healthcare IT)</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r>
              <a:tr h="0">
                <a:tc>
                  <a:txBody>
                    <a:bodyPr/>
                    <a:lstStyle/>
                    <a:p>
                      <a:pPr algn="l" indent="0" marL="0">
                        <a:buNone/>
                      </a:pPr>
                      <a:r>
                        <a:rPr lang="en-US" sz="850" b="1" dirty="0">
                          <a:solidFill>
                            <a:srgbClr val="1E293B"/>
                          </a:solidFill>
                        </a:rPr>
                        <a:t>Seller</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l" indent="0" marL="0">
                        <a:buNone/>
                      </a:pPr>
                      <a:r>
                        <a:rPr lang="en-US" sz="850" dirty="0">
                          <a:solidFill>
                            <a:srgbClr val="1E293B"/>
                          </a:solidFill>
                        </a:rPr>
                        <a:t>GTCR, LLC (Chicago) — held since October 2016</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r>
              <a:tr h="0">
                <a:tc>
                  <a:txBody>
                    <a:bodyPr/>
                    <a:lstStyle/>
                    <a:p>
                      <a:pPr algn="l" indent="0" marL="0">
                        <a:buNone/>
                      </a:pPr>
                      <a:r>
                        <a:rPr lang="en-US" sz="850" b="1" dirty="0">
                          <a:solidFill>
                            <a:srgbClr val="1E293B"/>
                          </a:solidFill>
                        </a:rPr>
                        <a:t>Buyer</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l" indent="0" marL="0">
                        <a:buNone/>
                      </a:pPr>
                      <a:r>
                        <a:rPr lang="en-US" sz="850" dirty="0">
                          <a:solidFill>
                            <a:srgbClr val="1E293B"/>
                          </a:solidFill>
                        </a:rPr>
                        <a:t>Frazier Healthcare Partners; Co-investors: NEA, 22C Capital (existing Morsebridge LP relationships)</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r>
              <a:tr h="0">
                <a:tc>
                  <a:txBody>
                    <a:bodyPr/>
                    <a:lstStyle/>
                    <a:p>
                      <a:pPr algn="l" indent="0" marL="0">
                        <a:buNone/>
                      </a:pPr>
                      <a:r>
                        <a:rPr lang="en-US" sz="850" b="1" dirty="0">
                          <a:solidFill>
                            <a:srgbClr val="1E293B"/>
                          </a:solidFill>
                        </a:rPr>
                        <a:t>Deal Type</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l" indent="0" marL="0">
                        <a:buNone/>
                      </a:pPr>
                      <a:r>
                        <a:rPr lang="en-US" sz="850" dirty="0">
                          <a:solidFill>
                            <a:srgbClr val="1E293B"/>
                          </a:solidFill>
                        </a:rPr>
                        <a:t>Secondary Buyout (PE-to-PE)</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r>
              <a:tr h="0">
                <a:tc>
                  <a:txBody>
                    <a:bodyPr/>
                    <a:lstStyle/>
                    <a:p>
                      <a:pPr algn="l" indent="0" marL="0">
                        <a:buNone/>
                      </a:pPr>
                      <a:r>
                        <a:rPr lang="en-US" sz="850" b="1" dirty="0">
                          <a:solidFill>
                            <a:srgbClr val="1E293B"/>
                          </a:solidFill>
                        </a:rPr>
                        <a:t>Close Date</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l" indent="0" marL="0">
                        <a:buNone/>
                      </a:pPr>
                      <a:r>
                        <a:rPr lang="en-US" sz="850" dirty="0">
                          <a:solidFill>
                            <a:srgbClr val="1E293B"/>
                          </a:solidFill>
                        </a:rPr>
                        <a:t>March 12, 2024</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r>
              <a:tr h="0">
                <a:tc>
                  <a:txBody>
                    <a:bodyPr/>
                    <a:lstStyle/>
                    <a:p>
                      <a:pPr algn="l" indent="0" marL="0">
                        <a:buNone/>
                      </a:pPr>
                      <a:r>
                        <a:rPr lang="en-US" sz="850" b="1" dirty="0">
                          <a:solidFill>
                            <a:srgbClr val="1E293B"/>
                          </a:solidFill>
                        </a:rPr>
                        <a:t>Sell-Side Advisors</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l" indent="0" marL="0">
                        <a:buNone/>
                      </a:pPr>
                      <a:r>
                        <a:rPr lang="en-US" sz="850" dirty="0">
                          <a:solidFill>
                            <a:srgbClr val="1E293B"/>
                          </a:solidFill>
                        </a:rPr>
                        <a:t>Morgan Stanley &amp; Co. LLC; Triple Tree LLC</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r>
            </a:tbl>
          </a:graphicData>
        </a:graphic>
      </p:graphicFrame>
      <p:sp>
        <p:nvSpPr>
          <p:cNvPr id="10" name="Shape 7"/>
          <p:cNvSpPr/>
          <p:nvPr/>
        </p:nvSpPr>
        <p:spPr>
          <a:xfrm>
            <a:off x="4754880" y="960120"/>
            <a:ext cx="45720" cy="219456"/>
          </a:xfrm>
          <a:prstGeom prst="rect">
            <a:avLst/>
          </a:prstGeom>
          <a:solidFill>
            <a:srgbClr val="2E6DB4"/>
          </a:solidFill>
          <a:ln/>
        </p:spPr>
      </p:sp>
      <p:sp>
        <p:nvSpPr>
          <p:cNvPr id="11" name="Text 8"/>
          <p:cNvSpPr/>
          <p:nvPr/>
        </p:nvSpPr>
        <p:spPr>
          <a:xfrm>
            <a:off x="4882896" y="960120"/>
            <a:ext cx="3657600" cy="219456"/>
          </a:xfrm>
          <a:prstGeom prst="rect">
            <a:avLst/>
          </a:prstGeom>
          <a:noFill/>
          <a:ln/>
        </p:spPr>
        <p:txBody>
          <a:bodyPr wrap="square" lIns="0" tIns="0" rIns="0" bIns="0" rtlCol="0" anchor="ctr"/>
          <a:lstStyle/>
          <a:p>
            <a:pPr indent="0" marL="0">
              <a:buNone/>
            </a:pPr>
            <a:r>
              <a:rPr lang="en-US" sz="950" b="1" dirty="0">
                <a:solidFill>
                  <a:srgbClr val="1B3A5C"/>
                </a:solidFill>
                <a:latin typeface="Arial" pitchFamily="34" charset="0"/>
                <a:ea typeface="Arial" pitchFamily="34" charset="-122"/>
                <a:cs typeface="Arial" pitchFamily="34" charset="-120"/>
              </a:rPr>
              <a:t>FINANCIAL OVERVIEW</a:t>
            </a:r>
            <a:endParaRPr lang="en-US" sz="950" dirty="0"/>
          </a:p>
        </p:txBody>
      </p:sp>
      <p:graphicFrame>
        <p:nvGraphicFramePr>
          <p:cNvPr id="5" name="Table 1"/>
          <p:cNvGraphicFramePr>
            <a:graphicFrameLocks noGrp="1"/>
          </p:cNvGraphicFramePr>
          <p:nvPr>
            <p:extLst>
              <p:ext uri="{D42A27DB-BD31-4B8C-83A1-F6EECF244321}">
                <p14:modId xmlns:p14="http://schemas.microsoft.com/office/powerpoint/2010/main" val="1579011935"/>
              </p:ext>
            </p:extLst>
          </p:nvPr>
        </p:nvGraphicFramePr>
        <p:xfrm>
          <a:off x="4754880" y="1216152"/>
          <a:ext cx="4023360" cy="914400"/>
        </p:xfrm>
        <a:graphic>
          <a:graphicData uri="http://schemas.openxmlformats.org/drawingml/2006/table">
            <a:tbl>
              <a:tblPr/>
              <a:tblGrid>
                <a:gridCol w="1828800"/>
                <a:gridCol w="2194560"/>
              </a:tblGrid>
              <a:tr h="0">
                <a:tc>
                  <a:txBody>
                    <a:bodyPr/>
                    <a:lstStyle/>
                    <a:p>
                      <a:pPr algn="ctr" indent="0" marL="0">
                        <a:buNone/>
                      </a:pPr>
                      <a:r>
                        <a:rPr lang="en-US" sz="850" b="1" dirty="0">
                          <a:solidFill>
                            <a:srgbClr val="FFFFFF"/>
                          </a:solidFill>
                        </a:rPr>
                        <a:t>Metric</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Value</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r>
              <a:tr h="0">
                <a:tc>
                  <a:txBody>
                    <a:bodyPr/>
                    <a:lstStyle/>
                    <a:p>
                      <a:pPr algn="l" indent="0" marL="0">
                        <a:buNone/>
                      </a:pPr>
                      <a:r>
                        <a:rPr lang="en-US" sz="850" b="1" dirty="0">
                          <a:solidFill>
                            <a:srgbClr val="1E293B"/>
                          </a:solidFill>
                        </a:rPr>
                        <a:t>Enterprise Value</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1B3A5C"/>
                          </a:solidFill>
                        </a:rPr>
                        <a:t>~$1,300M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r>
              <a:tr h="0">
                <a:tc>
                  <a:txBody>
                    <a:bodyPr/>
                    <a:lstStyle/>
                    <a:p>
                      <a:pPr algn="l" indent="0" marL="0">
                        <a:buNone/>
                      </a:pPr>
                      <a:r>
                        <a:rPr lang="en-US" sz="850" b="1" dirty="0">
                          <a:solidFill>
                            <a:srgbClr val="1E293B"/>
                          </a:solidFill>
                        </a:rPr>
                        <a:t>Equity Value</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2E6DB4"/>
                          </a:solidFill>
                        </a:rPr>
                        <a:t>~$990M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r>
              <a:tr h="0">
                <a:tc>
                  <a:txBody>
                    <a:bodyPr/>
                    <a:lstStyle/>
                    <a:p>
                      <a:pPr algn="l" indent="0" marL="0">
                        <a:buNone/>
                      </a:pPr>
                      <a:r>
                        <a:rPr lang="en-US" sz="850" b="1" dirty="0">
                          <a:solidFill>
                            <a:srgbClr val="1E293B"/>
                          </a:solidFill>
                        </a:rPr>
                        <a:t>Net Debt at Close</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1B3A5C"/>
                          </a:solidFill>
                        </a:rPr>
                        <a:t>~$310M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r>
              <a:tr h="0">
                <a:tc>
                  <a:txBody>
                    <a:bodyPr/>
                    <a:lstStyle/>
                    <a:p>
                      <a:pPr algn="l" indent="0" marL="0">
                        <a:buNone/>
                      </a:pPr>
                      <a:r>
                        <a:rPr lang="en-US" sz="850" b="1" dirty="0">
                          <a:solidFill>
                            <a:srgbClr val="1E293B"/>
                          </a:solidFill>
                        </a:rPr>
                        <a:t>Entry EV / Revenue</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l" indent="0" marL="0">
                        <a:buNone/>
                      </a:pPr>
                      <a:r>
                        <a:rPr lang="en-US" sz="850" dirty="0">
                          <a:solidFill>
                            <a:srgbClr val="1E293B"/>
                          </a:solidFill>
                        </a:rPr>
                        <a:t>~5.2x (FY2023A: $248M)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r>
              <a:tr h="0">
                <a:tc>
                  <a:txBody>
                    <a:bodyPr/>
                    <a:lstStyle/>
                    <a:p>
                      <a:pPr algn="l" indent="0" marL="0">
                        <a:buNone/>
                      </a:pPr>
                      <a:r>
                        <a:rPr lang="en-US" sz="850" b="1" dirty="0">
                          <a:solidFill>
                            <a:srgbClr val="1E293B"/>
                          </a:solidFill>
                        </a:rPr>
                        <a:t>Entry EV / EBITDA</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l" indent="0" marL="0">
                        <a:buNone/>
                      </a:pPr>
                      <a:r>
                        <a:rPr lang="en-US" sz="850" dirty="0">
                          <a:solidFill>
                            <a:srgbClr val="1E293B"/>
                          </a:solidFill>
                        </a:rPr>
                        <a:t>~19.4x (FY2023A: $67M)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r>
              <a:tr h="0">
                <a:tc>
                  <a:txBody>
                    <a:bodyPr/>
                    <a:lstStyle/>
                    <a:p>
                      <a:pPr algn="l" indent="0" marL="0">
                        <a:buNone/>
                      </a:pPr>
                      <a:r>
                        <a:rPr lang="en-US" sz="850" b="1" dirty="0">
                          <a:solidFill>
                            <a:srgbClr val="1E293B"/>
                          </a:solidFill>
                        </a:rPr>
                        <a:t>Net Debt / EBITDA</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l" indent="0" marL="0">
                        <a:buNone/>
                      </a:pPr>
                      <a:r>
                        <a:rPr lang="en-US" sz="850" dirty="0">
                          <a:solidFill>
                            <a:srgbClr val="1E293B"/>
                          </a:solidFill>
                        </a:rPr>
                        <a:t>4.3x — within 4.0–5.5x mandate range</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r>
              <a:tr h="0">
                <a:tc>
                  <a:txBody>
                    <a:bodyPr/>
                    <a:lstStyle/>
                    <a:p>
                      <a:pPr algn="l" indent="0" marL="0">
                        <a:buNone/>
                      </a:pPr>
                      <a:r>
                        <a:rPr lang="en-US" sz="850" b="1" dirty="0">
                          <a:solidFill>
                            <a:srgbClr val="1E293B"/>
                          </a:solidFill>
                        </a:rPr>
                        <a:t>Frazier Equity</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l" indent="0" marL="0">
                        <a:buNone/>
                      </a:pPr>
                      <a:r>
                        <a:rPr lang="en-US" sz="850" dirty="0">
                          <a:solidFill>
                            <a:srgbClr val="1E293B"/>
                          </a:solidFill>
                        </a:rPr>
                        <a:t>$550M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r>
              <a:tr h="0">
                <a:tc>
                  <a:txBody>
                    <a:bodyPr/>
                    <a:lstStyle/>
                    <a:p>
                      <a:pPr algn="l" indent="0" marL="0">
                        <a:buNone/>
                      </a:pPr>
                      <a:r>
                        <a:rPr lang="en-US" sz="850" b="1" dirty="0">
                          <a:solidFill>
                            <a:srgbClr val="1E293B"/>
                          </a:solidFill>
                        </a:rPr>
                        <a:t>Co-Invest (NEA + 22C)</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l" indent="0" marL="0">
                        <a:buNone/>
                      </a:pPr>
                      <a:r>
                        <a:rPr lang="en-US" sz="850" dirty="0">
                          <a:solidFill>
                            <a:srgbClr val="1E293B"/>
                          </a:solidFill>
                        </a:rPr>
                        <a:t>$180M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r>
              <a:tr h="0">
                <a:tc>
                  <a:txBody>
                    <a:bodyPr/>
                    <a:lstStyle/>
                    <a:p>
                      <a:pPr algn="l" indent="0" marL="0">
                        <a:buNone/>
                      </a:pPr>
                      <a:r>
                        <a:rPr lang="en-US" sz="850" b="1" dirty="0">
                          <a:solidFill>
                            <a:srgbClr val="1E293B"/>
                          </a:solidFill>
                        </a:rPr>
                        <a:t>Mgmt. Rollover</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l" indent="0" marL="0">
                        <a:buNone/>
                      </a:pPr>
                      <a:r>
                        <a:rPr lang="en-US" sz="850" dirty="0">
                          <a:solidFill>
                            <a:srgbClr val="1E293B"/>
                          </a:solidFill>
                        </a:rPr>
                        <a:t>~$45M (~4.5% of equity)</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r>
            </a:tbl>
          </a:graphicData>
        </a:graphic>
      </p:graphicFrame>
      <p:sp>
        <p:nvSpPr>
          <p:cNvPr id="13" name="Shape 9"/>
          <p:cNvSpPr/>
          <p:nvPr/>
        </p:nvSpPr>
        <p:spPr>
          <a:xfrm>
            <a:off x="365760" y="3675888"/>
            <a:ext cx="45720" cy="219456"/>
          </a:xfrm>
          <a:prstGeom prst="rect">
            <a:avLst/>
          </a:prstGeom>
          <a:solidFill>
            <a:srgbClr val="2E6DB4"/>
          </a:solidFill>
          <a:ln/>
        </p:spPr>
      </p:sp>
      <p:sp>
        <p:nvSpPr>
          <p:cNvPr id="14" name="Text 10"/>
          <p:cNvSpPr/>
          <p:nvPr/>
        </p:nvSpPr>
        <p:spPr>
          <a:xfrm>
            <a:off x="493776" y="3675888"/>
            <a:ext cx="8046720" cy="219456"/>
          </a:xfrm>
          <a:prstGeom prst="rect">
            <a:avLst/>
          </a:prstGeom>
          <a:noFill/>
          <a:ln/>
        </p:spPr>
        <p:txBody>
          <a:bodyPr wrap="square" lIns="0" tIns="0" rIns="0" bIns="0" rtlCol="0" anchor="ctr"/>
          <a:lstStyle/>
          <a:p>
            <a:pPr indent="0" marL="0">
              <a:buNone/>
            </a:pPr>
            <a:r>
              <a:rPr lang="en-US" sz="950" b="1" dirty="0">
                <a:solidFill>
                  <a:srgbClr val="1B3A5C"/>
                </a:solidFill>
                <a:latin typeface="Arial" pitchFamily="34" charset="0"/>
                <a:ea typeface="Arial" pitchFamily="34" charset="-122"/>
                <a:cs typeface="Arial" pitchFamily="34" charset="-120"/>
              </a:rPr>
              <a:t>GTCR HOLD SUMMARY (2016–2024)</a:t>
            </a:r>
            <a:endParaRPr lang="en-US" sz="950" dirty="0"/>
          </a:p>
        </p:txBody>
      </p:sp>
      <p:graphicFrame>
        <p:nvGraphicFramePr>
          <p:cNvPr id="7" name="Table 2"/>
          <p:cNvGraphicFramePr>
            <a:graphicFrameLocks noGrp="1"/>
          </p:cNvGraphicFramePr>
          <p:nvPr>
            <p:extLst>
              <p:ext uri="{D42A27DB-BD31-4B8C-83A1-F6EECF244321}">
                <p14:modId xmlns:p14="http://schemas.microsoft.com/office/powerpoint/2010/main" val="1579011935"/>
              </p:ext>
            </p:extLst>
          </p:nvPr>
        </p:nvGraphicFramePr>
        <p:xfrm>
          <a:off x="365760" y="3913632"/>
          <a:ext cx="8412480" cy="914400"/>
        </p:xfrm>
        <a:graphic>
          <a:graphicData uri="http://schemas.openxmlformats.org/drawingml/2006/table">
            <a:tbl>
              <a:tblPr/>
              <a:tblGrid>
                <a:gridCol w="2011680"/>
                <a:gridCol w="1645920"/>
                <a:gridCol w="1828800"/>
                <a:gridCol w="2926080"/>
              </a:tblGrid>
              <a:tr h="0">
                <a:tc>
                  <a:txBody>
                    <a:bodyPr/>
                    <a:lstStyle/>
                    <a:p>
                      <a:pPr algn="ctr" indent="0" marL="0">
                        <a:buNone/>
                      </a:pPr>
                      <a:r>
                        <a:rPr lang="en-US" sz="850" b="1" dirty="0">
                          <a:solidFill>
                            <a:srgbClr val="FFFFFF"/>
                          </a:solidFill>
                        </a:rPr>
                        <a:t>Metric</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Entry (2016)</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Exit (2024E)</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Change</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r>
              <a:tr h="0">
                <a:tc>
                  <a:txBody>
                    <a:bodyPr/>
                    <a:lstStyle/>
                    <a:p>
                      <a:pPr algn="l" indent="0" marL="0">
                        <a:buNone/>
                      </a:pPr>
                      <a:r>
                        <a:rPr lang="en-US" sz="850" dirty="0">
                          <a:solidFill>
                            <a:srgbClr val="1E293B"/>
                          </a:solidFill>
                        </a:rPr>
                        <a:t>Revenue</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1B3A5C"/>
                          </a:solidFill>
                        </a:rPr>
                        <a:t>~$85M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1A7A2E"/>
                          </a:solidFill>
                        </a:rPr>
                        <a:t>~$300M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1A7A2E"/>
                          </a:solidFill>
                        </a:rPr>
                        <a:t>~14% CAGR</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r>
              <a:tr h="0">
                <a:tc>
                  <a:txBody>
                    <a:bodyPr/>
                    <a:lstStyle/>
                    <a:p>
                      <a:pPr algn="l" indent="0" marL="0">
                        <a:buNone/>
                      </a:pPr>
                      <a:r>
                        <a:rPr lang="en-US" sz="850" dirty="0">
                          <a:solidFill>
                            <a:srgbClr val="1E293B"/>
                          </a:solidFill>
                        </a:rPr>
                        <a:t>EBITDA</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B3A5C"/>
                          </a:solidFill>
                        </a:rPr>
                        <a:t>~$18M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7A2E"/>
                          </a:solidFill>
                        </a:rPr>
                        <a:t>~$82.5M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7A2E"/>
                          </a:solidFill>
                        </a:rPr>
                        <a:t>+358%</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r>
              <a:tr h="0">
                <a:tc>
                  <a:txBody>
                    <a:bodyPr/>
                    <a:lstStyle/>
                    <a:p>
                      <a:pPr algn="l" indent="0" marL="0">
                        <a:buNone/>
                      </a:pPr>
                      <a:r>
                        <a:rPr lang="en-US" sz="850" dirty="0">
                          <a:solidFill>
                            <a:srgbClr val="1E293B"/>
                          </a:solidFill>
                        </a:rPr>
                        <a:t>EV</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1B3A5C"/>
                          </a:solidFill>
                        </a:rPr>
                        <a:t>~$350M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1A7A2E"/>
                          </a:solidFill>
                        </a:rPr>
                        <a:t>~$1,300M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1A7A2E"/>
                          </a:solidFill>
                        </a:rPr>
                        <a:t>3.7x</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r>
              <a:tr h="0">
                <a:tc>
                  <a:txBody>
                    <a:bodyPr/>
                    <a:lstStyle/>
                    <a:p>
                      <a:pPr algn="l" indent="0" marL="0">
                        <a:buNone/>
                      </a:pPr>
                      <a:r>
                        <a:rPr lang="en-US" sz="850" dirty="0">
                          <a:solidFill>
                            <a:srgbClr val="1E293B"/>
                          </a:solidFill>
                        </a:rPr>
                        <a:t>Acquisitions</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B3A5C"/>
                          </a:solidFill>
                        </a:rPr>
                        <a:t>0</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7A2E"/>
                          </a:solidFill>
                        </a:rPr>
                        <a:t>5</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l" indent="0" marL="0">
                        <a:buNone/>
                      </a:pPr>
                      <a:r>
                        <a:rPr lang="en-US" sz="850" dirty="0">
                          <a:solidFill>
                            <a:srgbClr val="1E293B"/>
                          </a:solidFill>
                        </a:rPr>
                        <a:t>Kyruus + TrustCommerce under Frazier</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46304"/>
            <a:ext cx="8412480" cy="457200"/>
          </a:xfrm>
          <a:prstGeom prst="rect">
            <a:avLst/>
          </a:prstGeom>
          <a:noFill/>
          <a:ln/>
        </p:spPr>
        <p:txBody>
          <a:bodyPr wrap="square" lIns="0" tIns="0" rIns="0" bIns="0" rtlCol="0" anchor="ctr"/>
          <a:lstStyle/>
          <a:p>
            <a:pPr indent="0" marL="0">
              <a:buNone/>
            </a:pPr>
            <a:r>
              <a:rPr lang="en-US" sz="2000" b="1" dirty="0">
                <a:solidFill>
                  <a:srgbClr val="1B3A5C"/>
                </a:solidFill>
                <a:latin typeface="Arial" pitchFamily="34" charset="0"/>
                <a:ea typeface="Arial" pitchFamily="34" charset="-122"/>
                <a:cs typeface="Arial" pitchFamily="34" charset="-120"/>
              </a:rPr>
              <a:t>Slide 3  |  Executive Summary</a:t>
            </a:r>
            <a:endParaRPr lang="en-US" sz="2000" dirty="0"/>
          </a:p>
        </p:txBody>
      </p:sp>
      <p:sp>
        <p:nvSpPr>
          <p:cNvPr id="3" name="Shape 1"/>
          <p:cNvSpPr/>
          <p:nvPr/>
        </p:nvSpPr>
        <p:spPr>
          <a:xfrm>
            <a:off x="365760" y="640080"/>
            <a:ext cx="822960" cy="201168"/>
          </a:xfrm>
          <a:prstGeom prst="rect">
            <a:avLst/>
          </a:prstGeom>
          <a:solidFill>
            <a:srgbClr val="1B3A5C"/>
          </a:solidFill>
          <a:ln/>
        </p:spPr>
      </p:sp>
      <p:sp>
        <p:nvSpPr>
          <p:cNvPr id="4" name="Text 2"/>
          <p:cNvSpPr/>
          <p:nvPr/>
        </p:nvSpPr>
        <p:spPr>
          <a:xfrm>
            <a:off x="365760" y="640080"/>
            <a:ext cx="822960"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SO WHAT</a:t>
            </a:r>
            <a:endParaRPr lang="en-US" sz="700" dirty="0"/>
          </a:p>
        </p:txBody>
      </p:sp>
      <p:sp>
        <p:nvSpPr>
          <p:cNvPr id="5" name="Text 3"/>
          <p:cNvSpPr/>
          <p:nvPr/>
        </p:nvSpPr>
        <p:spPr>
          <a:xfrm>
            <a:off x="1261872" y="640080"/>
            <a:ext cx="7406640" cy="201168"/>
          </a:xfrm>
          <a:prstGeom prst="rect">
            <a:avLst/>
          </a:prstGeom>
          <a:noFill/>
          <a:ln/>
        </p:spPr>
        <p:txBody>
          <a:bodyPr wrap="square" lIns="0" tIns="0" rIns="0" bIns="0" rtlCol="0" anchor="ctr"/>
          <a:lstStyle/>
          <a:p>
            <a:pPr indent="0" marL="0">
              <a:buNone/>
            </a:pPr>
            <a:r>
              <a:rPr lang="en-US" sz="850" i="1" dirty="0">
                <a:solidFill>
                  <a:srgbClr val="1B3A5C"/>
                </a:solidFill>
                <a:latin typeface="Arial" pitchFamily="34" charset="0"/>
                <a:ea typeface="Arial" pitchFamily="34" charset="-122"/>
                <a:cs typeface="Arial" pitchFamily="34" charset="-120"/>
              </a:rPr>
              <a:t>RevSpring is a high-quality asset with best-in-class revenue metrics — but the deal requires model correction and pro forma acquisitions before Morsebridge can commit capital.</a:t>
            </a:r>
            <a:endParaRPr lang="en-US" sz="850" dirty="0"/>
          </a:p>
        </p:txBody>
      </p:sp>
      <p:sp>
        <p:nvSpPr>
          <p:cNvPr id="6" name="Text 4"/>
          <p:cNvSpPr/>
          <p:nvPr/>
        </p:nvSpPr>
        <p:spPr>
          <a:xfrm>
            <a:off x="274320" y="4864608"/>
            <a:ext cx="8595360" cy="182880"/>
          </a:xfrm>
          <a:prstGeom prst="rect">
            <a:avLst/>
          </a:prstGeom>
          <a:noFill/>
          <a:ln/>
        </p:spPr>
        <p:txBody>
          <a:bodyPr wrap="square" lIns="0" tIns="0" rIns="0" bIns="0" rtlCol="0" anchor="ctr"/>
          <a:lstStyle/>
          <a:p>
            <a:pPr algn="ctr" indent="0" marL="0">
              <a:buNone/>
            </a:pPr>
            <a:r>
              <a:rPr lang="en-US" sz="750" dirty="0">
                <a:solidFill>
                  <a:srgbClr val="9EABB8"/>
                </a:solidFill>
                <a:latin typeface="Arial" pitchFamily="34" charset="0"/>
                <a:ea typeface="Arial" pitchFamily="34" charset="-122"/>
                <a:cs typeface="Arial" pitchFamily="34" charset="-120"/>
              </a:rPr>
              <a:t>Confidential  |  Morsebridge Healthcare  |  IC Memo  |  RevSpring, Inc.  |  June 5, 2026</a:t>
            </a:r>
            <a:endParaRPr lang="en-US" sz="750" dirty="0"/>
          </a:p>
        </p:txBody>
      </p:sp>
      <p:sp>
        <p:nvSpPr>
          <p:cNvPr id="7" name="Shape 5"/>
          <p:cNvSpPr/>
          <p:nvPr/>
        </p:nvSpPr>
        <p:spPr>
          <a:xfrm>
            <a:off x="365760" y="960120"/>
            <a:ext cx="5486400" cy="585216"/>
          </a:xfrm>
          <a:prstGeom prst="rect">
            <a:avLst/>
          </a:prstGeom>
          <a:solidFill>
            <a:srgbClr val="F7F8FA"/>
          </a:solidFill>
          <a:ln w="6350">
            <a:solidFill>
              <a:srgbClr val="D0D5DD"/>
            </a:solidFill>
            <a:prstDash val="solid"/>
          </a:ln>
        </p:spPr>
      </p:sp>
      <p:sp>
        <p:nvSpPr>
          <p:cNvPr id="8" name="Shape 6"/>
          <p:cNvSpPr/>
          <p:nvPr/>
        </p:nvSpPr>
        <p:spPr>
          <a:xfrm>
            <a:off x="365760" y="960120"/>
            <a:ext cx="45720" cy="585216"/>
          </a:xfrm>
          <a:prstGeom prst="rect">
            <a:avLst/>
          </a:prstGeom>
          <a:solidFill>
            <a:srgbClr val="1A7A2E"/>
          </a:solidFill>
          <a:ln/>
        </p:spPr>
      </p:sp>
      <p:sp>
        <p:nvSpPr>
          <p:cNvPr id="9" name="Shape 7"/>
          <p:cNvSpPr/>
          <p:nvPr/>
        </p:nvSpPr>
        <p:spPr>
          <a:xfrm>
            <a:off x="493776" y="1033272"/>
            <a:ext cx="640080" cy="182880"/>
          </a:xfrm>
          <a:prstGeom prst="rect">
            <a:avLst>
              <a:gd name="adj" fmla="val 15000"/>
            </a:avLst>
          </a:prstGeom>
          <a:solidFill>
            <a:srgbClr val="1A7A2E"/>
          </a:solidFill>
          <a:ln/>
        </p:spPr>
      </p:sp>
      <p:sp>
        <p:nvSpPr>
          <p:cNvPr id="10" name="Text 8"/>
          <p:cNvSpPr/>
          <p:nvPr/>
        </p:nvSpPr>
        <p:spPr>
          <a:xfrm>
            <a:off x="493776" y="1033272"/>
            <a:ext cx="640080" cy="182880"/>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INVEST</a:t>
            </a:r>
            <a:endParaRPr lang="en-US" sz="700" dirty="0"/>
          </a:p>
        </p:txBody>
      </p:sp>
      <p:sp>
        <p:nvSpPr>
          <p:cNvPr id="11" name="Text 9"/>
          <p:cNvSpPr/>
          <p:nvPr/>
        </p:nvSpPr>
        <p:spPr>
          <a:xfrm>
            <a:off x="1207008" y="1005840"/>
            <a:ext cx="4462272" cy="201168"/>
          </a:xfrm>
          <a:prstGeom prst="rect">
            <a:avLst/>
          </a:prstGeom>
          <a:noFill/>
          <a:ln/>
        </p:spPr>
        <p:txBody>
          <a:bodyPr wrap="square" lIns="0" tIns="0" rIns="0" bIns="0" rtlCol="0" anchor="ctr"/>
          <a:lstStyle/>
          <a:p>
            <a:pPr indent="0" marL="0">
              <a:buNone/>
            </a:pPr>
            <a:r>
              <a:rPr lang="en-US" sz="950" b="1" dirty="0">
                <a:solidFill>
                  <a:srgbClr val="1B3A5C"/>
                </a:solidFill>
                <a:latin typeface="Arial" pitchFamily="34" charset="0"/>
                <a:ea typeface="Arial" pitchFamily="34" charset="-122"/>
                <a:cs typeface="Arial" pitchFamily="34" charset="-120"/>
              </a:rPr>
              <a:t>Market-Leading Platform with Non-Replicable Moat</a:t>
            </a:r>
            <a:endParaRPr lang="en-US" sz="950" dirty="0"/>
          </a:p>
        </p:txBody>
      </p:sp>
      <p:sp>
        <p:nvSpPr>
          <p:cNvPr id="12" name="Text 10"/>
          <p:cNvSpPr/>
          <p:nvPr/>
        </p:nvSpPr>
        <p:spPr>
          <a:xfrm>
            <a:off x="1207008" y="1207008"/>
            <a:ext cx="4462272" cy="310896"/>
          </a:xfrm>
          <a:prstGeom prst="rect">
            <a:avLst/>
          </a:prstGeom>
          <a:noFill/>
          <a:ln/>
        </p:spPr>
        <p:txBody>
          <a:bodyPr wrap="square" lIns="0" tIns="0" rIns="0" bIns="0" rtlCol="0" anchor="ctr"/>
          <a:lstStyle/>
          <a:p>
            <a:pPr indent="0" marL="0">
              <a:buNone/>
            </a:pPr>
            <a:r>
              <a:rPr lang="en-US" sz="750" dirty="0">
                <a:solidFill>
                  <a:srgbClr val="374151"/>
                </a:solidFill>
                <a:latin typeface="Arial" pitchFamily="34" charset="0"/>
                <a:ea typeface="Arial" pitchFamily="34" charset="-122"/>
                <a:cs typeface="Arial" pitchFamily="34" charset="-120"/>
              </a:rPr>
              <a:t>#1 KLAS Patient Financial Engagement (2nd yr), 300M consumer analytics database, 85% U.S. hospital EHR coverage. Positioned at the intersection of regulatory compliance mandates and rising patient financial responsibility.</a:t>
            </a:r>
            <a:endParaRPr lang="en-US" sz="750" dirty="0"/>
          </a:p>
        </p:txBody>
      </p:sp>
      <p:sp>
        <p:nvSpPr>
          <p:cNvPr id="13" name="Shape 11"/>
          <p:cNvSpPr/>
          <p:nvPr/>
        </p:nvSpPr>
        <p:spPr>
          <a:xfrm>
            <a:off x="365760" y="1618488"/>
            <a:ext cx="5486400" cy="585216"/>
          </a:xfrm>
          <a:prstGeom prst="rect">
            <a:avLst/>
          </a:prstGeom>
          <a:solidFill>
            <a:srgbClr val="FFFFFF"/>
          </a:solidFill>
          <a:ln w="6350">
            <a:solidFill>
              <a:srgbClr val="D0D5DD"/>
            </a:solidFill>
            <a:prstDash val="solid"/>
          </a:ln>
        </p:spPr>
      </p:sp>
      <p:sp>
        <p:nvSpPr>
          <p:cNvPr id="14" name="Shape 12"/>
          <p:cNvSpPr/>
          <p:nvPr/>
        </p:nvSpPr>
        <p:spPr>
          <a:xfrm>
            <a:off x="365760" y="1618488"/>
            <a:ext cx="45720" cy="585216"/>
          </a:xfrm>
          <a:prstGeom prst="rect">
            <a:avLst/>
          </a:prstGeom>
          <a:solidFill>
            <a:srgbClr val="1A7A2E"/>
          </a:solidFill>
          <a:ln/>
        </p:spPr>
      </p:sp>
      <p:sp>
        <p:nvSpPr>
          <p:cNvPr id="15" name="Shape 13"/>
          <p:cNvSpPr/>
          <p:nvPr/>
        </p:nvSpPr>
        <p:spPr>
          <a:xfrm>
            <a:off x="493776" y="1691640"/>
            <a:ext cx="640080" cy="182880"/>
          </a:xfrm>
          <a:prstGeom prst="rect">
            <a:avLst>
              <a:gd name="adj" fmla="val 15000"/>
            </a:avLst>
          </a:prstGeom>
          <a:solidFill>
            <a:srgbClr val="1A7A2E"/>
          </a:solidFill>
          <a:ln/>
        </p:spPr>
      </p:sp>
      <p:sp>
        <p:nvSpPr>
          <p:cNvPr id="16" name="Text 14"/>
          <p:cNvSpPr/>
          <p:nvPr/>
        </p:nvSpPr>
        <p:spPr>
          <a:xfrm>
            <a:off x="493776" y="1691640"/>
            <a:ext cx="640080" cy="182880"/>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INVEST</a:t>
            </a:r>
            <a:endParaRPr lang="en-US" sz="700" dirty="0"/>
          </a:p>
        </p:txBody>
      </p:sp>
      <p:sp>
        <p:nvSpPr>
          <p:cNvPr id="17" name="Text 15"/>
          <p:cNvSpPr/>
          <p:nvPr/>
        </p:nvSpPr>
        <p:spPr>
          <a:xfrm>
            <a:off x="1207008" y="1664208"/>
            <a:ext cx="4462272" cy="201168"/>
          </a:xfrm>
          <a:prstGeom prst="rect">
            <a:avLst/>
          </a:prstGeom>
          <a:noFill/>
          <a:ln/>
        </p:spPr>
        <p:txBody>
          <a:bodyPr wrap="square" lIns="0" tIns="0" rIns="0" bIns="0" rtlCol="0" anchor="ctr"/>
          <a:lstStyle/>
          <a:p>
            <a:pPr indent="0" marL="0">
              <a:buNone/>
            </a:pPr>
            <a:r>
              <a:rPr lang="en-US" sz="950" b="1" dirty="0">
                <a:solidFill>
                  <a:srgbClr val="1B3A5C"/>
                </a:solidFill>
                <a:latin typeface="Arial" pitchFamily="34" charset="0"/>
                <a:ea typeface="Arial" pitchFamily="34" charset="-122"/>
                <a:cs typeface="Arial" pitchFamily="34" charset="-120"/>
              </a:rPr>
              <a:t>Under-Monetised Platform with Clear Value Creation Path</a:t>
            </a:r>
            <a:endParaRPr lang="en-US" sz="950" dirty="0"/>
          </a:p>
        </p:txBody>
      </p:sp>
      <p:sp>
        <p:nvSpPr>
          <p:cNvPr id="18" name="Text 16"/>
          <p:cNvSpPr/>
          <p:nvPr/>
        </p:nvSpPr>
        <p:spPr>
          <a:xfrm>
            <a:off x="1207008" y="1865376"/>
            <a:ext cx="4462272" cy="310896"/>
          </a:xfrm>
          <a:prstGeom prst="rect">
            <a:avLst/>
          </a:prstGeom>
          <a:noFill/>
          <a:ln/>
        </p:spPr>
        <p:txBody>
          <a:bodyPr wrap="square" lIns="0" tIns="0" rIns="0" bIns="0" rtlCol="0" anchor="ctr"/>
          <a:lstStyle/>
          <a:p>
            <a:pPr indent="0" marL="0">
              <a:buNone/>
            </a:pPr>
            <a:r>
              <a:rPr lang="en-US" sz="750" dirty="0">
                <a:solidFill>
                  <a:srgbClr val="374151"/>
                </a:solidFill>
                <a:latin typeface="Arial" pitchFamily="34" charset="0"/>
                <a:ea typeface="Arial" pitchFamily="34" charset="-122"/>
                <a:cs typeface="Arial" pitchFamily="34" charset="-120"/>
              </a:rPr>
              <a:t>$45M+ identified cross-sell ARR in 2,000+ client base. Kyruus Health (care access) and TrustCommerce (payments) create a full-stack patient journey platform with no competitive analogue. Frazier M&amp;A playbook is executing.</a:t>
            </a:r>
            <a:endParaRPr lang="en-US" sz="750" dirty="0"/>
          </a:p>
        </p:txBody>
      </p:sp>
      <p:sp>
        <p:nvSpPr>
          <p:cNvPr id="19" name="Shape 17"/>
          <p:cNvSpPr/>
          <p:nvPr/>
        </p:nvSpPr>
        <p:spPr>
          <a:xfrm>
            <a:off x="365760" y="2276856"/>
            <a:ext cx="5486400" cy="585216"/>
          </a:xfrm>
          <a:prstGeom prst="rect">
            <a:avLst/>
          </a:prstGeom>
          <a:solidFill>
            <a:srgbClr val="F7F8FA"/>
          </a:solidFill>
          <a:ln w="6350">
            <a:solidFill>
              <a:srgbClr val="D0D5DD"/>
            </a:solidFill>
            <a:prstDash val="solid"/>
          </a:ln>
        </p:spPr>
      </p:sp>
      <p:sp>
        <p:nvSpPr>
          <p:cNvPr id="20" name="Shape 18"/>
          <p:cNvSpPr/>
          <p:nvPr/>
        </p:nvSpPr>
        <p:spPr>
          <a:xfrm>
            <a:off x="365760" y="2276856"/>
            <a:ext cx="45720" cy="585216"/>
          </a:xfrm>
          <a:prstGeom prst="rect">
            <a:avLst/>
          </a:prstGeom>
          <a:solidFill>
            <a:srgbClr val="1A7A2E"/>
          </a:solidFill>
          <a:ln/>
        </p:spPr>
      </p:sp>
      <p:sp>
        <p:nvSpPr>
          <p:cNvPr id="21" name="Shape 19"/>
          <p:cNvSpPr/>
          <p:nvPr/>
        </p:nvSpPr>
        <p:spPr>
          <a:xfrm>
            <a:off x="493776" y="2350008"/>
            <a:ext cx="640080" cy="182880"/>
          </a:xfrm>
          <a:prstGeom prst="rect">
            <a:avLst>
              <a:gd name="adj" fmla="val 15000"/>
            </a:avLst>
          </a:prstGeom>
          <a:solidFill>
            <a:srgbClr val="1A7A2E"/>
          </a:solidFill>
          <a:ln/>
        </p:spPr>
      </p:sp>
      <p:sp>
        <p:nvSpPr>
          <p:cNvPr id="22" name="Text 20"/>
          <p:cNvSpPr/>
          <p:nvPr/>
        </p:nvSpPr>
        <p:spPr>
          <a:xfrm>
            <a:off x="493776" y="2350008"/>
            <a:ext cx="640080" cy="182880"/>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INVEST</a:t>
            </a:r>
            <a:endParaRPr lang="en-US" sz="700" dirty="0"/>
          </a:p>
        </p:txBody>
      </p:sp>
      <p:sp>
        <p:nvSpPr>
          <p:cNvPr id="23" name="Text 21"/>
          <p:cNvSpPr/>
          <p:nvPr/>
        </p:nvSpPr>
        <p:spPr>
          <a:xfrm>
            <a:off x="1207008" y="2322576"/>
            <a:ext cx="4462272" cy="201168"/>
          </a:xfrm>
          <a:prstGeom prst="rect">
            <a:avLst/>
          </a:prstGeom>
          <a:noFill/>
          <a:ln/>
        </p:spPr>
        <p:txBody>
          <a:bodyPr wrap="square" lIns="0" tIns="0" rIns="0" bIns="0" rtlCol="0" anchor="ctr"/>
          <a:lstStyle/>
          <a:p>
            <a:pPr indent="0" marL="0">
              <a:buNone/>
            </a:pPr>
            <a:r>
              <a:rPr lang="en-US" sz="950" b="1" dirty="0">
                <a:solidFill>
                  <a:srgbClr val="1B3A5C"/>
                </a:solidFill>
                <a:latin typeface="Arial" pitchFamily="34" charset="0"/>
                <a:ea typeface="Arial" pitchFamily="34" charset="-122"/>
                <a:cs typeface="Arial" pitchFamily="34" charset="-120"/>
              </a:rPr>
              <a:t>Exceptional Management with Proven PE Partnership Track Record</a:t>
            </a:r>
            <a:endParaRPr lang="en-US" sz="950" dirty="0"/>
          </a:p>
        </p:txBody>
      </p:sp>
      <p:sp>
        <p:nvSpPr>
          <p:cNvPr id="24" name="Text 22"/>
          <p:cNvSpPr/>
          <p:nvPr/>
        </p:nvSpPr>
        <p:spPr>
          <a:xfrm>
            <a:off x="1207008" y="2523744"/>
            <a:ext cx="4462272" cy="310896"/>
          </a:xfrm>
          <a:prstGeom prst="rect">
            <a:avLst/>
          </a:prstGeom>
          <a:noFill/>
          <a:ln/>
        </p:spPr>
        <p:txBody>
          <a:bodyPr wrap="square" lIns="0" tIns="0" rIns="0" bIns="0" rtlCol="0" anchor="ctr"/>
          <a:lstStyle/>
          <a:p>
            <a:pPr indent="0" marL="0">
              <a:buNone/>
            </a:pPr>
            <a:r>
              <a:rPr lang="en-US" sz="750" dirty="0">
                <a:solidFill>
                  <a:srgbClr val="374151"/>
                </a:solidFill>
                <a:latin typeface="Arial" pitchFamily="34" charset="0"/>
                <a:ea typeface="Arial" pitchFamily="34" charset="-122"/>
                <a:cs typeface="Arial" pitchFamily="34" charset="-120"/>
              </a:rPr>
              <a:t>CEO MacKenzie has two PE-backed exits at CEO level. $45M equity rollover. 7-year tenure. Strategy is CIM-consistent and M&amp;A-backed. Roger Davis (Exec. Chairman) provides direct Frazier operational governance.</a:t>
            </a:r>
            <a:endParaRPr lang="en-US" sz="750" dirty="0"/>
          </a:p>
        </p:txBody>
      </p:sp>
      <p:sp>
        <p:nvSpPr>
          <p:cNvPr id="25" name="Shape 23"/>
          <p:cNvSpPr/>
          <p:nvPr/>
        </p:nvSpPr>
        <p:spPr>
          <a:xfrm>
            <a:off x="6035040" y="960120"/>
            <a:ext cx="45720" cy="219456"/>
          </a:xfrm>
          <a:prstGeom prst="rect">
            <a:avLst/>
          </a:prstGeom>
          <a:solidFill>
            <a:srgbClr val="2E6DB4"/>
          </a:solidFill>
          <a:ln/>
        </p:spPr>
      </p:sp>
      <p:sp>
        <p:nvSpPr>
          <p:cNvPr id="26" name="Text 24"/>
          <p:cNvSpPr/>
          <p:nvPr/>
        </p:nvSpPr>
        <p:spPr>
          <a:xfrm>
            <a:off x="6163056" y="960120"/>
            <a:ext cx="2377440" cy="219456"/>
          </a:xfrm>
          <a:prstGeom prst="rect">
            <a:avLst/>
          </a:prstGeom>
          <a:noFill/>
          <a:ln/>
        </p:spPr>
        <p:txBody>
          <a:bodyPr wrap="square" lIns="0" tIns="0" rIns="0" bIns="0" rtlCol="0" anchor="ctr"/>
          <a:lstStyle/>
          <a:p>
            <a:pPr indent="0" marL="0">
              <a:buNone/>
            </a:pPr>
            <a:r>
              <a:rPr lang="en-US" sz="950" b="1" dirty="0">
                <a:solidFill>
                  <a:srgbClr val="1B3A5C"/>
                </a:solidFill>
                <a:latin typeface="Arial" pitchFamily="34" charset="0"/>
                <a:ea typeface="Arial" pitchFamily="34" charset="-122"/>
                <a:cs typeface="Arial" pitchFamily="34" charset="-120"/>
              </a:rPr>
              <a:t>RECOMMENDATION</a:t>
            </a:r>
            <a:endParaRPr lang="en-US" sz="950" dirty="0"/>
          </a:p>
        </p:txBody>
      </p:sp>
      <p:sp>
        <p:nvSpPr>
          <p:cNvPr id="27" name="Shape 25"/>
          <p:cNvSpPr/>
          <p:nvPr/>
        </p:nvSpPr>
        <p:spPr>
          <a:xfrm>
            <a:off x="6035040" y="1216152"/>
            <a:ext cx="2743200" cy="1133856"/>
          </a:xfrm>
          <a:prstGeom prst="rect">
            <a:avLst/>
          </a:prstGeom>
          <a:solidFill>
            <a:srgbClr val="FFF9E6"/>
          </a:solidFill>
          <a:ln w="19050">
            <a:solidFill>
              <a:srgbClr val="B45309"/>
            </a:solidFill>
            <a:prstDash val="solid"/>
          </a:ln>
          <a:effectLst>
            <a:outerShdw sx="100000" sy="100000" kx="0" ky="0" algn="bl" rotWithShape="0" blurRad="50800" dist="25400" dir="16200000">
              <a:srgbClr val="000000">
                <a:alpha val="8000"/>
              </a:srgbClr>
            </a:outerShdw>
          </a:effectLst>
        </p:spPr>
      </p:sp>
      <p:sp>
        <p:nvSpPr>
          <p:cNvPr id="28" name="Text 26"/>
          <p:cNvSpPr/>
          <p:nvPr/>
        </p:nvSpPr>
        <p:spPr>
          <a:xfrm>
            <a:off x="6035040" y="1261872"/>
            <a:ext cx="2743200" cy="329184"/>
          </a:xfrm>
          <a:prstGeom prst="rect">
            <a:avLst/>
          </a:prstGeom>
          <a:noFill/>
          <a:ln/>
        </p:spPr>
        <p:txBody>
          <a:bodyPr wrap="square" lIns="0" tIns="0" rIns="0" bIns="0" rtlCol="0" anchor="ctr"/>
          <a:lstStyle/>
          <a:p>
            <a:pPr algn="ctr" indent="0" marL="0">
              <a:buNone/>
            </a:pPr>
            <a:r>
              <a:rPr lang="en-US" sz="1300" b="1" dirty="0">
                <a:solidFill>
                  <a:srgbClr val="78350F"/>
                </a:solidFill>
                <a:latin typeface="Arial" pitchFamily="34" charset="0"/>
                <a:ea typeface="Arial" pitchFamily="34" charset="-122"/>
                <a:cs typeface="Arial" pitchFamily="34" charset="-120"/>
              </a:rPr>
              <a:t>CONDITIONAL INVEST</a:t>
            </a:r>
            <a:endParaRPr lang="en-US" sz="1300" dirty="0"/>
          </a:p>
        </p:txBody>
      </p:sp>
      <p:sp>
        <p:nvSpPr>
          <p:cNvPr id="29" name="Text 27"/>
          <p:cNvSpPr/>
          <p:nvPr/>
        </p:nvSpPr>
        <p:spPr>
          <a:xfrm>
            <a:off x="6144768" y="1609344"/>
            <a:ext cx="2523744" cy="658368"/>
          </a:xfrm>
          <a:prstGeom prst="rect">
            <a:avLst/>
          </a:prstGeom>
          <a:noFill/>
          <a:ln/>
        </p:spPr>
        <p:txBody>
          <a:bodyPr wrap="square" lIns="0" tIns="0" rIns="0" bIns="0" rtlCol="0" anchor="ctr"/>
          <a:lstStyle/>
          <a:p>
            <a:pPr indent="0" marL="0">
              <a:buNone/>
            </a:pPr>
            <a:r>
              <a:rPr lang="en-US" sz="850" dirty="0">
                <a:solidFill>
                  <a:srgbClr val="78350F"/>
                </a:solidFill>
                <a:latin typeface="Arial" pitchFamily="34" charset="0"/>
                <a:ea typeface="Arial" pitchFamily="34" charset="-122"/>
                <a:cs typeface="Arial" pitchFamily="34" charset="-120"/>
              </a:rPr>
              <a:t>Weighted DD Score: 76.5/100</a:t>
            </a:r>
            <a:endParaRPr lang="en-US" sz="850" dirty="0"/>
          </a:p>
          <a:p>
            <a:pPr indent="0" marL="0">
              <a:buNone/>
            </a:pPr>
            <a:r>
              <a:rPr lang="en-US" sz="850" dirty="0">
                <a:solidFill>
                  <a:srgbClr val="78350F"/>
                </a:solidFill>
                <a:latin typeface="Arial" pitchFamily="34" charset="0"/>
                <a:ea typeface="Arial" pitchFamily="34" charset="-122"/>
                <a:cs typeface="Arial" pitchFamily="34" charset="-120"/>
              </a:rPr>
              <a:t>3 conditions must be resolved before IC approval.</a:t>
            </a:r>
            <a:endParaRPr lang="en-US" sz="850" dirty="0"/>
          </a:p>
          <a:p>
            <a:pPr indent="0" marL="0">
              <a:buNone/>
            </a:pPr>
            <a:r>
              <a:rPr lang="en-US" sz="850" dirty="0">
                <a:solidFill>
                  <a:srgbClr val="78350F"/>
                </a:solidFill>
                <a:latin typeface="Arial" pitchFamily="34" charset="0"/>
                <a:ea typeface="Arial" pitchFamily="34" charset="-122"/>
                <a:cs typeface="Arial" pitchFamily="34" charset="-120"/>
              </a:rPr>
              <a:t>Underlying business quality is Strong.</a:t>
            </a:r>
            <a:endParaRPr lang="en-US" sz="850" dirty="0"/>
          </a:p>
        </p:txBody>
      </p:sp>
      <p:sp>
        <p:nvSpPr>
          <p:cNvPr id="30" name="Shape 28"/>
          <p:cNvSpPr/>
          <p:nvPr/>
        </p:nvSpPr>
        <p:spPr>
          <a:xfrm>
            <a:off x="6035040" y="2450592"/>
            <a:ext cx="45720" cy="219456"/>
          </a:xfrm>
          <a:prstGeom prst="rect">
            <a:avLst/>
          </a:prstGeom>
          <a:solidFill>
            <a:srgbClr val="2E6DB4"/>
          </a:solidFill>
          <a:ln/>
        </p:spPr>
      </p:sp>
      <p:sp>
        <p:nvSpPr>
          <p:cNvPr id="31" name="Text 29"/>
          <p:cNvSpPr/>
          <p:nvPr/>
        </p:nvSpPr>
        <p:spPr>
          <a:xfrm>
            <a:off x="6163056" y="2450592"/>
            <a:ext cx="2377440" cy="219456"/>
          </a:xfrm>
          <a:prstGeom prst="rect">
            <a:avLst/>
          </a:prstGeom>
          <a:noFill/>
          <a:ln/>
        </p:spPr>
        <p:txBody>
          <a:bodyPr wrap="square" lIns="0" tIns="0" rIns="0" bIns="0" rtlCol="0" anchor="ctr"/>
          <a:lstStyle/>
          <a:p>
            <a:pPr indent="0" marL="0">
              <a:buNone/>
            </a:pPr>
            <a:r>
              <a:rPr lang="en-US" sz="950" b="1" dirty="0">
                <a:solidFill>
                  <a:srgbClr val="1B3A5C"/>
                </a:solidFill>
                <a:latin typeface="Arial" pitchFamily="34" charset="0"/>
                <a:ea typeface="Arial" pitchFamily="34" charset="-122"/>
                <a:cs typeface="Arial" pitchFamily="34" charset="-120"/>
              </a:rPr>
              <a:t>DD SCORECARD</a:t>
            </a:r>
            <a:endParaRPr lang="en-US" sz="950" dirty="0"/>
          </a:p>
        </p:txBody>
      </p:sp>
      <p:sp>
        <p:nvSpPr>
          <p:cNvPr id="32" name="Shape 30"/>
          <p:cNvSpPr/>
          <p:nvPr/>
        </p:nvSpPr>
        <p:spPr>
          <a:xfrm>
            <a:off x="6035040" y="2670048"/>
            <a:ext cx="2743200" cy="329184"/>
          </a:xfrm>
          <a:prstGeom prst="rect">
            <a:avLst/>
          </a:prstGeom>
          <a:solidFill>
            <a:srgbClr val="E8F5E9"/>
          </a:solidFill>
          <a:ln w="5080">
            <a:solidFill>
              <a:srgbClr val="D0D5DD"/>
            </a:solidFill>
            <a:prstDash val="solid"/>
          </a:ln>
        </p:spPr>
      </p:sp>
      <p:sp>
        <p:nvSpPr>
          <p:cNvPr id="33" name="Text 31"/>
          <p:cNvSpPr/>
          <p:nvPr/>
        </p:nvSpPr>
        <p:spPr>
          <a:xfrm>
            <a:off x="6126480" y="2706624"/>
            <a:ext cx="1828800" cy="256032"/>
          </a:xfrm>
          <a:prstGeom prst="rect">
            <a:avLst/>
          </a:prstGeom>
          <a:noFill/>
          <a:ln/>
        </p:spPr>
        <p:txBody>
          <a:bodyPr wrap="square" lIns="0" tIns="0" rIns="0" bIns="0" rtlCol="0" anchor="ctr"/>
          <a:lstStyle/>
          <a:p>
            <a:pPr indent="0" marL="0">
              <a:buNone/>
            </a:pPr>
            <a:r>
              <a:rPr lang="en-US" sz="900" dirty="0">
                <a:solidFill>
                  <a:srgbClr val="1B3A5C"/>
                </a:solidFill>
                <a:latin typeface="Arial" pitchFamily="34" charset="0"/>
                <a:ea typeface="Arial" pitchFamily="34" charset="-122"/>
                <a:cs typeface="Arial" pitchFamily="34" charset="-120"/>
              </a:rPr>
              <a:t>CIM Screening</a:t>
            </a:r>
            <a:endParaRPr lang="en-US" sz="900" dirty="0"/>
          </a:p>
        </p:txBody>
      </p:sp>
      <p:sp>
        <p:nvSpPr>
          <p:cNvPr id="34" name="Text 32"/>
          <p:cNvSpPr/>
          <p:nvPr/>
        </p:nvSpPr>
        <p:spPr>
          <a:xfrm>
            <a:off x="7680960" y="2706624"/>
            <a:ext cx="1005840" cy="256032"/>
          </a:xfrm>
          <a:prstGeom prst="rect">
            <a:avLst/>
          </a:prstGeom>
          <a:noFill/>
          <a:ln/>
        </p:spPr>
        <p:txBody>
          <a:bodyPr wrap="square" lIns="0" tIns="0" rIns="0" bIns="0" rtlCol="0" anchor="ctr"/>
          <a:lstStyle/>
          <a:p>
            <a:pPr algn="r" indent="0" marL="0">
              <a:buNone/>
            </a:pPr>
            <a:r>
              <a:rPr lang="en-US" sz="1100" b="1" dirty="0">
                <a:solidFill>
                  <a:srgbClr val="1A7A2E"/>
                </a:solidFill>
                <a:latin typeface="Arial" pitchFamily="34" charset="0"/>
                <a:ea typeface="Arial" pitchFamily="34" charset="-122"/>
                <a:cs typeface="Arial" pitchFamily="34" charset="-120"/>
              </a:rPr>
              <a:t>82.0</a:t>
            </a:r>
            <a:endParaRPr lang="en-US" sz="1100" dirty="0"/>
          </a:p>
        </p:txBody>
      </p:sp>
      <p:sp>
        <p:nvSpPr>
          <p:cNvPr id="35" name="Shape 33"/>
          <p:cNvSpPr/>
          <p:nvPr/>
        </p:nvSpPr>
        <p:spPr>
          <a:xfrm>
            <a:off x="6035040" y="3072384"/>
            <a:ext cx="2743200" cy="329184"/>
          </a:xfrm>
          <a:prstGeom prst="rect">
            <a:avLst/>
          </a:prstGeom>
          <a:solidFill>
            <a:srgbClr val="E8F5E9"/>
          </a:solidFill>
          <a:ln w="5080">
            <a:solidFill>
              <a:srgbClr val="D0D5DD"/>
            </a:solidFill>
            <a:prstDash val="solid"/>
          </a:ln>
        </p:spPr>
      </p:sp>
      <p:sp>
        <p:nvSpPr>
          <p:cNvPr id="36" name="Text 34"/>
          <p:cNvSpPr/>
          <p:nvPr/>
        </p:nvSpPr>
        <p:spPr>
          <a:xfrm>
            <a:off x="6126480" y="3108960"/>
            <a:ext cx="1828800" cy="256032"/>
          </a:xfrm>
          <a:prstGeom prst="rect">
            <a:avLst/>
          </a:prstGeom>
          <a:noFill/>
          <a:ln/>
        </p:spPr>
        <p:txBody>
          <a:bodyPr wrap="square" lIns="0" tIns="0" rIns="0" bIns="0" rtlCol="0" anchor="ctr"/>
          <a:lstStyle/>
          <a:p>
            <a:pPr indent="0" marL="0">
              <a:buNone/>
            </a:pPr>
            <a:r>
              <a:rPr lang="en-US" sz="900" dirty="0">
                <a:solidFill>
                  <a:srgbClr val="1B3A5C"/>
                </a:solidFill>
                <a:latin typeface="Arial" pitchFamily="34" charset="0"/>
                <a:ea typeface="Arial" pitchFamily="34" charset="-122"/>
                <a:cs typeface="Arial" pitchFamily="34" charset="-120"/>
              </a:rPr>
              <a:t>Commercial DD</a:t>
            </a:r>
            <a:endParaRPr lang="en-US" sz="900" dirty="0"/>
          </a:p>
        </p:txBody>
      </p:sp>
      <p:sp>
        <p:nvSpPr>
          <p:cNvPr id="37" name="Text 35"/>
          <p:cNvSpPr/>
          <p:nvPr/>
        </p:nvSpPr>
        <p:spPr>
          <a:xfrm>
            <a:off x="7680960" y="3108960"/>
            <a:ext cx="1005840" cy="256032"/>
          </a:xfrm>
          <a:prstGeom prst="rect">
            <a:avLst/>
          </a:prstGeom>
          <a:noFill/>
          <a:ln/>
        </p:spPr>
        <p:txBody>
          <a:bodyPr wrap="square" lIns="0" tIns="0" rIns="0" bIns="0" rtlCol="0" anchor="ctr"/>
          <a:lstStyle/>
          <a:p>
            <a:pPr algn="r" indent="0" marL="0">
              <a:buNone/>
            </a:pPr>
            <a:r>
              <a:rPr lang="en-US" sz="1100" b="1" dirty="0">
                <a:solidFill>
                  <a:srgbClr val="1A7A2E"/>
                </a:solidFill>
                <a:latin typeface="Arial" pitchFamily="34" charset="0"/>
                <a:ea typeface="Arial" pitchFamily="34" charset="-122"/>
                <a:cs typeface="Arial" pitchFamily="34" charset="-120"/>
              </a:rPr>
              <a:t>85.8</a:t>
            </a:r>
            <a:endParaRPr lang="en-US" sz="1100" dirty="0"/>
          </a:p>
        </p:txBody>
      </p:sp>
      <p:sp>
        <p:nvSpPr>
          <p:cNvPr id="38" name="Shape 36"/>
          <p:cNvSpPr/>
          <p:nvPr/>
        </p:nvSpPr>
        <p:spPr>
          <a:xfrm>
            <a:off x="6035040" y="3474720"/>
            <a:ext cx="2743200" cy="329184"/>
          </a:xfrm>
          <a:prstGeom prst="rect">
            <a:avLst/>
          </a:prstGeom>
          <a:solidFill>
            <a:srgbClr val="FEF2F2"/>
          </a:solidFill>
          <a:ln w="5080">
            <a:solidFill>
              <a:srgbClr val="D0D5DD"/>
            </a:solidFill>
            <a:prstDash val="solid"/>
          </a:ln>
        </p:spPr>
      </p:sp>
      <p:sp>
        <p:nvSpPr>
          <p:cNvPr id="39" name="Text 37"/>
          <p:cNvSpPr/>
          <p:nvPr/>
        </p:nvSpPr>
        <p:spPr>
          <a:xfrm>
            <a:off x="6126480" y="3511296"/>
            <a:ext cx="1828800" cy="256032"/>
          </a:xfrm>
          <a:prstGeom prst="rect">
            <a:avLst/>
          </a:prstGeom>
          <a:noFill/>
          <a:ln/>
        </p:spPr>
        <p:txBody>
          <a:bodyPr wrap="square" lIns="0" tIns="0" rIns="0" bIns="0" rtlCol="0" anchor="ctr"/>
          <a:lstStyle/>
          <a:p>
            <a:pPr indent="0" marL="0">
              <a:buNone/>
            </a:pPr>
            <a:r>
              <a:rPr lang="en-US" sz="900" dirty="0">
                <a:solidFill>
                  <a:srgbClr val="1B3A5C"/>
                </a:solidFill>
                <a:latin typeface="Arial" pitchFamily="34" charset="0"/>
                <a:ea typeface="Arial" pitchFamily="34" charset="-122"/>
                <a:cs typeface="Arial" pitchFamily="34" charset="-120"/>
              </a:rPr>
              <a:t>Financial DD</a:t>
            </a:r>
            <a:endParaRPr lang="en-US" sz="900" dirty="0"/>
          </a:p>
        </p:txBody>
      </p:sp>
      <p:sp>
        <p:nvSpPr>
          <p:cNvPr id="40" name="Text 38"/>
          <p:cNvSpPr/>
          <p:nvPr/>
        </p:nvSpPr>
        <p:spPr>
          <a:xfrm>
            <a:off x="7680960" y="3511296"/>
            <a:ext cx="1005840" cy="256032"/>
          </a:xfrm>
          <a:prstGeom prst="rect">
            <a:avLst/>
          </a:prstGeom>
          <a:noFill/>
          <a:ln/>
        </p:spPr>
        <p:txBody>
          <a:bodyPr wrap="square" lIns="0" tIns="0" rIns="0" bIns="0" rtlCol="0" anchor="ctr"/>
          <a:lstStyle/>
          <a:p>
            <a:pPr algn="r" indent="0" marL="0">
              <a:buNone/>
            </a:pPr>
            <a:r>
              <a:rPr lang="en-US" sz="1100" b="1" dirty="0">
                <a:solidFill>
                  <a:srgbClr val="C00000"/>
                </a:solidFill>
                <a:latin typeface="Arial" pitchFamily="34" charset="0"/>
                <a:ea typeface="Arial" pitchFamily="34" charset="-122"/>
                <a:cs typeface="Arial" pitchFamily="34" charset="-120"/>
              </a:rPr>
              <a:t>63.2</a:t>
            </a:r>
            <a:endParaRPr lang="en-US" sz="1100" dirty="0"/>
          </a:p>
        </p:txBody>
      </p:sp>
      <p:sp>
        <p:nvSpPr>
          <p:cNvPr id="41" name="Shape 39"/>
          <p:cNvSpPr/>
          <p:nvPr/>
        </p:nvSpPr>
        <p:spPr>
          <a:xfrm>
            <a:off x="6035040" y="3877056"/>
            <a:ext cx="2743200" cy="329184"/>
          </a:xfrm>
          <a:prstGeom prst="rect">
            <a:avLst/>
          </a:prstGeom>
          <a:solidFill>
            <a:srgbClr val="FFF9E6"/>
          </a:solidFill>
          <a:ln w="5080">
            <a:solidFill>
              <a:srgbClr val="D0D5DD"/>
            </a:solidFill>
            <a:prstDash val="solid"/>
          </a:ln>
        </p:spPr>
      </p:sp>
      <p:sp>
        <p:nvSpPr>
          <p:cNvPr id="42" name="Text 40"/>
          <p:cNvSpPr/>
          <p:nvPr/>
        </p:nvSpPr>
        <p:spPr>
          <a:xfrm>
            <a:off x="6126480" y="3913632"/>
            <a:ext cx="1828800" cy="256032"/>
          </a:xfrm>
          <a:prstGeom prst="rect">
            <a:avLst/>
          </a:prstGeom>
          <a:noFill/>
          <a:ln/>
        </p:spPr>
        <p:txBody>
          <a:bodyPr wrap="square" lIns="0" tIns="0" rIns="0" bIns="0" rtlCol="0" anchor="ctr"/>
          <a:lstStyle/>
          <a:p>
            <a:pPr indent="0" marL="0">
              <a:buNone/>
            </a:pPr>
            <a:r>
              <a:rPr lang="en-US" sz="900" dirty="0">
                <a:solidFill>
                  <a:srgbClr val="1B3A5C"/>
                </a:solidFill>
                <a:latin typeface="Arial" pitchFamily="34" charset="0"/>
                <a:ea typeface="Arial" pitchFamily="34" charset="-122"/>
                <a:cs typeface="Arial" pitchFamily="34" charset="-120"/>
              </a:rPr>
              <a:t>Management DD</a:t>
            </a:r>
            <a:endParaRPr lang="en-US" sz="900" dirty="0"/>
          </a:p>
        </p:txBody>
      </p:sp>
      <p:sp>
        <p:nvSpPr>
          <p:cNvPr id="43" name="Text 41"/>
          <p:cNvSpPr/>
          <p:nvPr/>
        </p:nvSpPr>
        <p:spPr>
          <a:xfrm>
            <a:off x="7680960" y="3913632"/>
            <a:ext cx="1005840" cy="256032"/>
          </a:xfrm>
          <a:prstGeom prst="rect">
            <a:avLst/>
          </a:prstGeom>
          <a:noFill/>
          <a:ln/>
        </p:spPr>
        <p:txBody>
          <a:bodyPr wrap="square" lIns="0" tIns="0" rIns="0" bIns="0" rtlCol="0" anchor="ctr"/>
          <a:lstStyle/>
          <a:p>
            <a:pPr algn="r" indent="0" marL="0">
              <a:buNone/>
            </a:pPr>
            <a:r>
              <a:rPr lang="en-US" sz="1100" b="1" dirty="0">
                <a:solidFill>
                  <a:srgbClr val="B45309"/>
                </a:solidFill>
                <a:latin typeface="Arial" pitchFamily="34" charset="0"/>
                <a:ea typeface="Arial" pitchFamily="34" charset="-122"/>
                <a:cs typeface="Arial" pitchFamily="34" charset="-120"/>
              </a:rPr>
              <a:t>70.8</a:t>
            </a:r>
            <a:endParaRPr lang="en-US" sz="1100" dirty="0"/>
          </a:p>
        </p:txBody>
      </p:sp>
      <p:sp>
        <p:nvSpPr>
          <p:cNvPr id="44" name="Shape 42"/>
          <p:cNvSpPr/>
          <p:nvPr/>
        </p:nvSpPr>
        <p:spPr>
          <a:xfrm>
            <a:off x="6035040" y="3931920"/>
            <a:ext cx="45720" cy="219456"/>
          </a:xfrm>
          <a:prstGeom prst="rect">
            <a:avLst/>
          </a:prstGeom>
          <a:solidFill>
            <a:srgbClr val="2E6DB4"/>
          </a:solidFill>
          <a:ln/>
        </p:spPr>
      </p:sp>
      <p:sp>
        <p:nvSpPr>
          <p:cNvPr id="45" name="Text 43"/>
          <p:cNvSpPr/>
          <p:nvPr/>
        </p:nvSpPr>
        <p:spPr>
          <a:xfrm>
            <a:off x="6163056" y="3931920"/>
            <a:ext cx="2377440" cy="219456"/>
          </a:xfrm>
          <a:prstGeom prst="rect">
            <a:avLst/>
          </a:prstGeom>
          <a:noFill/>
          <a:ln/>
        </p:spPr>
        <p:txBody>
          <a:bodyPr wrap="square" lIns="0" tIns="0" rIns="0" bIns="0" rtlCol="0" anchor="ctr"/>
          <a:lstStyle/>
          <a:p>
            <a:pPr indent="0" marL="0">
              <a:buNone/>
            </a:pPr>
            <a:r>
              <a:rPr lang="en-US" sz="950" b="1" dirty="0">
                <a:solidFill>
                  <a:srgbClr val="1B3A5C"/>
                </a:solidFill>
                <a:latin typeface="Arial" pitchFamily="34" charset="0"/>
                <a:ea typeface="Arial" pitchFamily="34" charset="-122"/>
                <a:cs typeface="Arial" pitchFamily="34" charset="-120"/>
              </a:rPr>
              <a:t>CONDITIONS TO CLOSE</a:t>
            </a:r>
            <a:endParaRPr lang="en-US" sz="950" dirty="0"/>
          </a:p>
        </p:txBody>
      </p:sp>
      <p:sp>
        <p:nvSpPr>
          <p:cNvPr id="46" name="Shape 44"/>
          <p:cNvSpPr/>
          <p:nvPr/>
        </p:nvSpPr>
        <p:spPr>
          <a:xfrm>
            <a:off x="6035040" y="4169664"/>
            <a:ext cx="237744" cy="219456"/>
          </a:xfrm>
          <a:prstGeom prst="rect">
            <a:avLst/>
          </a:prstGeom>
          <a:solidFill>
            <a:srgbClr val="B45309"/>
          </a:solidFill>
          <a:ln/>
        </p:spPr>
      </p:sp>
      <p:sp>
        <p:nvSpPr>
          <p:cNvPr id="47" name="Text 45"/>
          <p:cNvSpPr/>
          <p:nvPr/>
        </p:nvSpPr>
        <p:spPr>
          <a:xfrm>
            <a:off x="6035040" y="4169664"/>
            <a:ext cx="237744" cy="219456"/>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48" name="Text 46"/>
          <p:cNvSpPr/>
          <p:nvPr/>
        </p:nvSpPr>
        <p:spPr>
          <a:xfrm>
            <a:off x="6355080" y="4169664"/>
            <a:ext cx="2377440" cy="219456"/>
          </a:xfrm>
          <a:prstGeom prst="rect">
            <a:avLst/>
          </a:prstGeom>
          <a:noFill/>
          <a:ln/>
        </p:spPr>
        <p:txBody>
          <a:bodyPr wrap="square" lIns="0" tIns="0" rIns="0" bIns="0" rtlCol="0" anchor="ctr"/>
          <a:lstStyle/>
          <a:p>
            <a:pPr indent="0" marL="0">
              <a:buNone/>
            </a:pPr>
            <a:r>
              <a:rPr lang="en-US" sz="850" dirty="0">
                <a:solidFill>
                  <a:srgbClr val="374151"/>
                </a:solidFill>
                <a:latin typeface="Arial" pitchFamily="34" charset="0"/>
                <a:ea typeface="Arial" pitchFamily="34" charset="-122"/>
                <a:cs typeface="Arial" pitchFamily="34" charset="-120"/>
              </a:rPr>
              <a:t>Corrected financial model (bear IRR ≥ 15%)</a:t>
            </a:r>
            <a:endParaRPr lang="en-US" sz="850" dirty="0"/>
          </a:p>
        </p:txBody>
      </p:sp>
      <p:sp>
        <p:nvSpPr>
          <p:cNvPr id="49" name="Shape 47"/>
          <p:cNvSpPr/>
          <p:nvPr/>
        </p:nvSpPr>
        <p:spPr>
          <a:xfrm>
            <a:off x="6035040" y="4443984"/>
            <a:ext cx="237744" cy="219456"/>
          </a:xfrm>
          <a:prstGeom prst="rect">
            <a:avLst/>
          </a:prstGeom>
          <a:solidFill>
            <a:srgbClr val="B45309"/>
          </a:solidFill>
          <a:ln/>
        </p:spPr>
      </p:sp>
      <p:sp>
        <p:nvSpPr>
          <p:cNvPr id="50" name="Text 48"/>
          <p:cNvSpPr/>
          <p:nvPr/>
        </p:nvSpPr>
        <p:spPr>
          <a:xfrm>
            <a:off x="6035040" y="4443984"/>
            <a:ext cx="237744" cy="219456"/>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51" name="Text 49"/>
          <p:cNvSpPr/>
          <p:nvPr/>
        </p:nvSpPr>
        <p:spPr>
          <a:xfrm>
            <a:off x="6355080" y="4443984"/>
            <a:ext cx="2377440" cy="219456"/>
          </a:xfrm>
          <a:prstGeom prst="rect">
            <a:avLst/>
          </a:prstGeom>
          <a:noFill/>
          <a:ln/>
        </p:spPr>
        <p:txBody>
          <a:bodyPr wrap="square" lIns="0" tIns="0" rIns="0" bIns="0" rtlCol="0" anchor="ctr"/>
          <a:lstStyle/>
          <a:p>
            <a:pPr indent="0" marL="0">
              <a:buNone/>
            </a:pPr>
            <a:r>
              <a:rPr lang="en-US" sz="850" dirty="0">
                <a:solidFill>
                  <a:srgbClr val="374151"/>
                </a:solidFill>
                <a:latin typeface="Arial" pitchFamily="34" charset="0"/>
                <a:ea typeface="Arial" pitchFamily="34" charset="-122"/>
                <a:cs typeface="Arial" pitchFamily="34" charset="-120"/>
              </a:rPr>
              <a:t>Kyruus + TrustCommerce pro forma P&amp;L</a:t>
            </a:r>
            <a:endParaRPr lang="en-US" sz="850" dirty="0"/>
          </a:p>
        </p:txBody>
      </p:sp>
      <p:sp>
        <p:nvSpPr>
          <p:cNvPr id="52" name="Shape 50"/>
          <p:cNvSpPr/>
          <p:nvPr/>
        </p:nvSpPr>
        <p:spPr>
          <a:xfrm>
            <a:off x="6035040" y="4718304"/>
            <a:ext cx="237744" cy="219456"/>
          </a:xfrm>
          <a:prstGeom prst="rect">
            <a:avLst/>
          </a:prstGeom>
          <a:solidFill>
            <a:srgbClr val="B45309"/>
          </a:solidFill>
          <a:ln/>
        </p:spPr>
      </p:sp>
      <p:sp>
        <p:nvSpPr>
          <p:cNvPr id="53" name="Text 51"/>
          <p:cNvSpPr/>
          <p:nvPr/>
        </p:nvSpPr>
        <p:spPr>
          <a:xfrm>
            <a:off x="6035040" y="4718304"/>
            <a:ext cx="237744" cy="219456"/>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54" name="Text 52"/>
          <p:cNvSpPr/>
          <p:nvPr/>
        </p:nvSpPr>
        <p:spPr>
          <a:xfrm>
            <a:off x="6355080" y="4718304"/>
            <a:ext cx="2377440" cy="219456"/>
          </a:xfrm>
          <a:prstGeom prst="rect">
            <a:avLst/>
          </a:prstGeom>
          <a:noFill/>
          <a:ln/>
        </p:spPr>
        <p:txBody>
          <a:bodyPr wrap="square" lIns="0" tIns="0" rIns="0" bIns="0" rtlCol="0" anchor="ctr"/>
          <a:lstStyle/>
          <a:p>
            <a:pPr indent="0" marL="0">
              <a:buNone/>
            </a:pPr>
            <a:r>
              <a:rPr lang="en-US" sz="850" dirty="0">
                <a:solidFill>
                  <a:srgbClr val="374151"/>
                </a:solidFill>
                <a:latin typeface="Arial" pitchFamily="34" charset="0"/>
                <a:ea typeface="Arial" pitchFamily="34" charset="-122"/>
                <a:cs typeface="Arial" pitchFamily="34" charset="-120"/>
              </a:rPr>
              <a:t>Win/loss data vs. Epic MyChart and Cedar</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46304"/>
            <a:ext cx="8412480" cy="457200"/>
          </a:xfrm>
          <a:prstGeom prst="rect">
            <a:avLst/>
          </a:prstGeom>
          <a:noFill/>
          <a:ln/>
        </p:spPr>
        <p:txBody>
          <a:bodyPr wrap="square" lIns="0" tIns="0" rIns="0" bIns="0" rtlCol="0" anchor="ctr"/>
          <a:lstStyle/>
          <a:p>
            <a:pPr indent="0" marL="0">
              <a:buNone/>
            </a:pPr>
            <a:r>
              <a:rPr lang="en-US" sz="2000" b="1" dirty="0">
                <a:solidFill>
                  <a:srgbClr val="1B3A5C"/>
                </a:solidFill>
                <a:latin typeface="Arial" pitchFamily="34" charset="0"/>
                <a:ea typeface="Arial" pitchFamily="34" charset="-122"/>
                <a:cs typeface="Arial" pitchFamily="34" charset="-120"/>
              </a:rPr>
              <a:t>Slide 4  |  Business Overview</a:t>
            </a:r>
            <a:endParaRPr lang="en-US" sz="2000" dirty="0"/>
          </a:p>
        </p:txBody>
      </p:sp>
      <p:sp>
        <p:nvSpPr>
          <p:cNvPr id="3" name="Shape 1"/>
          <p:cNvSpPr/>
          <p:nvPr/>
        </p:nvSpPr>
        <p:spPr>
          <a:xfrm>
            <a:off x="365760" y="640080"/>
            <a:ext cx="822960" cy="201168"/>
          </a:xfrm>
          <a:prstGeom prst="rect">
            <a:avLst/>
          </a:prstGeom>
          <a:solidFill>
            <a:srgbClr val="1B3A5C"/>
          </a:solidFill>
          <a:ln/>
        </p:spPr>
      </p:sp>
      <p:sp>
        <p:nvSpPr>
          <p:cNvPr id="4" name="Text 2"/>
          <p:cNvSpPr/>
          <p:nvPr/>
        </p:nvSpPr>
        <p:spPr>
          <a:xfrm>
            <a:off x="365760" y="640080"/>
            <a:ext cx="822960"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SO WHAT</a:t>
            </a:r>
            <a:endParaRPr lang="en-US" sz="700" dirty="0"/>
          </a:p>
        </p:txBody>
      </p:sp>
      <p:sp>
        <p:nvSpPr>
          <p:cNvPr id="5" name="Text 3"/>
          <p:cNvSpPr/>
          <p:nvPr/>
        </p:nvSpPr>
        <p:spPr>
          <a:xfrm>
            <a:off x="1261872" y="640080"/>
            <a:ext cx="7406640" cy="201168"/>
          </a:xfrm>
          <a:prstGeom prst="rect">
            <a:avLst/>
          </a:prstGeom>
          <a:noFill/>
          <a:ln/>
        </p:spPr>
        <p:txBody>
          <a:bodyPr wrap="square" lIns="0" tIns="0" rIns="0" bIns="0" rtlCol="0" anchor="ctr"/>
          <a:lstStyle/>
          <a:p>
            <a:pPr indent="0" marL="0">
              <a:buNone/>
            </a:pPr>
            <a:r>
              <a:rPr lang="en-US" sz="850" i="1" dirty="0">
                <a:solidFill>
                  <a:srgbClr val="1B3A5C"/>
                </a:solidFill>
                <a:latin typeface="Arial" pitchFamily="34" charset="0"/>
                <a:ea typeface="Arial" pitchFamily="34" charset="-122"/>
                <a:cs typeface="Arial" pitchFamily="34" charset="-120"/>
              </a:rPr>
              <a:t>RevSpring is the only vendor covering the full patient financial journey — from provider search to final payment — at 2,000+ enterprise scale.</a:t>
            </a:r>
            <a:endParaRPr lang="en-US" sz="850" dirty="0"/>
          </a:p>
        </p:txBody>
      </p:sp>
      <p:sp>
        <p:nvSpPr>
          <p:cNvPr id="6" name="Text 4"/>
          <p:cNvSpPr/>
          <p:nvPr/>
        </p:nvSpPr>
        <p:spPr>
          <a:xfrm>
            <a:off x="274320" y="4864608"/>
            <a:ext cx="8595360" cy="182880"/>
          </a:xfrm>
          <a:prstGeom prst="rect">
            <a:avLst/>
          </a:prstGeom>
          <a:noFill/>
          <a:ln/>
        </p:spPr>
        <p:txBody>
          <a:bodyPr wrap="square" lIns="0" tIns="0" rIns="0" bIns="0" rtlCol="0" anchor="ctr"/>
          <a:lstStyle/>
          <a:p>
            <a:pPr algn="ctr" indent="0" marL="0">
              <a:buNone/>
            </a:pPr>
            <a:r>
              <a:rPr lang="en-US" sz="750" dirty="0">
                <a:solidFill>
                  <a:srgbClr val="9EABB8"/>
                </a:solidFill>
                <a:latin typeface="Arial" pitchFamily="34" charset="0"/>
                <a:ea typeface="Arial" pitchFamily="34" charset="-122"/>
                <a:cs typeface="Arial" pitchFamily="34" charset="-120"/>
              </a:rPr>
              <a:t>Confidential  |  Morsebridge Healthcare  |  IC Memo  |  RevSpring, Inc.  |  June 5, 2026</a:t>
            </a:r>
            <a:endParaRPr lang="en-US" sz="750" dirty="0"/>
          </a:p>
        </p:txBody>
      </p:sp>
      <p:sp>
        <p:nvSpPr>
          <p:cNvPr id="7" name="Shape 5"/>
          <p:cNvSpPr/>
          <p:nvPr/>
        </p:nvSpPr>
        <p:spPr>
          <a:xfrm>
            <a:off x="365760" y="960120"/>
            <a:ext cx="45720" cy="219456"/>
          </a:xfrm>
          <a:prstGeom prst="rect">
            <a:avLst/>
          </a:prstGeom>
          <a:solidFill>
            <a:srgbClr val="2E6DB4"/>
          </a:solidFill>
          <a:ln/>
        </p:spPr>
      </p:sp>
      <p:sp>
        <p:nvSpPr>
          <p:cNvPr id="8" name="Text 6"/>
          <p:cNvSpPr/>
          <p:nvPr/>
        </p:nvSpPr>
        <p:spPr>
          <a:xfrm>
            <a:off x="493776" y="960120"/>
            <a:ext cx="8046720" cy="219456"/>
          </a:xfrm>
          <a:prstGeom prst="rect">
            <a:avLst/>
          </a:prstGeom>
          <a:noFill/>
          <a:ln/>
        </p:spPr>
        <p:txBody>
          <a:bodyPr wrap="square" lIns="0" tIns="0" rIns="0" bIns="0" rtlCol="0" anchor="ctr"/>
          <a:lstStyle/>
          <a:p>
            <a:pPr indent="0" marL="0">
              <a:buNone/>
            </a:pPr>
            <a:r>
              <a:rPr lang="en-US" sz="950" b="1" dirty="0">
                <a:solidFill>
                  <a:srgbClr val="1B3A5C"/>
                </a:solidFill>
                <a:latin typeface="Arial" pitchFamily="34" charset="0"/>
                <a:ea typeface="Arial" pitchFamily="34" charset="-122"/>
                <a:cs typeface="Arial" pitchFamily="34" charset="-120"/>
              </a:rPr>
              <a:t>COMPANY PROFILE</a:t>
            </a:r>
            <a:endParaRPr lang="en-US" sz="9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365760" y="1216152"/>
          <a:ext cx="5029200" cy="914400"/>
        </p:xfrm>
        <a:graphic>
          <a:graphicData uri="http://schemas.openxmlformats.org/drawingml/2006/table">
            <a:tbl>
              <a:tblPr/>
              <a:tblGrid>
                <a:gridCol w="1645920"/>
                <a:gridCol w="3383280"/>
              </a:tblGrid>
              <a:tr h="0">
                <a:tc>
                  <a:txBody>
                    <a:bodyPr/>
                    <a:lstStyle/>
                    <a:p>
                      <a:pPr algn="ctr" indent="0" marL="0">
                        <a:buNone/>
                      </a:pPr>
                      <a:r>
                        <a:rPr lang="en-US" sz="850" b="1" dirty="0">
                          <a:solidFill>
                            <a:srgbClr val="FFFFFF"/>
                          </a:solidFill>
                        </a:rPr>
                        <a:t>Attribute</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Detail</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r>
              <a:tr h="0">
                <a:tc>
                  <a:txBody>
                    <a:bodyPr/>
                    <a:lstStyle/>
                    <a:p>
                      <a:pPr algn="l" indent="0" marL="0">
                        <a:buNone/>
                      </a:pPr>
                      <a:r>
                        <a:rPr lang="en-US" sz="850" b="1" dirty="0">
                          <a:solidFill>
                            <a:srgbClr val="1E293B"/>
                          </a:solidFill>
                        </a:rPr>
                        <a:t>Founded</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l" indent="0" marL="0">
                        <a:buNone/>
                      </a:pPr>
                      <a:r>
                        <a:rPr lang="en-US" sz="850" dirty="0">
                          <a:solidFill>
                            <a:srgbClr val="1E293B"/>
                          </a:solidFill>
                        </a:rPr>
                        <a:t>1981  |  HQ: Nashville, Tennessee</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r>
              <a:tr h="0">
                <a:tc>
                  <a:txBody>
                    <a:bodyPr/>
                    <a:lstStyle/>
                    <a:p>
                      <a:pPr algn="l" indent="0" marL="0">
                        <a:buNone/>
                      </a:pPr>
                      <a:r>
                        <a:rPr lang="en-US" sz="850" b="1" dirty="0">
                          <a:solidFill>
                            <a:srgbClr val="1E293B"/>
                          </a:solidFill>
                        </a:rPr>
                        <a:t>Employees</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l" indent="0" marL="0">
                        <a:buNone/>
                      </a:pPr>
                      <a:r>
                        <a:rPr lang="en-US" sz="850" dirty="0">
                          <a:solidFill>
                            <a:srgbClr val="1E293B"/>
                          </a:solidFill>
                        </a:rPr>
                        <a:t>~1,265 FTE  |  Technology (24.5%), Operations (33.2%), Sales (14.6%)</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r>
              <a:tr h="0">
                <a:tc>
                  <a:txBody>
                    <a:bodyPr/>
                    <a:lstStyle/>
                    <a:p>
                      <a:pPr algn="l" indent="0" marL="0">
                        <a:buNone/>
                      </a:pPr>
                      <a:r>
                        <a:rPr lang="en-US" sz="850" b="1" dirty="0">
                          <a:solidFill>
                            <a:srgbClr val="1E293B"/>
                          </a:solidFill>
                        </a:rPr>
                        <a:t>Core Mission</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l" indent="0" marL="0">
                        <a:buNone/>
                      </a:pPr>
                      <a:r>
                        <a:rPr lang="en-US" sz="850" dirty="0">
                          <a:solidFill>
                            <a:srgbClr val="1E293B"/>
                          </a:solidFill>
                        </a:rPr>
                        <a:t>Improve financial outcomes for healthcare providers through personalised patient engagement and frictionless payment solutions</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r>
              <a:tr h="0">
                <a:tc>
                  <a:txBody>
                    <a:bodyPr/>
                    <a:lstStyle/>
                    <a:p>
                      <a:pPr algn="l" indent="0" marL="0">
                        <a:buNone/>
                      </a:pPr>
                      <a:r>
                        <a:rPr lang="en-US" sz="850" b="1" dirty="0">
                          <a:solidFill>
                            <a:srgbClr val="1E293B"/>
                          </a:solidFill>
                        </a:rPr>
                        <a:t>Payment Volume</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l" indent="0" marL="0">
                        <a:buNone/>
                      </a:pPr>
                      <a:r>
                        <a:rPr lang="en-US" sz="850" dirty="0">
                          <a:solidFill>
                            <a:srgbClr val="1E293B"/>
                          </a:solidFill>
                        </a:rPr>
                        <a:t>&gt;$8.0B processed annually  |  &gt;1.5B communications sent annually</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r>
              <a:tr h="0">
                <a:tc>
                  <a:txBody>
                    <a:bodyPr/>
                    <a:lstStyle/>
                    <a:p>
                      <a:pPr algn="l" indent="0" marL="0">
                        <a:buNone/>
                      </a:pPr>
                      <a:r>
                        <a:rPr lang="en-US" sz="850" b="1" dirty="0">
                          <a:solidFill>
                            <a:srgbClr val="1E293B"/>
                          </a:solidFill>
                        </a:rPr>
                        <a:t>Annual Comms</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l" indent="0" marL="0">
                        <a:buNone/>
                      </a:pPr>
                      <a:r>
                        <a:rPr lang="en-US" sz="850" dirty="0">
                          <a:solidFill>
                            <a:srgbClr val="1E293B"/>
                          </a:solidFill>
                        </a:rPr>
                        <a:t>&gt;700M digital (email/SMS/voice)  |  Print/Mail: PCI DSS Level 1 compliant</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r>
              <a:tr h="0">
                <a:tc>
                  <a:txBody>
                    <a:bodyPr/>
                    <a:lstStyle/>
                    <a:p>
                      <a:pPr algn="l" indent="0" marL="0">
                        <a:buNone/>
                      </a:pPr>
                      <a:r>
                        <a:rPr lang="en-US" sz="850" b="1" dirty="0">
                          <a:solidFill>
                            <a:srgbClr val="1E293B"/>
                          </a:solidFill>
                        </a:rPr>
                        <a:t>KLAS Ranking</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l" indent="0" marL="0">
                        <a:buNone/>
                      </a:pPr>
                      <a:r>
                        <a:rPr lang="en-US" sz="850" dirty="0">
                          <a:solidFill>
                            <a:srgbClr val="1E293B"/>
                          </a:solidFill>
                        </a:rPr>
                        <a:t>#1 Best in KLAS — Patient Financial Engagement, 2025 and 2026  |  90.3 points</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r>
            </a:tbl>
          </a:graphicData>
        </a:graphic>
      </p:graphicFrame>
      <p:sp>
        <p:nvSpPr>
          <p:cNvPr id="10" name="Shape 7"/>
          <p:cNvSpPr/>
          <p:nvPr/>
        </p:nvSpPr>
        <p:spPr>
          <a:xfrm>
            <a:off x="5577840" y="960120"/>
            <a:ext cx="45720" cy="219456"/>
          </a:xfrm>
          <a:prstGeom prst="rect">
            <a:avLst/>
          </a:prstGeom>
          <a:solidFill>
            <a:srgbClr val="2E6DB4"/>
          </a:solidFill>
          <a:ln/>
        </p:spPr>
      </p:sp>
      <p:sp>
        <p:nvSpPr>
          <p:cNvPr id="11" name="Text 8"/>
          <p:cNvSpPr/>
          <p:nvPr/>
        </p:nvSpPr>
        <p:spPr>
          <a:xfrm>
            <a:off x="5705856" y="960120"/>
            <a:ext cx="2834640" cy="219456"/>
          </a:xfrm>
          <a:prstGeom prst="rect">
            <a:avLst/>
          </a:prstGeom>
          <a:noFill/>
          <a:ln/>
        </p:spPr>
        <p:txBody>
          <a:bodyPr wrap="square" lIns="0" tIns="0" rIns="0" bIns="0" rtlCol="0" anchor="ctr"/>
          <a:lstStyle/>
          <a:p>
            <a:pPr indent="0" marL="0">
              <a:buNone/>
            </a:pPr>
            <a:r>
              <a:rPr lang="en-US" sz="950" b="1" dirty="0">
                <a:solidFill>
                  <a:srgbClr val="1B3A5C"/>
                </a:solidFill>
                <a:latin typeface="Arial" pitchFamily="34" charset="0"/>
                <a:ea typeface="Arial" pitchFamily="34" charset="-122"/>
                <a:cs typeface="Arial" pitchFamily="34" charset="-120"/>
              </a:rPr>
              <a:t>PRODUCT SUITE</a:t>
            </a:r>
            <a:endParaRPr lang="en-US" sz="950" dirty="0"/>
          </a:p>
        </p:txBody>
      </p:sp>
      <p:sp>
        <p:nvSpPr>
          <p:cNvPr id="12" name="Shape 9"/>
          <p:cNvSpPr/>
          <p:nvPr/>
        </p:nvSpPr>
        <p:spPr>
          <a:xfrm>
            <a:off x="5577840" y="1261872"/>
            <a:ext cx="3200400" cy="438912"/>
          </a:xfrm>
          <a:prstGeom prst="rect">
            <a:avLst/>
          </a:prstGeom>
          <a:solidFill>
            <a:srgbClr val="F7F8FA"/>
          </a:solidFill>
          <a:ln w="5080">
            <a:solidFill>
              <a:srgbClr val="D0D5DD"/>
            </a:solidFill>
            <a:prstDash val="solid"/>
          </a:ln>
        </p:spPr>
      </p:sp>
      <p:sp>
        <p:nvSpPr>
          <p:cNvPr id="13" name="Shape 10"/>
          <p:cNvSpPr/>
          <p:nvPr/>
        </p:nvSpPr>
        <p:spPr>
          <a:xfrm>
            <a:off x="5577840" y="1261872"/>
            <a:ext cx="45720" cy="438912"/>
          </a:xfrm>
          <a:prstGeom prst="rect">
            <a:avLst/>
          </a:prstGeom>
          <a:solidFill>
            <a:srgbClr val="2E6DB4"/>
          </a:solidFill>
          <a:ln/>
        </p:spPr>
      </p:sp>
      <p:sp>
        <p:nvSpPr>
          <p:cNvPr id="14" name="Text 11"/>
          <p:cNvSpPr/>
          <p:nvPr/>
        </p:nvSpPr>
        <p:spPr>
          <a:xfrm>
            <a:off x="5687568" y="1289304"/>
            <a:ext cx="1005840" cy="182880"/>
          </a:xfrm>
          <a:prstGeom prst="rect">
            <a:avLst/>
          </a:prstGeom>
          <a:noFill/>
          <a:ln/>
        </p:spPr>
        <p:txBody>
          <a:bodyPr wrap="square" lIns="0" tIns="0" rIns="0" bIns="0" rtlCol="0" anchor="ctr"/>
          <a:lstStyle/>
          <a:p>
            <a:pPr indent="0" marL="0">
              <a:buNone/>
            </a:pPr>
            <a:r>
              <a:rPr lang="en-US" sz="900" b="1" dirty="0">
                <a:solidFill>
                  <a:srgbClr val="1B3A5C"/>
                </a:solidFill>
                <a:latin typeface="Arial" pitchFamily="34" charset="0"/>
                <a:ea typeface="Arial" pitchFamily="34" charset="-122"/>
                <a:cs typeface="Arial" pitchFamily="34" charset="-120"/>
              </a:rPr>
              <a:t>Engage IQ</a:t>
            </a:r>
            <a:endParaRPr lang="en-US" sz="900" dirty="0"/>
          </a:p>
        </p:txBody>
      </p:sp>
      <p:sp>
        <p:nvSpPr>
          <p:cNvPr id="15" name="Text 12"/>
          <p:cNvSpPr/>
          <p:nvPr/>
        </p:nvSpPr>
        <p:spPr>
          <a:xfrm>
            <a:off x="5687568" y="1463040"/>
            <a:ext cx="3017520" cy="201168"/>
          </a:xfrm>
          <a:prstGeom prst="rect">
            <a:avLst/>
          </a:prstGeom>
          <a:noFill/>
          <a:ln/>
        </p:spPr>
        <p:txBody>
          <a:bodyPr wrap="square" lIns="0" tIns="0" rIns="0" bIns="0" rtlCol="0" anchor="ctr"/>
          <a:lstStyle/>
          <a:p>
            <a:pPr indent="0" marL="0">
              <a:buNone/>
            </a:pPr>
            <a:r>
              <a:rPr lang="en-US" sz="750" dirty="0">
                <a:solidFill>
                  <a:srgbClr val="64748B"/>
                </a:solidFill>
                <a:latin typeface="Arial" pitchFamily="34" charset="0"/>
                <a:ea typeface="Arial" pitchFamily="34" charset="-122"/>
                <a:cs typeface="Arial" pitchFamily="34" charset="-120"/>
              </a:rPr>
              <a:t>AI omnichannel communications. Personalises channel, timing, message using 300M consumer profiles.</a:t>
            </a:r>
            <a:endParaRPr lang="en-US" sz="750" dirty="0"/>
          </a:p>
        </p:txBody>
      </p:sp>
      <p:sp>
        <p:nvSpPr>
          <p:cNvPr id="16" name="Shape 13"/>
          <p:cNvSpPr/>
          <p:nvPr/>
        </p:nvSpPr>
        <p:spPr>
          <a:xfrm>
            <a:off x="5577840" y="1773936"/>
            <a:ext cx="3200400" cy="438912"/>
          </a:xfrm>
          <a:prstGeom prst="rect">
            <a:avLst/>
          </a:prstGeom>
          <a:solidFill>
            <a:srgbClr val="FFFFFF"/>
          </a:solidFill>
          <a:ln w="5080">
            <a:solidFill>
              <a:srgbClr val="D0D5DD"/>
            </a:solidFill>
            <a:prstDash val="solid"/>
          </a:ln>
        </p:spPr>
      </p:sp>
      <p:sp>
        <p:nvSpPr>
          <p:cNvPr id="17" name="Shape 14"/>
          <p:cNvSpPr/>
          <p:nvPr/>
        </p:nvSpPr>
        <p:spPr>
          <a:xfrm>
            <a:off x="5577840" y="1773936"/>
            <a:ext cx="45720" cy="438912"/>
          </a:xfrm>
          <a:prstGeom prst="rect">
            <a:avLst/>
          </a:prstGeom>
          <a:solidFill>
            <a:srgbClr val="2E6DB4"/>
          </a:solidFill>
          <a:ln/>
        </p:spPr>
      </p:sp>
      <p:sp>
        <p:nvSpPr>
          <p:cNvPr id="18" name="Text 15"/>
          <p:cNvSpPr/>
          <p:nvPr/>
        </p:nvSpPr>
        <p:spPr>
          <a:xfrm>
            <a:off x="5687568" y="1801368"/>
            <a:ext cx="1005840" cy="182880"/>
          </a:xfrm>
          <a:prstGeom prst="rect">
            <a:avLst/>
          </a:prstGeom>
          <a:noFill/>
          <a:ln/>
        </p:spPr>
        <p:txBody>
          <a:bodyPr wrap="square" lIns="0" tIns="0" rIns="0" bIns="0" rtlCol="0" anchor="ctr"/>
          <a:lstStyle/>
          <a:p>
            <a:pPr indent="0" marL="0">
              <a:buNone/>
            </a:pPr>
            <a:r>
              <a:rPr lang="en-US" sz="900" b="1" dirty="0">
                <a:solidFill>
                  <a:srgbClr val="1B3A5C"/>
                </a:solidFill>
                <a:latin typeface="Arial" pitchFamily="34" charset="0"/>
                <a:ea typeface="Arial" pitchFamily="34" charset="-122"/>
                <a:cs typeface="Arial" pitchFamily="34" charset="-120"/>
              </a:rPr>
              <a:t>PersonaPay</a:t>
            </a:r>
            <a:endParaRPr lang="en-US" sz="900" dirty="0"/>
          </a:p>
        </p:txBody>
      </p:sp>
      <p:sp>
        <p:nvSpPr>
          <p:cNvPr id="19" name="Text 16"/>
          <p:cNvSpPr/>
          <p:nvPr/>
        </p:nvSpPr>
        <p:spPr>
          <a:xfrm>
            <a:off x="5687568" y="1975104"/>
            <a:ext cx="3017520" cy="201168"/>
          </a:xfrm>
          <a:prstGeom prst="rect">
            <a:avLst/>
          </a:prstGeom>
          <a:noFill/>
          <a:ln/>
        </p:spPr>
        <p:txBody>
          <a:bodyPr wrap="square" lIns="0" tIns="0" rIns="0" bIns="0" rtlCol="0" anchor="ctr"/>
          <a:lstStyle/>
          <a:p>
            <a:pPr indent="0" marL="0">
              <a:buNone/>
            </a:pPr>
            <a:r>
              <a:rPr lang="en-US" sz="750" dirty="0">
                <a:solidFill>
                  <a:srgbClr val="64748B"/>
                </a:solidFill>
                <a:latin typeface="Arial" pitchFamily="34" charset="0"/>
                <a:ea typeface="Arial" pitchFamily="34" charset="-122"/>
                <a:cs typeface="Arial" pitchFamily="34" charset="-120"/>
              </a:rPr>
              <a:t>Digital patient payment portal — one-click pay, payment plans, digital wallets.</a:t>
            </a:r>
            <a:endParaRPr lang="en-US" sz="750" dirty="0"/>
          </a:p>
        </p:txBody>
      </p:sp>
      <p:sp>
        <p:nvSpPr>
          <p:cNvPr id="20" name="Shape 17"/>
          <p:cNvSpPr/>
          <p:nvPr/>
        </p:nvSpPr>
        <p:spPr>
          <a:xfrm>
            <a:off x="5577840" y="2286000"/>
            <a:ext cx="3200400" cy="438912"/>
          </a:xfrm>
          <a:prstGeom prst="rect">
            <a:avLst/>
          </a:prstGeom>
          <a:solidFill>
            <a:srgbClr val="F7F8FA"/>
          </a:solidFill>
          <a:ln w="5080">
            <a:solidFill>
              <a:srgbClr val="D0D5DD"/>
            </a:solidFill>
            <a:prstDash val="solid"/>
          </a:ln>
        </p:spPr>
      </p:sp>
      <p:sp>
        <p:nvSpPr>
          <p:cNvPr id="21" name="Shape 18"/>
          <p:cNvSpPr/>
          <p:nvPr/>
        </p:nvSpPr>
        <p:spPr>
          <a:xfrm>
            <a:off x="5577840" y="2286000"/>
            <a:ext cx="45720" cy="438912"/>
          </a:xfrm>
          <a:prstGeom prst="rect">
            <a:avLst/>
          </a:prstGeom>
          <a:solidFill>
            <a:srgbClr val="2E6DB4"/>
          </a:solidFill>
          <a:ln/>
        </p:spPr>
      </p:sp>
      <p:sp>
        <p:nvSpPr>
          <p:cNvPr id="22" name="Text 19"/>
          <p:cNvSpPr/>
          <p:nvPr/>
        </p:nvSpPr>
        <p:spPr>
          <a:xfrm>
            <a:off x="5687568" y="2313432"/>
            <a:ext cx="1005840" cy="182880"/>
          </a:xfrm>
          <a:prstGeom prst="rect">
            <a:avLst/>
          </a:prstGeom>
          <a:noFill/>
          <a:ln/>
        </p:spPr>
        <p:txBody>
          <a:bodyPr wrap="square" lIns="0" tIns="0" rIns="0" bIns="0" rtlCol="0" anchor="ctr"/>
          <a:lstStyle/>
          <a:p>
            <a:pPr indent="0" marL="0">
              <a:buNone/>
            </a:pPr>
            <a:r>
              <a:rPr lang="en-US" sz="900" b="1" dirty="0">
                <a:solidFill>
                  <a:srgbClr val="1B3A5C"/>
                </a:solidFill>
                <a:latin typeface="Arial" pitchFamily="34" charset="0"/>
                <a:ea typeface="Arial" pitchFamily="34" charset="-122"/>
                <a:cs typeface="Arial" pitchFamily="34" charset="-120"/>
              </a:rPr>
              <a:t>PreService</a:t>
            </a:r>
            <a:endParaRPr lang="en-US" sz="900" dirty="0"/>
          </a:p>
        </p:txBody>
      </p:sp>
      <p:sp>
        <p:nvSpPr>
          <p:cNvPr id="23" name="Text 20"/>
          <p:cNvSpPr/>
          <p:nvPr/>
        </p:nvSpPr>
        <p:spPr>
          <a:xfrm>
            <a:off x="5687568" y="2487168"/>
            <a:ext cx="3017520" cy="201168"/>
          </a:xfrm>
          <a:prstGeom prst="rect">
            <a:avLst/>
          </a:prstGeom>
          <a:noFill/>
          <a:ln/>
        </p:spPr>
        <p:txBody>
          <a:bodyPr wrap="square" lIns="0" tIns="0" rIns="0" bIns="0" rtlCol="0" anchor="ctr"/>
          <a:lstStyle/>
          <a:p>
            <a:pPr indent="0" marL="0">
              <a:buNone/>
            </a:pPr>
            <a:r>
              <a:rPr lang="en-US" sz="750" dirty="0">
                <a:solidFill>
                  <a:srgbClr val="64748B"/>
                </a:solidFill>
                <a:latin typeface="Arial" pitchFamily="34" charset="0"/>
                <a:ea typeface="Arial" pitchFamily="34" charset="-122"/>
                <a:cs typeface="Arial" pitchFamily="34" charset="-120"/>
              </a:rPr>
              <a:t>Cost estimation, eligibility verification, prior auth, GFE — mandated by CMS Apr 2026.</a:t>
            </a:r>
            <a:endParaRPr lang="en-US" sz="750" dirty="0"/>
          </a:p>
        </p:txBody>
      </p:sp>
      <p:sp>
        <p:nvSpPr>
          <p:cNvPr id="24" name="Shape 21"/>
          <p:cNvSpPr/>
          <p:nvPr/>
        </p:nvSpPr>
        <p:spPr>
          <a:xfrm>
            <a:off x="5577840" y="2798064"/>
            <a:ext cx="3200400" cy="438912"/>
          </a:xfrm>
          <a:prstGeom prst="rect">
            <a:avLst/>
          </a:prstGeom>
          <a:solidFill>
            <a:srgbClr val="FFFFFF"/>
          </a:solidFill>
          <a:ln w="5080">
            <a:solidFill>
              <a:srgbClr val="D0D5DD"/>
            </a:solidFill>
            <a:prstDash val="solid"/>
          </a:ln>
        </p:spPr>
      </p:sp>
      <p:sp>
        <p:nvSpPr>
          <p:cNvPr id="25" name="Shape 22"/>
          <p:cNvSpPr/>
          <p:nvPr/>
        </p:nvSpPr>
        <p:spPr>
          <a:xfrm>
            <a:off x="5577840" y="2798064"/>
            <a:ext cx="45720" cy="438912"/>
          </a:xfrm>
          <a:prstGeom prst="rect">
            <a:avLst/>
          </a:prstGeom>
          <a:solidFill>
            <a:srgbClr val="2E6DB4"/>
          </a:solidFill>
          <a:ln/>
        </p:spPr>
      </p:sp>
      <p:sp>
        <p:nvSpPr>
          <p:cNvPr id="26" name="Text 23"/>
          <p:cNvSpPr/>
          <p:nvPr/>
        </p:nvSpPr>
        <p:spPr>
          <a:xfrm>
            <a:off x="5687568" y="2825496"/>
            <a:ext cx="1005840" cy="182880"/>
          </a:xfrm>
          <a:prstGeom prst="rect">
            <a:avLst/>
          </a:prstGeom>
          <a:noFill/>
          <a:ln/>
        </p:spPr>
        <p:txBody>
          <a:bodyPr wrap="square" lIns="0" tIns="0" rIns="0" bIns="0" rtlCol="0" anchor="ctr"/>
          <a:lstStyle/>
          <a:p>
            <a:pPr indent="0" marL="0">
              <a:buNone/>
            </a:pPr>
            <a:r>
              <a:rPr lang="en-US" sz="900" b="1" dirty="0">
                <a:solidFill>
                  <a:srgbClr val="1B3A5C"/>
                </a:solidFill>
                <a:latin typeface="Arial" pitchFamily="34" charset="0"/>
                <a:ea typeface="Arial" pitchFamily="34" charset="-122"/>
                <a:cs typeface="Arial" pitchFamily="34" charset="-120"/>
              </a:rPr>
              <a:t>Print &amp; Mail</a:t>
            </a:r>
            <a:endParaRPr lang="en-US" sz="900" dirty="0"/>
          </a:p>
        </p:txBody>
      </p:sp>
      <p:sp>
        <p:nvSpPr>
          <p:cNvPr id="27" name="Text 24"/>
          <p:cNvSpPr/>
          <p:nvPr/>
        </p:nvSpPr>
        <p:spPr>
          <a:xfrm>
            <a:off x="5687568" y="2999232"/>
            <a:ext cx="3017520" cy="201168"/>
          </a:xfrm>
          <a:prstGeom prst="rect">
            <a:avLst/>
          </a:prstGeom>
          <a:noFill/>
          <a:ln/>
        </p:spPr>
        <p:txBody>
          <a:bodyPr wrap="square" lIns="0" tIns="0" rIns="0" bIns="0" rtlCol="0" anchor="ctr"/>
          <a:lstStyle/>
          <a:p>
            <a:pPr indent="0" marL="0">
              <a:buNone/>
            </a:pPr>
            <a:r>
              <a:rPr lang="en-US" sz="750" dirty="0">
                <a:solidFill>
                  <a:srgbClr val="64748B"/>
                </a:solidFill>
                <a:latin typeface="Arial" pitchFamily="34" charset="0"/>
                <a:ea typeface="Arial" pitchFamily="34" charset="-122"/>
                <a:cs typeface="Arial" pitchFamily="34" charset="-120"/>
              </a:rPr>
              <a:t>PCI Level 1 high-volume statement production. Declining mix but differentiated for Medicare populations.</a:t>
            </a:r>
            <a:endParaRPr lang="en-US" sz="750" dirty="0"/>
          </a:p>
        </p:txBody>
      </p:sp>
      <p:sp>
        <p:nvSpPr>
          <p:cNvPr id="28" name="Shape 25"/>
          <p:cNvSpPr/>
          <p:nvPr/>
        </p:nvSpPr>
        <p:spPr>
          <a:xfrm>
            <a:off x="5577840" y="3310128"/>
            <a:ext cx="3200400" cy="438912"/>
          </a:xfrm>
          <a:prstGeom prst="rect">
            <a:avLst/>
          </a:prstGeom>
          <a:solidFill>
            <a:srgbClr val="F7F8FA"/>
          </a:solidFill>
          <a:ln w="5080">
            <a:solidFill>
              <a:srgbClr val="D0D5DD"/>
            </a:solidFill>
            <a:prstDash val="solid"/>
          </a:ln>
        </p:spPr>
      </p:sp>
      <p:sp>
        <p:nvSpPr>
          <p:cNvPr id="29" name="Shape 26"/>
          <p:cNvSpPr/>
          <p:nvPr/>
        </p:nvSpPr>
        <p:spPr>
          <a:xfrm>
            <a:off x="5577840" y="3310128"/>
            <a:ext cx="45720" cy="438912"/>
          </a:xfrm>
          <a:prstGeom prst="rect">
            <a:avLst/>
          </a:prstGeom>
          <a:solidFill>
            <a:srgbClr val="2E6DB4"/>
          </a:solidFill>
          <a:ln/>
        </p:spPr>
      </p:sp>
      <p:sp>
        <p:nvSpPr>
          <p:cNvPr id="30" name="Text 27"/>
          <p:cNvSpPr/>
          <p:nvPr/>
        </p:nvSpPr>
        <p:spPr>
          <a:xfrm>
            <a:off x="5687568" y="3337560"/>
            <a:ext cx="1005840" cy="182880"/>
          </a:xfrm>
          <a:prstGeom prst="rect">
            <a:avLst/>
          </a:prstGeom>
          <a:noFill/>
          <a:ln/>
        </p:spPr>
        <p:txBody>
          <a:bodyPr wrap="square" lIns="0" tIns="0" rIns="0" bIns="0" rtlCol="0" anchor="ctr"/>
          <a:lstStyle/>
          <a:p>
            <a:pPr indent="0" marL="0">
              <a:buNone/>
            </a:pPr>
            <a:r>
              <a:rPr lang="en-US" sz="900" b="1" dirty="0">
                <a:solidFill>
                  <a:srgbClr val="1B3A5C"/>
                </a:solidFill>
                <a:latin typeface="Arial" pitchFamily="34" charset="0"/>
                <a:ea typeface="Arial" pitchFamily="34" charset="-122"/>
                <a:cs typeface="Arial" pitchFamily="34" charset="-120"/>
              </a:rPr>
              <a:t>Analytics Suite</a:t>
            </a:r>
            <a:endParaRPr lang="en-US" sz="900" dirty="0"/>
          </a:p>
        </p:txBody>
      </p:sp>
      <p:sp>
        <p:nvSpPr>
          <p:cNvPr id="31" name="Text 28"/>
          <p:cNvSpPr/>
          <p:nvPr/>
        </p:nvSpPr>
        <p:spPr>
          <a:xfrm>
            <a:off x="5687568" y="3511296"/>
            <a:ext cx="3017520" cy="201168"/>
          </a:xfrm>
          <a:prstGeom prst="rect">
            <a:avLst/>
          </a:prstGeom>
          <a:noFill/>
          <a:ln/>
        </p:spPr>
        <p:txBody>
          <a:bodyPr wrap="square" lIns="0" tIns="0" rIns="0" bIns="0" rtlCol="0" anchor="ctr"/>
          <a:lstStyle/>
          <a:p>
            <a:pPr indent="0" marL="0">
              <a:buNone/>
            </a:pPr>
            <a:r>
              <a:rPr lang="en-US" sz="750" dirty="0">
                <a:solidFill>
                  <a:srgbClr val="64748B"/>
                </a:solidFill>
                <a:latin typeface="Arial" pitchFamily="34" charset="0"/>
                <a:ea typeface="Arial" pitchFamily="34" charset="-122"/>
                <a:cs typeface="Arial" pitchFamily="34" charset="-120"/>
              </a:rPr>
              <a:t>Benchmarks vs. national consumer database. KPI tracking and payment conversion analytics.</a:t>
            </a:r>
            <a:endParaRPr lang="en-US" sz="750" dirty="0"/>
          </a:p>
        </p:txBody>
      </p:sp>
      <p:sp>
        <p:nvSpPr>
          <p:cNvPr id="32" name="Shape 29"/>
          <p:cNvSpPr/>
          <p:nvPr/>
        </p:nvSpPr>
        <p:spPr>
          <a:xfrm>
            <a:off x="5577840" y="3822192"/>
            <a:ext cx="3200400" cy="438912"/>
          </a:xfrm>
          <a:prstGeom prst="rect">
            <a:avLst/>
          </a:prstGeom>
          <a:solidFill>
            <a:srgbClr val="FFFFFF"/>
          </a:solidFill>
          <a:ln w="5080">
            <a:solidFill>
              <a:srgbClr val="D0D5DD"/>
            </a:solidFill>
            <a:prstDash val="solid"/>
          </a:ln>
        </p:spPr>
      </p:sp>
      <p:sp>
        <p:nvSpPr>
          <p:cNvPr id="33" name="Shape 30"/>
          <p:cNvSpPr/>
          <p:nvPr/>
        </p:nvSpPr>
        <p:spPr>
          <a:xfrm>
            <a:off x="5577840" y="3822192"/>
            <a:ext cx="45720" cy="438912"/>
          </a:xfrm>
          <a:prstGeom prst="rect">
            <a:avLst/>
          </a:prstGeom>
          <a:solidFill>
            <a:srgbClr val="1A7A2E"/>
          </a:solidFill>
          <a:ln/>
        </p:spPr>
      </p:sp>
      <p:sp>
        <p:nvSpPr>
          <p:cNvPr id="34" name="Text 31"/>
          <p:cNvSpPr/>
          <p:nvPr/>
        </p:nvSpPr>
        <p:spPr>
          <a:xfrm>
            <a:off x="5687568" y="3849624"/>
            <a:ext cx="1005840" cy="182880"/>
          </a:xfrm>
          <a:prstGeom prst="rect">
            <a:avLst/>
          </a:prstGeom>
          <a:noFill/>
          <a:ln/>
        </p:spPr>
        <p:txBody>
          <a:bodyPr wrap="square" lIns="0" tIns="0" rIns="0" bIns="0" rtlCol="0" anchor="ctr"/>
          <a:lstStyle/>
          <a:p>
            <a:pPr indent="0" marL="0">
              <a:buNone/>
            </a:pPr>
            <a:r>
              <a:rPr lang="en-US" sz="900" b="1" dirty="0">
                <a:solidFill>
                  <a:srgbClr val="1B3A5C"/>
                </a:solidFill>
                <a:latin typeface="Arial" pitchFamily="34" charset="0"/>
                <a:ea typeface="Arial" pitchFamily="34" charset="-122"/>
                <a:cs typeface="Arial" pitchFamily="34" charset="-120"/>
              </a:rPr>
              <a:t>TrustCommerce</a:t>
            </a:r>
            <a:endParaRPr lang="en-US" sz="900" dirty="0"/>
          </a:p>
        </p:txBody>
      </p:sp>
      <p:sp>
        <p:nvSpPr>
          <p:cNvPr id="35" name="Text 32"/>
          <p:cNvSpPr/>
          <p:nvPr/>
        </p:nvSpPr>
        <p:spPr>
          <a:xfrm>
            <a:off x="5687568" y="4023360"/>
            <a:ext cx="3017520" cy="201168"/>
          </a:xfrm>
          <a:prstGeom prst="rect">
            <a:avLst/>
          </a:prstGeom>
          <a:noFill/>
          <a:ln/>
        </p:spPr>
        <p:txBody>
          <a:bodyPr wrap="square" lIns="0" tIns="0" rIns="0" bIns="0" rtlCol="0" anchor="ctr"/>
          <a:lstStyle/>
          <a:p>
            <a:pPr indent="0" marL="0">
              <a:buNone/>
            </a:pPr>
            <a:r>
              <a:rPr lang="en-US" sz="750" dirty="0">
                <a:solidFill>
                  <a:srgbClr val="64748B"/>
                </a:solidFill>
                <a:latin typeface="Arial" pitchFamily="34" charset="0"/>
                <a:ea typeface="Arial" pitchFamily="34" charset="-122"/>
                <a:cs typeface="Arial" pitchFamily="34" charset="-120"/>
              </a:rPr>
              <a:t>Integrated payment gateway + tokenisation (acquired Feb 2026).</a:t>
            </a:r>
            <a:endParaRPr lang="en-US" sz="750" dirty="0"/>
          </a:p>
        </p:txBody>
      </p:sp>
      <p:sp>
        <p:nvSpPr>
          <p:cNvPr id="36" name="Shape 33"/>
          <p:cNvSpPr/>
          <p:nvPr/>
        </p:nvSpPr>
        <p:spPr>
          <a:xfrm>
            <a:off x="5577840" y="4334256"/>
            <a:ext cx="3200400" cy="438912"/>
          </a:xfrm>
          <a:prstGeom prst="rect">
            <a:avLst/>
          </a:prstGeom>
          <a:solidFill>
            <a:srgbClr val="F7F8FA"/>
          </a:solidFill>
          <a:ln w="5080">
            <a:solidFill>
              <a:srgbClr val="D0D5DD"/>
            </a:solidFill>
            <a:prstDash val="solid"/>
          </a:ln>
        </p:spPr>
      </p:sp>
      <p:sp>
        <p:nvSpPr>
          <p:cNvPr id="37" name="Shape 34"/>
          <p:cNvSpPr/>
          <p:nvPr/>
        </p:nvSpPr>
        <p:spPr>
          <a:xfrm>
            <a:off x="5577840" y="4334256"/>
            <a:ext cx="45720" cy="438912"/>
          </a:xfrm>
          <a:prstGeom prst="rect">
            <a:avLst/>
          </a:prstGeom>
          <a:solidFill>
            <a:srgbClr val="1A7A2E"/>
          </a:solidFill>
          <a:ln/>
        </p:spPr>
      </p:sp>
      <p:sp>
        <p:nvSpPr>
          <p:cNvPr id="38" name="Text 35"/>
          <p:cNvSpPr/>
          <p:nvPr/>
        </p:nvSpPr>
        <p:spPr>
          <a:xfrm>
            <a:off x="5687568" y="4361688"/>
            <a:ext cx="1005840" cy="182880"/>
          </a:xfrm>
          <a:prstGeom prst="rect">
            <a:avLst/>
          </a:prstGeom>
          <a:noFill/>
          <a:ln/>
        </p:spPr>
        <p:txBody>
          <a:bodyPr wrap="square" lIns="0" tIns="0" rIns="0" bIns="0" rtlCol="0" anchor="ctr"/>
          <a:lstStyle/>
          <a:p>
            <a:pPr indent="0" marL="0">
              <a:buNone/>
            </a:pPr>
            <a:r>
              <a:rPr lang="en-US" sz="900" b="1" dirty="0">
                <a:solidFill>
                  <a:srgbClr val="1B3A5C"/>
                </a:solidFill>
                <a:latin typeface="Arial" pitchFamily="34" charset="0"/>
                <a:ea typeface="Arial" pitchFamily="34" charset="-122"/>
                <a:cs typeface="Arial" pitchFamily="34" charset="-120"/>
              </a:rPr>
              <a:t>Kyruus Health</a:t>
            </a:r>
            <a:endParaRPr lang="en-US" sz="900" dirty="0"/>
          </a:p>
        </p:txBody>
      </p:sp>
      <p:sp>
        <p:nvSpPr>
          <p:cNvPr id="39" name="Text 36"/>
          <p:cNvSpPr/>
          <p:nvPr/>
        </p:nvSpPr>
        <p:spPr>
          <a:xfrm>
            <a:off x="5687568" y="4535424"/>
            <a:ext cx="3017520" cy="201168"/>
          </a:xfrm>
          <a:prstGeom prst="rect">
            <a:avLst/>
          </a:prstGeom>
          <a:noFill/>
          <a:ln/>
        </p:spPr>
        <p:txBody>
          <a:bodyPr wrap="square" lIns="0" tIns="0" rIns="0" bIns="0" rtlCol="0" anchor="ctr"/>
          <a:lstStyle/>
          <a:p>
            <a:pPr indent="0" marL="0">
              <a:buNone/>
            </a:pPr>
            <a:r>
              <a:rPr lang="en-US" sz="750" dirty="0">
                <a:solidFill>
                  <a:srgbClr val="64748B"/>
                </a:solidFill>
                <a:latin typeface="Arial" pitchFamily="34" charset="0"/>
                <a:ea typeface="Arial" pitchFamily="34" charset="-122"/>
                <a:cs typeface="Arial" pitchFamily="34" charset="-120"/>
              </a:rPr>
              <a:t>Provider search, scheduling, care access (acquired Q4 2025).</a:t>
            </a:r>
            <a:endParaRPr lang="en-US" sz="750" dirty="0"/>
          </a:p>
        </p:txBody>
      </p:sp>
      <p:sp>
        <p:nvSpPr>
          <p:cNvPr id="40" name="Shape 37"/>
          <p:cNvSpPr/>
          <p:nvPr/>
        </p:nvSpPr>
        <p:spPr>
          <a:xfrm>
            <a:off x="365760" y="4526280"/>
            <a:ext cx="45720" cy="219456"/>
          </a:xfrm>
          <a:prstGeom prst="rect">
            <a:avLst/>
          </a:prstGeom>
          <a:solidFill>
            <a:srgbClr val="2E6DB4"/>
          </a:solidFill>
          <a:ln/>
        </p:spPr>
      </p:sp>
      <p:sp>
        <p:nvSpPr>
          <p:cNvPr id="41" name="Text 38"/>
          <p:cNvSpPr/>
          <p:nvPr/>
        </p:nvSpPr>
        <p:spPr>
          <a:xfrm>
            <a:off x="493776" y="4526280"/>
            <a:ext cx="8046720" cy="219456"/>
          </a:xfrm>
          <a:prstGeom prst="rect">
            <a:avLst/>
          </a:prstGeom>
          <a:noFill/>
          <a:ln/>
        </p:spPr>
        <p:txBody>
          <a:bodyPr wrap="square" lIns="0" tIns="0" rIns="0" bIns="0" rtlCol="0" anchor="ctr"/>
          <a:lstStyle/>
          <a:p>
            <a:pPr indent="0" marL="0">
              <a:buNone/>
            </a:pPr>
            <a:r>
              <a:rPr lang="en-US" sz="950" b="1" dirty="0">
                <a:solidFill>
                  <a:srgbClr val="1B3A5C"/>
                </a:solidFill>
                <a:latin typeface="Arial" pitchFamily="34" charset="0"/>
                <a:ea typeface="Arial" pitchFamily="34" charset="-122"/>
                <a:cs typeface="Arial" pitchFamily="34" charset="-120"/>
              </a:rPr>
              <a:t>CUSTOMER SEGMENTS</a:t>
            </a:r>
            <a:endParaRPr lang="en-US" sz="950" dirty="0"/>
          </a:p>
        </p:txBody>
      </p:sp>
      <p:graphicFrame>
        <p:nvGraphicFramePr>
          <p:cNvPr id="9" name="Table 1"/>
          <p:cNvGraphicFramePr>
            <a:graphicFrameLocks noGrp="1"/>
          </p:cNvGraphicFramePr>
          <p:nvPr>
            <p:extLst>
              <p:ext uri="{D42A27DB-BD31-4B8C-83A1-F6EECF244321}">
                <p14:modId xmlns:p14="http://schemas.microsoft.com/office/powerpoint/2010/main" val="1579011935"/>
              </p:ext>
            </p:extLst>
          </p:nvPr>
        </p:nvGraphicFramePr>
        <p:xfrm>
          <a:off x="365760" y="4736592"/>
          <a:ext cx="5029200" cy="914400"/>
        </p:xfrm>
        <a:graphic>
          <a:graphicData uri="http://schemas.openxmlformats.org/drawingml/2006/table">
            <a:tbl>
              <a:tblPr/>
              <a:tblGrid>
                <a:gridCol w="2011680"/>
                <a:gridCol w="731520"/>
                <a:gridCol w="2286000"/>
              </a:tblGrid>
              <a:tr h="0">
                <a:tc>
                  <a:txBody>
                    <a:bodyPr/>
                    <a:lstStyle/>
                    <a:p>
                      <a:pPr algn="ctr" indent="0" marL="0">
                        <a:buNone/>
                      </a:pPr>
                      <a:r>
                        <a:rPr lang="en-US" sz="850" b="1" dirty="0">
                          <a:solidFill>
                            <a:srgbClr val="FFFFFF"/>
                          </a:solidFill>
                        </a:rPr>
                        <a:t>Segment</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 Rev</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Representative Clients</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r>
              <a:tr h="0">
                <a:tc>
                  <a:txBody>
                    <a:bodyPr/>
                    <a:lstStyle/>
                    <a:p>
                      <a:pPr algn="l" indent="0" marL="0">
                        <a:buNone/>
                      </a:pPr>
                      <a:r>
                        <a:rPr lang="en-US" sz="850" dirty="0">
                          <a:solidFill>
                            <a:srgbClr val="1E293B"/>
                          </a:solidFill>
                        </a:rPr>
                        <a:t>Large IDNs / Health Systems</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b="1" dirty="0">
                          <a:solidFill>
                            <a:srgbClr val="1A7A2E"/>
                          </a:solidFill>
                        </a:rPr>
                        <a:t>48%</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l" indent="0" marL="0">
                        <a:buNone/>
                      </a:pPr>
                      <a:r>
                        <a:rPr lang="en-US" sz="850" dirty="0">
                          <a:solidFill>
                            <a:srgbClr val="1E293B"/>
                          </a:solidFill>
                        </a:rPr>
                        <a:t>Top 50 U.S. health systems</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r>
              <a:tr h="0">
                <a:tc>
                  <a:txBody>
                    <a:bodyPr/>
                    <a:lstStyle/>
                    <a:p>
                      <a:pPr algn="l" indent="0" marL="0">
                        <a:buNone/>
                      </a:pPr>
                      <a:r>
                        <a:rPr lang="en-US" sz="850" dirty="0">
                          <a:solidFill>
                            <a:srgbClr val="1E293B"/>
                          </a:solidFill>
                        </a:rPr>
                        <a:t>Community &amp; Regional Hospitals</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2E6DB4"/>
                          </a:solidFill>
                        </a:rPr>
                        <a:t>31%</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l" indent="0" marL="0">
                        <a:buNone/>
                      </a:pPr>
                      <a:r>
                        <a:rPr lang="en-US" sz="850" dirty="0">
                          <a:solidFill>
                            <a:srgbClr val="1E293B"/>
                          </a:solidFill>
                        </a:rPr>
                        <a:t>Mid-market community health</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r>
              <a:tr h="0">
                <a:tc>
                  <a:txBody>
                    <a:bodyPr/>
                    <a:lstStyle/>
                    <a:p>
                      <a:pPr algn="l" indent="0" marL="0">
                        <a:buNone/>
                      </a:pPr>
                      <a:r>
                        <a:rPr lang="en-US" sz="850" dirty="0">
                          <a:solidFill>
                            <a:srgbClr val="1E293B"/>
                          </a:solidFill>
                        </a:rPr>
                        <a:t>Physician Group Practices</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2E6DB4"/>
                          </a:solidFill>
                        </a:rPr>
                        <a:t>13%</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l" indent="0" marL="0">
                        <a:buNone/>
                      </a:pPr>
                      <a:r>
                        <a:rPr lang="en-US" sz="850" dirty="0">
                          <a:solidFill>
                            <a:srgbClr val="1E293B"/>
                          </a:solidFill>
                        </a:rPr>
                        <a:t>Large multispecialty groups</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r>
              <a:tr h="0">
                <a:tc>
                  <a:txBody>
                    <a:bodyPr/>
                    <a:lstStyle/>
                    <a:p>
                      <a:pPr algn="l" indent="0" marL="0">
                        <a:buNone/>
                      </a:pPr>
                      <a:r>
                        <a:rPr lang="en-US" sz="850" dirty="0">
                          <a:solidFill>
                            <a:srgbClr val="1E293B"/>
                          </a:solidFill>
                        </a:rPr>
                        <a:t>RCM Outsourcers / BPOs</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64748B"/>
                          </a:solidFill>
                        </a:rPr>
                        <a:t>8%</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l" indent="0" marL="0">
                        <a:buNone/>
                      </a:pPr>
                      <a:r>
                        <a:rPr lang="en-US" sz="850" dirty="0">
                          <a:solidFill>
                            <a:srgbClr val="1E293B"/>
                          </a:solidFill>
                        </a:rPr>
                        <a:t>Third-party RCM companies</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46304"/>
            <a:ext cx="8412480" cy="457200"/>
          </a:xfrm>
          <a:prstGeom prst="rect">
            <a:avLst/>
          </a:prstGeom>
          <a:noFill/>
          <a:ln/>
        </p:spPr>
        <p:txBody>
          <a:bodyPr wrap="square" lIns="0" tIns="0" rIns="0" bIns="0" rtlCol="0" anchor="ctr"/>
          <a:lstStyle/>
          <a:p>
            <a:pPr indent="0" marL="0">
              <a:buNone/>
            </a:pPr>
            <a:r>
              <a:rPr lang="en-US" sz="2000" b="1" dirty="0">
                <a:solidFill>
                  <a:srgbClr val="1B3A5C"/>
                </a:solidFill>
                <a:latin typeface="Arial" pitchFamily="34" charset="0"/>
                <a:ea typeface="Arial" pitchFamily="34" charset="-122"/>
                <a:cs typeface="Arial" pitchFamily="34" charset="-120"/>
              </a:rPr>
              <a:t>Slide 5  |  Market Opportunity</a:t>
            </a:r>
            <a:endParaRPr lang="en-US" sz="2000" dirty="0"/>
          </a:p>
        </p:txBody>
      </p:sp>
      <p:sp>
        <p:nvSpPr>
          <p:cNvPr id="3" name="Shape 1"/>
          <p:cNvSpPr/>
          <p:nvPr/>
        </p:nvSpPr>
        <p:spPr>
          <a:xfrm>
            <a:off x="365760" y="640080"/>
            <a:ext cx="822960" cy="201168"/>
          </a:xfrm>
          <a:prstGeom prst="rect">
            <a:avLst/>
          </a:prstGeom>
          <a:solidFill>
            <a:srgbClr val="1B3A5C"/>
          </a:solidFill>
          <a:ln/>
        </p:spPr>
      </p:sp>
      <p:sp>
        <p:nvSpPr>
          <p:cNvPr id="4" name="Text 2"/>
          <p:cNvSpPr/>
          <p:nvPr/>
        </p:nvSpPr>
        <p:spPr>
          <a:xfrm>
            <a:off x="365760" y="640080"/>
            <a:ext cx="822960"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SO WHAT</a:t>
            </a:r>
            <a:endParaRPr lang="en-US" sz="700" dirty="0"/>
          </a:p>
        </p:txBody>
      </p:sp>
      <p:sp>
        <p:nvSpPr>
          <p:cNvPr id="5" name="Text 3"/>
          <p:cNvSpPr/>
          <p:nvPr/>
        </p:nvSpPr>
        <p:spPr>
          <a:xfrm>
            <a:off x="1261872" y="640080"/>
            <a:ext cx="7406640" cy="201168"/>
          </a:xfrm>
          <a:prstGeom prst="rect">
            <a:avLst/>
          </a:prstGeom>
          <a:noFill/>
          <a:ln/>
        </p:spPr>
        <p:txBody>
          <a:bodyPr wrap="square" lIns="0" tIns="0" rIns="0" bIns="0" rtlCol="0" anchor="ctr"/>
          <a:lstStyle/>
          <a:p>
            <a:pPr indent="0" marL="0">
              <a:buNone/>
            </a:pPr>
            <a:r>
              <a:rPr lang="en-US" sz="850" i="1" dirty="0">
                <a:solidFill>
                  <a:srgbClr val="1B3A5C"/>
                </a:solidFill>
                <a:latin typeface="Arial" pitchFamily="34" charset="0"/>
                <a:ea typeface="Arial" pitchFamily="34" charset="-122"/>
                <a:cs typeface="Arial" pitchFamily="34" charset="-120"/>
              </a:rPr>
              <a:t>$73B U.S. RCM market growing at 11.6% CAGR — RevSpring's $9.2B primary segment growing faster at 12.7% — and CMS price transparency mandates now make RevSpring's workflows non-optional.</a:t>
            </a:r>
            <a:endParaRPr lang="en-US" sz="850" dirty="0"/>
          </a:p>
        </p:txBody>
      </p:sp>
      <p:sp>
        <p:nvSpPr>
          <p:cNvPr id="6" name="Text 4"/>
          <p:cNvSpPr/>
          <p:nvPr/>
        </p:nvSpPr>
        <p:spPr>
          <a:xfrm>
            <a:off x="274320" y="4864608"/>
            <a:ext cx="8595360" cy="182880"/>
          </a:xfrm>
          <a:prstGeom prst="rect">
            <a:avLst/>
          </a:prstGeom>
          <a:noFill/>
          <a:ln/>
        </p:spPr>
        <p:txBody>
          <a:bodyPr wrap="square" lIns="0" tIns="0" rIns="0" bIns="0" rtlCol="0" anchor="ctr"/>
          <a:lstStyle/>
          <a:p>
            <a:pPr algn="ctr" indent="0" marL="0">
              <a:buNone/>
            </a:pPr>
            <a:r>
              <a:rPr lang="en-US" sz="750" dirty="0">
                <a:solidFill>
                  <a:srgbClr val="9EABB8"/>
                </a:solidFill>
                <a:latin typeface="Arial" pitchFamily="34" charset="0"/>
                <a:ea typeface="Arial" pitchFamily="34" charset="-122"/>
                <a:cs typeface="Arial" pitchFamily="34" charset="-120"/>
              </a:rPr>
              <a:t>Confidential  |  Morsebridge Healthcare  |  IC Memo  |  RevSpring, Inc.  |  June 5, 2026</a:t>
            </a:r>
            <a:endParaRPr lang="en-US" sz="750" dirty="0"/>
          </a:p>
        </p:txBody>
      </p:sp>
      <p:sp>
        <p:nvSpPr>
          <p:cNvPr id="7" name="Shape 5"/>
          <p:cNvSpPr/>
          <p:nvPr/>
        </p:nvSpPr>
        <p:spPr>
          <a:xfrm>
            <a:off x="365760" y="960120"/>
            <a:ext cx="45720" cy="219456"/>
          </a:xfrm>
          <a:prstGeom prst="rect">
            <a:avLst/>
          </a:prstGeom>
          <a:solidFill>
            <a:srgbClr val="2E6DB4"/>
          </a:solidFill>
          <a:ln/>
        </p:spPr>
      </p:sp>
      <p:sp>
        <p:nvSpPr>
          <p:cNvPr id="8" name="Text 6"/>
          <p:cNvSpPr/>
          <p:nvPr/>
        </p:nvSpPr>
        <p:spPr>
          <a:xfrm>
            <a:off x="493776" y="960120"/>
            <a:ext cx="8046720" cy="219456"/>
          </a:xfrm>
          <a:prstGeom prst="rect">
            <a:avLst/>
          </a:prstGeom>
          <a:noFill/>
          <a:ln/>
        </p:spPr>
        <p:txBody>
          <a:bodyPr wrap="square" lIns="0" tIns="0" rIns="0" bIns="0" rtlCol="0" anchor="ctr"/>
          <a:lstStyle/>
          <a:p>
            <a:pPr indent="0" marL="0">
              <a:buNone/>
            </a:pPr>
            <a:r>
              <a:rPr lang="en-US" sz="950" b="1" dirty="0">
                <a:solidFill>
                  <a:srgbClr val="1B3A5C"/>
                </a:solidFill>
                <a:latin typeface="Arial" pitchFamily="34" charset="0"/>
                <a:ea typeface="Arial" pitchFamily="34" charset="-122"/>
                <a:cs typeface="Arial" pitchFamily="34" charset="-120"/>
              </a:rPr>
              <a:t>MARKET SIZE &amp; GROWTH</a:t>
            </a:r>
            <a:endParaRPr lang="en-US" sz="950" dirty="0"/>
          </a:p>
        </p:txBody>
      </p:sp>
      <p:graphicFrame>
        <p:nvGraphicFramePr>
          <p:cNvPr id="9" name="Chart 0" descr=""/>
          <p:cNvGraphicFramePr/>
          <p:nvPr/>
        </p:nvGraphicFramePr>
        <p:xfrm>
          <a:off x="274320" y="1216152"/>
          <a:ext cx="4389120" cy="237744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274320" y="3657600"/>
          <a:ext cx="4389120" cy="914400"/>
        </p:xfrm>
        <a:graphic>
          <a:graphicData uri="http://schemas.openxmlformats.org/drawingml/2006/table">
            <a:tbl>
              <a:tblPr/>
              <a:tblGrid>
                <a:gridCol w="1463040"/>
                <a:gridCol w="914400"/>
                <a:gridCol w="1280160"/>
                <a:gridCol w="731520"/>
              </a:tblGrid>
              <a:tr h="0">
                <a:tc>
                  <a:txBody>
                    <a:bodyPr/>
                    <a:lstStyle/>
                    <a:p>
                      <a:pPr algn="ctr" indent="0" marL="0">
                        <a:buNone/>
                      </a:pPr>
                      <a:r>
                        <a:rPr lang="en-US" sz="850" b="1" dirty="0">
                          <a:solidFill>
                            <a:srgbClr val="FFFFFF"/>
                          </a:solidFill>
                        </a:rPr>
                        <a:t>Segment</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2024</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Forecast</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CAGR</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r>
              <a:tr h="0">
                <a:tc>
                  <a:txBody>
                    <a:bodyPr/>
                    <a:lstStyle/>
                    <a:p>
                      <a:pPr algn="l" indent="0" marL="0">
                        <a:buNone/>
                      </a:pPr>
                      <a:r>
                        <a:rPr lang="en-US" sz="850" dirty="0">
                          <a:solidFill>
                            <a:srgbClr val="1E293B"/>
                          </a:solidFill>
                        </a:rPr>
                        <a:t>U.S. RCM Total</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1B3A5C"/>
                          </a:solidFill>
                        </a:rPr>
                        <a:t>$58.6B</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1B3A5C"/>
                          </a:solidFill>
                        </a:rPr>
                        <a:t>$195.9B (2035)</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1A7A2E"/>
                          </a:solidFill>
                        </a:rPr>
                        <a:t>11.6%</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r>
              <a:tr h="0">
                <a:tc>
                  <a:txBody>
                    <a:bodyPr/>
                    <a:lstStyle/>
                    <a:p>
                      <a:pPr algn="l" indent="0" marL="0">
                        <a:buNone/>
                      </a:pPr>
                      <a:r>
                        <a:rPr lang="en-US" sz="850" dirty="0">
                          <a:solidFill>
                            <a:srgbClr val="1E293B"/>
                          </a:solidFill>
                        </a:rPr>
                        <a:t>Patient Engagement</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B3A5C"/>
                          </a:solidFill>
                        </a:rPr>
                        <a:t>$26.0B</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B3A5C"/>
                          </a:solidFill>
                        </a:rPr>
                        <a:t>$51.7B (2030)</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7A2E"/>
                          </a:solidFill>
                        </a:rPr>
                        <a:t>12.0%</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r>
              <a:tr h="0">
                <a:tc>
                  <a:txBody>
                    <a:bodyPr/>
                    <a:lstStyle/>
                    <a:p>
                      <a:pPr algn="l" indent="0" marL="0">
                        <a:buNone/>
                      </a:pPr>
                      <a:r>
                        <a:rPr lang="en-US" sz="850" dirty="0">
                          <a:solidFill>
                            <a:srgbClr val="1E293B"/>
                          </a:solidFill>
                        </a:rPr>
                        <a:t>Pt. Financial Eng.</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1B3A5C"/>
                          </a:solidFill>
                        </a:rPr>
                        <a:t>$9.2B</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1B3A5C"/>
                          </a:solidFill>
                        </a:rPr>
                        <a:t>$16.8B (2028)</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1A7A2E"/>
                          </a:solidFill>
                        </a:rPr>
                        <a:t>12.7%</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r>
              <a:tr h="0">
                <a:tc>
                  <a:txBody>
                    <a:bodyPr/>
                    <a:lstStyle/>
                    <a:p>
                      <a:pPr algn="l" indent="0" marL="0">
                        <a:buNone/>
                      </a:pPr>
                      <a:r>
                        <a:rPr lang="en-US" sz="850" dirty="0">
                          <a:solidFill>
                            <a:srgbClr val="1E293B"/>
                          </a:solidFill>
                        </a:rPr>
                        <a:t>RevSpring SAM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2E6DB4"/>
                          </a:solidFill>
                        </a:rPr>
                        <a:t>~$4.0B</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2E6DB4"/>
                          </a:solidFill>
                        </a:rPr>
                        <a:t>~$6.5B (2030)</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7A2E"/>
                          </a:solidFill>
                        </a:rPr>
                        <a:t>~11.0%</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r>
            </a:tbl>
          </a:graphicData>
        </a:graphic>
      </p:graphicFrame>
      <p:sp>
        <p:nvSpPr>
          <p:cNvPr id="11" name="Shape 7"/>
          <p:cNvSpPr/>
          <p:nvPr/>
        </p:nvSpPr>
        <p:spPr>
          <a:xfrm>
            <a:off x="4846320" y="960120"/>
            <a:ext cx="45720" cy="219456"/>
          </a:xfrm>
          <a:prstGeom prst="rect">
            <a:avLst/>
          </a:prstGeom>
          <a:solidFill>
            <a:srgbClr val="2E6DB4"/>
          </a:solidFill>
          <a:ln/>
        </p:spPr>
      </p:sp>
      <p:sp>
        <p:nvSpPr>
          <p:cNvPr id="12" name="Text 8"/>
          <p:cNvSpPr/>
          <p:nvPr/>
        </p:nvSpPr>
        <p:spPr>
          <a:xfrm>
            <a:off x="4974336" y="960120"/>
            <a:ext cx="3566160" cy="219456"/>
          </a:xfrm>
          <a:prstGeom prst="rect">
            <a:avLst/>
          </a:prstGeom>
          <a:noFill/>
          <a:ln/>
        </p:spPr>
        <p:txBody>
          <a:bodyPr wrap="square" lIns="0" tIns="0" rIns="0" bIns="0" rtlCol="0" anchor="ctr"/>
          <a:lstStyle/>
          <a:p>
            <a:pPr indent="0" marL="0">
              <a:buNone/>
            </a:pPr>
            <a:r>
              <a:rPr lang="en-US" sz="950" b="1" dirty="0">
                <a:solidFill>
                  <a:srgbClr val="1B3A5C"/>
                </a:solidFill>
                <a:latin typeface="Arial" pitchFamily="34" charset="0"/>
                <a:ea typeface="Arial" pitchFamily="34" charset="-122"/>
                <a:cs typeface="Arial" pitchFamily="34" charset="-120"/>
              </a:rPr>
              <a:t>REGULATORY TAILWINDS — DIRECT DEMAND PULL</a:t>
            </a:r>
            <a:endParaRPr lang="en-US" sz="950" dirty="0"/>
          </a:p>
        </p:txBody>
      </p:sp>
      <p:sp>
        <p:nvSpPr>
          <p:cNvPr id="13" name="Shape 9"/>
          <p:cNvSpPr/>
          <p:nvPr/>
        </p:nvSpPr>
        <p:spPr>
          <a:xfrm>
            <a:off x="4846320" y="1261872"/>
            <a:ext cx="3931920" cy="621792"/>
          </a:xfrm>
          <a:prstGeom prst="rect">
            <a:avLst/>
          </a:prstGeom>
          <a:solidFill>
            <a:srgbClr val="F7F8FA"/>
          </a:solidFill>
          <a:ln w="5080">
            <a:solidFill>
              <a:srgbClr val="D0D5DD"/>
            </a:solidFill>
            <a:prstDash val="solid"/>
          </a:ln>
        </p:spPr>
      </p:sp>
      <p:sp>
        <p:nvSpPr>
          <p:cNvPr id="14" name="Shape 10"/>
          <p:cNvSpPr/>
          <p:nvPr/>
        </p:nvSpPr>
        <p:spPr>
          <a:xfrm>
            <a:off x="4846320" y="1261872"/>
            <a:ext cx="45720" cy="621792"/>
          </a:xfrm>
          <a:prstGeom prst="rect">
            <a:avLst/>
          </a:prstGeom>
          <a:solidFill>
            <a:srgbClr val="1A7A2E"/>
          </a:solidFill>
          <a:ln/>
        </p:spPr>
      </p:sp>
      <p:sp>
        <p:nvSpPr>
          <p:cNvPr id="15" name="Text 11"/>
          <p:cNvSpPr/>
          <p:nvPr/>
        </p:nvSpPr>
        <p:spPr>
          <a:xfrm>
            <a:off x="4965192" y="1316736"/>
            <a:ext cx="3749040" cy="182880"/>
          </a:xfrm>
          <a:prstGeom prst="rect">
            <a:avLst/>
          </a:prstGeom>
          <a:noFill/>
          <a:ln/>
        </p:spPr>
        <p:txBody>
          <a:bodyPr wrap="square" lIns="0" tIns="0" rIns="0" bIns="0" rtlCol="0" anchor="ctr"/>
          <a:lstStyle/>
          <a:p>
            <a:pPr indent="0" marL="0">
              <a:buNone/>
            </a:pPr>
            <a:r>
              <a:rPr lang="en-US" sz="900" b="1" dirty="0">
                <a:solidFill>
                  <a:srgbClr val="1B3A5C"/>
                </a:solidFill>
                <a:latin typeface="Arial" pitchFamily="34" charset="0"/>
                <a:ea typeface="Arial" pitchFamily="34" charset="-122"/>
                <a:cs typeface="Arial" pitchFamily="34" charset="-120"/>
              </a:rPr>
              <a:t>Price Transparency EO (Feb 2025)</a:t>
            </a:r>
            <a:endParaRPr lang="en-US" sz="900" dirty="0"/>
          </a:p>
        </p:txBody>
      </p:sp>
      <p:sp>
        <p:nvSpPr>
          <p:cNvPr id="16" name="Text 12"/>
          <p:cNvSpPr/>
          <p:nvPr/>
        </p:nvSpPr>
        <p:spPr>
          <a:xfrm>
            <a:off x="4965192" y="1499616"/>
            <a:ext cx="3749040" cy="347472"/>
          </a:xfrm>
          <a:prstGeom prst="rect">
            <a:avLst/>
          </a:prstGeom>
          <a:noFill/>
          <a:ln/>
        </p:spPr>
        <p:txBody>
          <a:bodyPr wrap="square" lIns="0" tIns="0" rIns="0" bIns="0" rtlCol="0" anchor="ctr"/>
          <a:lstStyle/>
          <a:p>
            <a:pPr indent="0" marL="0">
              <a:buNone/>
            </a:pPr>
            <a:r>
              <a:rPr lang="en-US" sz="750" dirty="0">
                <a:solidFill>
                  <a:srgbClr val="374151"/>
                </a:solidFill>
                <a:latin typeface="Arial" pitchFamily="34" charset="0"/>
                <a:ea typeface="Arial" pitchFamily="34" charset="-122"/>
                <a:cs typeface="Arial" pitchFamily="34" charset="-120"/>
              </a:rPr>
              <a:t>Mandates actual hospital prices; standardised format. Directly requires RevSpring PreService workflow.</a:t>
            </a:r>
            <a:endParaRPr lang="en-US" sz="750" dirty="0"/>
          </a:p>
        </p:txBody>
      </p:sp>
      <p:sp>
        <p:nvSpPr>
          <p:cNvPr id="17" name="Shape 13"/>
          <p:cNvSpPr/>
          <p:nvPr/>
        </p:nvSpPr>
        <p:spPr>
          <a:xfrm>
            <a:off x="4846320" y="1956816"/>
            <a:ext cx="3931920" cy="621792"/>
          </a:xfrm>
          <a:prstGeom prst="rect">
            <a:avLst/>
          </a:prstGeom>
          <a:solidFill>
            <a:srgbClr val="FFFFFF"/>
          </a:solidFill>
          <a:ln w="5080">
            <a:solidFill>
              <a:srgbClr val="D0D5DD"/>
            </a:solidFill>
            <a:prstDash val="solid"/>
          </a:ln>
        </p:spPr>
      </p:sp>
      <p:sp>
        <p:nvSpPr>
          <p:cNvPr id="18" name="Shape 14"/>
          <p:cNvSpPr/>
          <p:nvPr/>
        </p:nvSpPr>
        <p:spPr>
          <a:xfrm>
            <a:off x="4846320" y="1956816"/>
            <a:ext cx="45720" cy="621792"/>
          </a:xfrm>
          <a:prstGeom prst="rect">
            <a:avLst/>
          </a:prstGeom>
          <a:solidFill>
            <a:srgbClr val="1A7A2E"/>
          </a:solidFill>
          <a:ln/>
        </p:spPr>
      </p:sp>
      <p:sp>
        <p:nvSpPr>
          <p:cNvPr id="19" name="Text 15"/>
          <p:cNvSpPr/>
          <p:nvPr/>
        </p:nvSpPr>
        <p:spPr>
          <a:xfrm>
            <a:off x="4965192" y="2011680"/>
            <a:ext cx="3749040" cy="182880"/>
          </a:xfrm>
          <a:prstGeom prst="rect">
            <a:avLst/>
          </a:prstGeom>
          <a:noFill/>
          <a:ln/>
        </p:spPr>
        <p:txBody>
          <a:bodyPr wrap="square" lIns="0" tIns="0" rIns="0" bIns="0" rtlCol="0" anchor="ctr"/>
          <a:lstStyle/>
          <a:p>
            <a:pPr indent="0" marL="0">
              <a:buNone/>
            </a:pPr>
            <a:r>
              <a:rPr lang="en-US" sz="900" b="1" dirty="0">
                <a:solidFill>
                  <a:srgbClr val="1B3A5C"/>
                </a:solidFill>
                <a:latin typeface="Arial" pitchFamily="34" charset="0"/>
                <a:ea typeface="Arial" pitchFamily="34" charset="-122"/>
                <a:cs typeface="Arial" pitchFamily="34" charset="-120"/>
              </a:rPr>
              <a:t>CMS Hospital Price Transparency (Nov 2025, eff. Apr 2026)</a:t>
            </a:r>
            <a:endParaRPr lang="en-US" sz="900" dirty="0"/>
          </a:p>
        </p:txBody>
      </p:sp>
      <p:sp>
        <p:nvSpPr>
          <p:cNvPr id="20" name="Text 16"/>
          <p:cNvSpPr/>
          <p:nvPr/>
        </p:nvSpPr>
        <p:spPr>
          <a:xfrm>
            <a:off x="4965192" y="2194560"/>
            <a:ext cx="3749040" cy="347472"/>
          </a:xfrm>
          <a:prstGeom prst="rect">
            <a:avLst/>
          </a:prstGeom>
          <a:noFill/>
          <a:ln/>
        </p:spPr>
        <p:txBody>
          <a:bodyPr wrap="square" lIns="0" tIns="0" rIns="0" bIns="0" rtlCol="0" anchor="ctr"/>
          <a:lstStyle/>
          <a:p>
            <a:pPr indent="0" marL="0">
              <a:buNone/>
            </a:pPr>
            <a:r>
              <a:rPr lang="en-US" sz="750" dirty="0">
                <a:solidFill>
                  <a:srgbClr val="374151"/>
                </a:solidFill>
                <a:latin typeface="Arial" pitchFamily="34" charset="0"/>
                <a:ea typeface="Arial" pitchFamily="34" charset="-122"/>
                <a:cs typeface="Arial" pitchFamily="34" charset="-120"/>
              </a:rPr>
              <a:t>Strengthened compliance attestation; increased penalties. Non-optional for health systems.</a:t>
            </a:r>
            <a:endParaRPr lang="en-US" sz="750" dirty="0"/>
          </a:p>
        </p:txBody>
      </p:sp>
      <p:sp>
        <p:nvSpPr>
          <p:cNvPr id="21" name="Shape 17"/>
          <p:cNvSpPr/>
          <p:nvPr/>
        </p:nvSpPr>
        <p:spPr>
          <a:xfrm>
            <a:off x="4846320" y="2651760"/>
            <a:ext cx="3931920" cy="621792"/>
          </a:xfrm>
          <a:prstGeom prst="rect">
            <a:avLst/>
          </a:prstGeom>
          <a:solidFill>
            <a:srgbClr val="F7F8FA"/>
          </a:solidFill>
          <a:ln w="5080">
            <a:solidFill>
              <a:srgbClr val="D0D5DD"/>
            </a:solidFill>
            <a:prstDash val="solid"/>
          </a:ln>
        </p:spPr>
      </p:sp>
      <p:sp>
        <p:nvSpPr>
          <p:cNvPr id="22" name="Shape 18"/>
          <p:cNvSpPr/>
          <p:nvPr/>
        </p:nvSpPr>
        <p:spPr>
          <a:xfrm>
            <a:off x="4846320" y="2651760"/>
            <a:ext cx="45720" cy="621792"/>
          </a:xfrm>
          <a:prstGeom prst="rect">
            <a:avLst/>
          </a:prstGeom>
          <a:solidFill>
            <a:srgbClr val="1A7A2E"/>
          </a:solidFill>
          <a:ln/>
        </p:spPr>
      </p:sp>
      <p:sp>
        <p:nvSpPr>
          <p:cNvPr id="23" name="Text 19"/>
          <p:cNvSpPr/>
          <p:nvPr/>
        </p:nvSpPr>
        <p:spPr>
          <a:xfrm>
            <a:off x="4965192" y="2706624"/>
            <a:ext cx="3749040" cy="182880"/>
          </a:xfrm>
          <a:prstGeom prst="rect">
            <a:avLst/>
          </a:prstGeom>
          <a:noFill/>
          <a:ln/>
        </p:spPr>
        <p:txBody>
          <a:bodyPr wrap="square" lIns="0" tIns="0" rIns="0" bIns="0" rtlCol="0" anchor="ctr"/>
          <a:lstStyle/>
          <a:p>
            <a:pPr indent="0" marL="0">
              <a:buNone/>
            </a:pPr>
            <a:r>
              <a:rPr lang="en-US" sz="900" b="1" dirty="0">
                <a:solidFill>
                  <a:srgbClr val="1B3A5C"/>
                </a:solidFill>
                <a:latin typeface="Arial" pitchFamily="34" charset="0"/>
                <a:ea typeface="Arial" pitchFamily="34" charset="-122"/>
                <a:cs typeface="Arial" pitchFamily="34" charset="-120"/>
              </a:rPr>
              <a:t>No Surprises Act (enforcement 2025)</a:t>
            </a:r>
            <a:endParaRPr lang="en-US" sz="900" dirty="0"/>
          </a:p>
        </p:txBody>
      </p:sp>
      <p:sp>
        <p:nvSpPr>
          <p:cNvPr id="24" name="Text 20"/>
          <p:cNvSpPr/>
          <p:nvPr/>
        </p:nvSpPr>
        <p:spPr>
          <a:xfrm>
            <a:off x="4965192" y="2889504"/>
            <a:ext cx="3749040" cy="347472"/>
          </a:xfrm>
          <a:prstGeom prst="rect">
            <a:avLst/>
          </a:prstGeom>
          <a:noFill/>
          <a:ln/>
        </p:spPr>
        <p:txBody>
          <a:bodyPr wrap="square" lIns="0" tIns="0" rIns="0" bIns="0" rtlCol="0" anchor="ctr"/>
          <a:lstStyle/>
          <a:p>
            <a:pPr indent="0" marL="0">
              <a:buNone/>
            </a:pPr>
            <a:r>
              <a:rPr lang="en-US" sz="750" dirty="0">
                <a:solidFill>
                  <a:srgbClr val="374151"/>
                </a:solidFill>
                <a:latin typeface="Arial" pitchFamily="34" charset="0"/>
                <a:ea typeface="Arial" pitchFamily="34" charset="-122"/>
                <a:cs typeface="Arial" pitchFamily="34" charset="-120"/>
              </a:rPr>
              <a:t>GFEs required; patient protection from surprise billing. Drives PreService adoption.</a:t>
            </a:r>
            <a:endParaRPr lang="en-US" sz="750" dirty="0"/>
          </a:p>
        </p:txBody>
      </p:sp>
      <p:sp>
        <p:nvSpPr>
          <p:cNvPr id="25" name="Shape 21"/>
          <p:cNvSpPr/>
          <p:nvPr/>
        </p:nvSpPr>
        <p:spPr>
          <a:xfrm>
            <a:off x="4846320" y="3346704"/>
            <a:ext cx="3931920" cy="621792"/>
          </a:xfrm>
          <a:prstGeom prst="rect">
            <a:avLst/>
          </a:prstGeom>
          <a:solidFill>
            <a:srgbClr val="FFFFFF"/>
          </a:solidFill>
          <a:ln w="5080">
            <a:solidFill>
              <a:srgbClr val="D0D5DD"/>
            </a:solidFill>
            <a:prstDash val="solid"/>
          </a:ln>
        </p:spPr>
      </p:sp>
      <p:sp>
        <p:nvSpPr>
          <p:cNvPr id="26" name="Shape 22"/>
          <p:cNvSpPr/>
          <p:nvPr/>
        </p:nvSpPr>
        <p:spPr>
          <a:xfrm>
            <a:off x="4846320" y="3346704"/>
            <a:ext cx="45720" cy="621792"/>
          </a:xfrm>
          <a:prstGeom prst="rect">
            <a:avLst/>
          </a:prstGeom>
          <a:solidFill>
            <a:srgbClr val="2E6DB4"/>
          </a:solidFill>
          <a:ln/>
        </p:spPr>
      </p:sp>
      <p:sp>
        <p:nvSpPr>
          <p:cNvPr id="27" name="Text 23"/>
          <p:cNvSpPr/>
          <p:nvPr/>
        </p:nvSpPr>
        <p:spPr>
          <a:xfrm>
            <a:off x="4965192" y="3401568"/>
            <a:ext cx="3749040" cy="182880"/>
          </a:xfrm>
          <a:prstGeom prst="rect">
            <a:avLst/>
          </a:prstGeom>
          <a:noFill/>
          <a:ln/>
        </p:spPr>
        <p:txBody>
          <a:bodyPr wrap="square" lIns="0" tIns="0" rIns="0" bIns="0" rtlCol="0" anchor="ctr"/>
          <a:lstStyle/>
          <a:p>
            <a:pPr indent="0" marL="0">
              <a:buNone/>
            </a:pPr>
            <a:r>
              <a:rPr lang="en-US" sz="900" b="1" dirty="0">
                <a:solidFill>
                  <a:srgbClr val="1B3A5C"/>
                </a:solidFill>
                <a:latin typeface="Arial" pitchFamily="34" charset="0"/>
                <a:ea typeface="Arial" pitchFamily="34" charset="-122"/>
                <a:cs typeface="Arial" pitchFamily="34" charset="-120"/>
              </a:rPr>
              <a:t>FHIR API Mandate (health plans, 2026)</a:t>
            </a:r>
            <a:endParaRPr lang="en-US" sz="900" dirty="0"/>
          </a:p>
        </p:txBody>
      </p:sp>
      <p:sp>
        <p:nvSpPr>
          <p:cNvPr id="28" name="Text 24"/>
          <p:cNvSpPr/>
          <p:nvPr/>
        </p:nvSpPr>
        <p:spPr>
          <a:xfrm>
            <a:off x="4965192" y="3584448"/>
            <a:ext cx="3749040" cy="347472"/>
          </a:xfrm>
          <a:prstGeom prst="rect">
            <a:avLst/>
          </a:prstGeom>
          <a:noFill/>
          <a:ln/>
        </p:spPr>
        <p:txBody>
          <a:bodyPr wrap="square" lIns="0" tIns="0" rIns="0" bIns="0" rtlCol="0" anchor="ctr"/>
          <a:lstStyle/>
          <a:p>
            <a:pPr indent="0" marL="0">
              <a:buNone/>
            </a:pPr>
            <a:r>
              <a:rPr lang="en-US" sz="750" dirty="0">
                <a:solidFill>
                  <a:srgbClr val="374151"/>
                </a:solidFill>
                <a:latin typeface="Arial" pitchFamily="34" charset="0"/>
                <a:ea typeface="Arial" pitchFamily="34" charset="-122"/>
                <a:cs typeface="Arial" pitchFamily="34" charset="-120"/>
              </a:rPr>
              <a:t>HL7 FHIR API required for payer data exchange. Benefits RevSpring API-first architecture.</a:t>
            </a:r>
            <a:endParaRPr lang="en-US" sz="750" dirty="0"/>
          </a:p>
        </p:txBody>
      </p:sp>
      <p:sp>
        <p:nvSpPr>
          <p:cNvPr id="29" name="Shape 25"/>
          <p:cNvSpPr/>
          <p:nvPr/>
        </p:nvSpPr>
        <p:spPr>
          <a:xfrm>
            <a:off x="4846320" y="4041648"/>
            <a:ext cx="3931920" cy="621792"/>
          </a:xfrm>
          <a:prstGeom prst="rect">
            <a:avLst/>
          </a:prstGeom>
          <a:solidFill>
            <a:srgbClr val="F7F8FA"/>
          </a:solidFill>
          <a:ln w="5080">
            <a:solidFill>
              <a:srgbClr val="D0D5DD"/>
            </a:solidFill>
            <a:prstDash val="solid"/>
          </a:ln>
        </p:spPr>
      </p:sp>
      <p:sp>
        <p:nvSpPr>
          <p:cNvPr id="30" name="Shape 26"/>
          <p:cNvSpPr/>
          <p:nvPr/>
        </p:nvSpPr>
        <p:spPr>
          <a:xfrm>
            <a:off x="4846320" y="4041648"/>
            <a:ext cx="45720" cy="621792"/>
          </a:xfrm>
          <a:prstGeom prst="rect">
            <a:avLst/>
          </a:prstGeom>
          <a:solidFill>
            <a:srgbClr val="B45309"/>
          </a:solidFill>
          <a:ln/>
        </p:spPr>
      </p:sp>
      <p:sp>
        <p:nvSpPr>
          <p:cNvPr id="31" name="Text 27"/>
          <p:cNvSpPr/>
          <p:nvPr/>
        </p:nvSpPr>
        <p:spPr>
          <a:xfrm>
            <a:off x="4965192" y="4096512"/>
            <a:ext cx="3749040" cy="182880"/>
          </a:xfrm>
          <a:prstGeom prst="rect">
            <a:avLst/>
          </a:prstGeom>
          <a:noFill/>
          <a:ln/>
        </p:spPr>
        <p:txBody>
          <a:bodyPr wrap="square" lIns="0" tIns="0" rIns="0" bIns="0" rtlCol="0" anchor="ctr"/>
          <a:lstStyle/>
          <a:p>
            <a:pPr indent="0" marL="0">
              <a:buNone/>
            </a:pPr>
            <a:r>
              <a:rPr lang="en-US" sz="900" b="1" dirty="0">
                <a:solidFill>
                  <a:srgbClr val="1B3A5C"/>
                </a:solidFill>
                <a:latin typeface="Arial" pitchFamily="34" charset="0"/>
                <a:ea typeface="Arial" pitchFamily="34" charset="-122"/>
                <a:cs typeface="Arial" pitchFamily="34" charset="-120"/>
              </a:rPr>
              <a:t>TCPA / FCC Consent Rules</a:t>
            </a:r>
            <a:endParaRPr lang="en-US" sz="900" dirty="0"/>
          </a:p>
        </p:txBody>
      </p:sp>
      <p:sp>
        <p:nvSpPr>
          <p:cNvPr id="32" name="Text 28"/>
          <p:cNvSpPr/>
          <p:nvPr/>
        </p:nvSpPr>
        <p:spPr>
          <a:xfrm>
            <a:off x="4965192" y="4279392"/>
            <a:ext cx="3749040" cy="347472"/>
          </a:xfrm>
          <a:prstGeom prst="rect">
            <a:avLst/>
          </a:prstGeom>
          <a:noFill/>
          <a:ln/>
        </p:spPr>
        <p:txBody>
          <a:bodyPr wrap="square" lIns="0" tIns="0" rIns="0" bIns="0" rtlCol="0" anchor="ctr"/>
          <a:lstStyle/>
          <a:p>
            <a:pPr indent="0" marL="0">
              <a:buNone/>
            </a:pPr>
            <a:r>
              <a:rPr lang="en-US" sz="750" dirty="0">
                <a:solidFill>
                  <a:srgbClr val="374151"/>
                </a:solidFill>
                <a:latin typeface="Arial" pitchFamily="34" charset="0"/>
                <a:ea typeface="Arial" pitchFamily="34" charset="-122"/>
                <a:cs typeface="Arial" pitchFamily="34" charset="-120"/>
              </a:rPr>
              <a:t>Evolving rules on automated outreach create compliance risk for 1.5B+ annual comms.</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46304"/>
            <a:ext cx="8412480" cy="457200"/>
          </a:xfrm>
          <a:prstGeom prst="rect">
            <a:avLst/>
          </a:prstGeom>
          <a:noFill/>
          <a:ln/>
        </p:spPr>
        <p:txBody>
          <a:bodyPr wrap="square" lIns="0" tIns="0" rIns="0" bIns="0" rtlCol="0" anchor="ctr"/>
          <a:lstStyle/>
          <a:p>
            <a:pPr indent="0" marL="0">
              <a:buNone/>
            </a:pPr>
            <a:r>
              <a:rPr lang="en-US" sz="2000" b="1" dirty="0">
                <a:solidFill>
                  <a:srgbClr val="1B3A5C"/>
                </a:solidFill>
                <a:latin typeface="Arial" pitchFamily="34" charset="0"/>
                <a:ea typeface="Arial" pitchFamily="34" charset="-122"/>
                <a:cs typeface="Arial" pitchFamily="34" charset="-120"/>
              </a:rPr>
              <a:t>Slide 6  |  Competitive Position</a:t>
            </a:r>
            <a:endParaRPr lang="en-US" sz="2000" dirty="0"/>
          </a:p>
        </p:txBody>
      </p:sp>
      <p:sp>
        <p:nvSpPr>
          <p:cNvPr id="3" name="Shape 1"/>
          <p:cNvSpPr/>
          <p:nvPr/>
        </p:nvSpPr>
        <p:spPr>
          <a:xfrm>
            <a:off x="365760" y="640080"/>
            <a:ext cx="822960" cy="201168"/>
          </a:xfrm>
          <a:prstGeom prst="rect">
            <a:avLst/>
          </a:prstGeom>
          <a:solidFill>
            <a:srgbClr val="1B3A5C"/>
          </a:solidFill>
          <a:ln/>
        </p:spPr>
      </p:sp>
      <p:sp>
        <p:nvSpPr>
          <p:cNvPr id="4" name="Text 2"/>
          <p:cNvSpPr/>
          <p:nvPr/>
        </p:nvSpPr>
        <p:spPr>
          <a:xfrm>
            <a:off x="365760" y="640080"/>
            <a:ext cx="822960"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SO WHAT</a:t>
            </a:r>
            <a:endParaRPr lang="en-US" sz="700" dirty="0"/>
          </a:p>
        </p:txBody>
      </p:sp>
      <p:sp>
        <p:nvSpPr>
          <p:cNvPr id="5" name="Text 3"/>
          <p:cNvSpPr/>
          <p:nvPr/>
        </p:nvSpPr>
        <p:spPr>
          <a:xfrm>
            <a:off x="1261872" y="640080"/>
            <a:ext cx="7406640" cy="201168"/>
          </a:xfrm>
          <a:prstGeom prst="rect">
            <a:avLst/>
          </a:prstGeom>
          <a:noFill/>
          <a:ln/>
        </p:spPr>
        <p:txBody>
          <a:bodyPr wrap="square" lIns="0" tIns="0" rIns="0" bIns="0" rtlCol="0" anchor="ctr"/>
          <a:lstStyle/>
          <a:p>
            <a:pPr indent="0" marL="0">
              <a:buNone/>
            </a:pPr>
            <a:r>
              <a:rPr lang="en-US" sz="850" i="1" dirty="0">
                <a:solidFill>
                  <a:srgbClr val="1B3A5C"/>
                </a:solidFill>
                <a:latin typeface="Arial" pitchFamily="34" charset="0"/>
                <a:ea typeface="Arial" pitchFamily="34" charset="-122"/>
                <a:cs typeface="Arial" pitchFamily="34" charset="-120"/>
              </a:rPr>
              <a:t>#1 KLAS 2nd consecutive year, 300M consumer database, and 85% EHR coverage constitute a three-layer moat no single competitor can match today.</a:t>
            </a:r>
            <a:endParaRPr lang="en-US" sz="850" dirty="0"/>
          </a:p>
        </p:txBody>
      </p:sp>
      <p:sp>
        <p:nvSpPr>
          <p:cNvPr id="6" name="Text 4"/>
          <p:cNvSpPr/>
          <p:nvPr/>
        </p:nvSpPr>
        <p:spPr>
          <a:xfrm>
            <a:off x="274320" y="4864608"/>
            <a:ext cx="8595360" cy="182880"/>
          </a:xfrm>
          <a:prstGeom prst="rect">
            <a:avLst/>
          </a:prstGeom>
          <a:noFill/>
          <a:ln/>
        </p:spPr>
        <p:txBody>
          <a:bodyPr wrap="square" lIns="0" tIns="0" rIns="0" bIns="0" rtlCol="0" anchor="ctr"/>
          <a:lstStyle/>
          <a:p>
            <a:pPr algn="ctr" indent="0" marL="0">
              <a:buNone/>
            </a:pPr>
            <a:r>
              <a:rPr lang="en-US" sz="750" dirty="0">
                <a:solidFill>
                  <a:srgbClr val="9EABB8"/>
                </a:solidFill>
                <a:latin typeface="Arial" pitchFamily="34" charset="0"/>
                <a:ea typeface="Arial" pitchFamily="34" charset="-122"/>
                <a:cs typeface="Arial" pitchFamily="34" charset="-120"/>
              </a:rPr>
              <a:t>Confidential  |  Morsebridge Healthcare  |  IC Memo  |  RevSpring, Inc.  |  June 5, 2026</a:t>
            </a:r>
            <a:endParaRPr lang="en-US" sz="750" dirty="0"/>
          </a:p>
        </p:txBody>
      </p:sp>
      <p:sp>
        <p:nvSpPr>
          <p:cNvPr id="7" name="Shape 5"/>
          <p:cNvSpPr/>
          <p:nvPr/>
        </p:nvSpPr>
        <p:spPr>
          <a:xfrm>
            <a:off x="365760" y="960120"/>
            <a:ext cx="45720" cy="219456"/>
          </a:xfrm>
          <a:prstGeom prst="rect">
            <a:avLst/>
          </a:prstGeom>
          <a:solidFill>
            <a:srgbClr val="2E6DB4"/>
          </a:solidFill>
          <a:ln/>
        </p:spPr>
      </p:sp>
      <p:sp>
        <p:nvSpPr>
          <p:cNvPr id="8" name="Text 6"/>
          <p:cNvSpPr/>
          <p:nvPr/>
        </p:nvSpPr>
        <p:spPr>
          <a:xfrm>
            <a:off x="493776" y="960120"/>
            <a:ext cx="8046720" cy="219456"/>
          </a:xfrm>
          <a:prstGeom prst="rect">
            <a:avLst/>
          </a:prstGeom>
          <a:noFill/>
          <a:ln/>
        </p:spPr>
        <p:txBody>
          <a:bodyPr wrap="square" lIns="0" tIns="0" rIns="0" bIns="0" rtlCol="0" anchor="ctr"/>
          <a:lstStyle/>
          <a:p>
            <a:pPr indent="0" marL="0">
              <a:buNone/>
            </a:pPr>
            <a:r>
              <a:rPr lang="en-US" sz="950" b="1" dirty="0">
                <a:solidFill>
                  <a:srgbClr val="1B3A5C"/>
                </a:solidFill>
                <a:latin typeface="Arial" pitchFamily="34" charset="0"/>
                <a:ea typeface="Arial" pitchFamily="34" charset="-122"/>
                <a:cs typeface="Arial" pitchFamily="34" charset="-120"/>
              </a:rPr>
              <a:t>KLAS PATIENT FINANCIAL ENGAGEMENT — 2026</a:t>
            </a:r>
            <a:endParaRPr lang="en-US" sz="950" dirty="0"/>
          </a:p>
        </p:txBody>
      </p:sp>
      <p:graphicFrame>
        <p:nvGraphicFramePr>
          <p:cNvPr id="9" name="Chart 0" descr=""/>
          <p:cNvGraphicFramePr/>
          <p:nvPr/>
        </p:nvGraphicFramePr>
        <p:xfrm>
          <a:off x="274320" y="1216152"/>
          <a:ext cx="4389120" cy="1417320"/>
        </p:xfrm>
        <a:graphic xmlns:a="http://schemas.openxmlformats.org/drawingml/2006/main">
          <a:graphicData uri="http://schemas.openxmlformats.org/drawingml/2006/chart">
            <c:chart xmlns:c="http://schemas.openxmlformats.org/drawingml/2006/chart" r:id="rId1"/>
          </a:graphicData>
        </a:graphic>
      </p:graphicFrame>
      <p:sp>
        <p:nvSpPr>
          <p:cNvPr id="10" name="Shape 7"/>
          <p:cNvSpPr/>
          <p:nvPr/>
        </p:nvSpPr>
        <p:spPr>
          <a:xfrm>
            <a:off x="365760" y="2743200"/>
            <a:ext cx="45720" cy="219456"/>
          </a:xfrm>
          <a:prstGeom prst="rect">
            <a:avLst/>
          </a:prstGeom>
          <a:solidFill>
            <a:srgbClr val="2E6DB4"/>
          </a:solidFill>
          <a:ln/>
        </p:spPr>
      </p:sp>
      <p:sp>
        <p:nvSpPr>
          <p:cNvPr id="11" name="Text 8"/>
          <p:cNvSpPr/>
          <p:nvPr/>
        </p:nvSpPr>
        <p:spPr>
          <a:xfrm>
            <a:off x="493776" y="2743200"/>
            <a:ext cx="8046720" cy="219456"/>
          </a:xfrm>
          <a:prstGeom prst="rect">
            <a:avLst/>
          </a:prstGeom>
          <a:noFill/>
          <a:ln/>
        </p:spPr>
        <p:txBody>
          <a:bodyPr wrap="square" lIns="0" tIns="0" rIns="0" bIns="0" rtlCol="0" anchor="ctr"/>
          <a:lstStyle/>
          <a:p>
            <a:pPr indent="0" marL="0">
              <a:buNone/>
            </a:pPr>
            <a:r>
              <a:rPr lang="en-US" sz="950" b="1" dirty="0">
                <a:solidFill>
                  <a:srgbClr val="1B3A5C"/>
                </a:solidFill>
                <a:latin typeface="Arial" pitchFamily="34" charset="0"/>
                <a:ea typeface="Arial" pitchFamily="34" charset="-122"/>
                <a:cs typeface="Arial" pitchFamily="34" charset="-120"/>
              </a:rPr>
              <a:t>MOAT ASSESSMENT</a:t>
            </a:r>
            <a:endParaRPr lang="en-US" sz="9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274320" y="2962656"/>
          <a:ext cx="4389120" cy="914400"/>
        </p:xfrm>
        <a:graphic>
          <a:graphicData uri="http://schemas.openxmlformats.org/drawingml/2006/table">
            <a:tbl>
              <a:tblPr/>
              <a:tblGrid>
                <a:gridCol w="2194560"/>
                <a:gridCol w="914400"/>
                <a:gridCol w="1280160"/>
              </a:tblGrid>
              <a:tr h="0">
                <a:tc>
                  <a:txBody>
                    <a:bodyPr/>
                    <a:lstStyle/>
                    <a:p>
                      <a:pPr algn="ctr" indent="0" marL="0">
                        <a:buNone/>
                      </a:pPr>
                      <a:r>
                        <a:rPr lang="en-US" sz="850" b="1" dirty="0">
                          <a:solidFill>
                            <a:srgbClr val="FFFFFF"/>
                          </a:solidFill>
                        </a:rPr>
                        <a:t>Moat Element</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Rating</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Replication Timeline</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r>
              <a:tr h="0">
                <a:tc>
                  <a:txBody>
                    <a:bodyPr/>
                    <a:lstStyle/>
                    <a:p>
                      <a:pPr algn="l" indent="0" marL="0">
                        <a:buNone/>
                      </a:pPr>
                      <a:r>
                        <a:rPr lang="en-US" sz="850" dirty="0">
                          <a:solidFill>
                            <a:srgbClr val="1E293B"/>
                          </a:solidFill>
                        </a:rPr>
                        <a:t>300M+ Consumer Analytics Database</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b="1" dirty="0">
                          <a:solidFill>
                            <a:srgbClr val="1A7A2E"/>
                          </a:solidFill>
                        </a:rPr>
                        <a:t>STRONG</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8F5E9"/>
                    </a:solidFill>
                  </a:tcPr>
                </a:tc>
                <a:tc>
                  <a:txBody>
                    <a:bodyPr/>
                    <a:lstStyle/>
                    <a:p>
                      <a:pPr algn="ctr" indent="0" marL="0">
                        <a:buNone/>
                      </a:pPr>
                      <a:r>
                        <a:rPr lang="en-US" sz="850" dirty="0">
                          <a:solidFill>
                            <a:srgbClr val="64748B"/>
                          </a:solidFill>
                        </a:rPr>
                        <a:t>5–10 years</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r>
              <a:tr h="0">
                <a:tc>
                  <a:txBody>
                    <a:bodyPr/>
                    <a:lstStyle/>
                    <a:p>
                      <a:pPr algn="l" indent="0" marL="0">
                        <a:buNone/>
                      </a:pPr>
                      <a:r>
                        <a:rPr lang="en-US" sz="850" dirty="0">
                          <a:solidFill>
                            <a:srgbClr val="1E293B"/>
                          </a:solidFill>
                        </a:rPr>
                        <a:t>EHR Integrations — 85% hospital coverage</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A7A2E"/>
                          </a:solidFill>
                        </a:rPr>
                        <a:t>STRONG</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8F5E9"/>
                    </a:solidFill>
                  </a:tcPr>
                </a:tc>
                <a:tc>
                  <a:txBody>
                    <a:bodyPr/>
                    <a:lstStyle/>
                    <a:p>
                      <a:pPr algn="ctr" indent="0" marL="0">
                        <a:buNone/>
                      </a:pPr>
                      <a:r>
                        <a:rPr lang="en-US" sz="850" dirty="0">
                          <a:solidFill>
                            <a:srgbClr val="64748B"/>
                          </a:solidFill>
                        </a:rPr>
                        <a:t>3–5 years</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r>
              <a:tr h="0">
                <a:tc>
                  <a:txBody>
                    <a:bodyPr/>
                    <a:lstStyle/>
                    <a:p>
                      <a:pPr algn="l" indent="0" marL="0">
                        <a:buNone/>
                      </a:pPr>
                      <a:r>
                        <a:rPr lang="en-US" sz="850" dirty="0">
                          <a:solidFill>
                            <a:srgbClr val="1E293B"/>
                          </a:solidFill>
                        </a:rPr>
                        <a:t>PCI Level 1 + HIPAA Compliance Infrastructure</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b="1" dirty="0">
                          <a:solidFill>
                            <a:srgbClr val="1A7A2E"/>
                          </a:solidFill>
                        </a:rPr>
                        <a:t>STRONG</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8F5E9"/>
                    </a:solidFill>
                  </a:tcPr>
                </a:tc>
                <a:tc>
                  <a:txBody>
                    <a:bodyPr/>
                    <a:lstStyle/>
                    <a:p>
                      <a:pPr algn="ctr" indent="0" marL="0">
                        <a:buNone/>
                      </a:pPr>
                      <a:r>
                        <a:rPr lang="en-US" sz="850" dirty="0">
                          <a:solidFill>
                            <a:srgbClr val="64748B"/>
                          </a:solidFill>
                        </a:rPr>
                        <a:t>2–3 years</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r>
              <a:tr h="0">
                <a:tc>
                  <a:txBody>
                    <a:bodyPr/>
                    <a:lstStyle/>
                    <a:p>
                      <a:pPr algn="l" indent="0" marL="0">
                        <a:buNone/>
                      </a:pPr>
                      <a:r>
                        <a:rPr lang="en-US" sz="850" dirty="0">
                          <a:solidFill>
                            <a:srgbClr val="1E293B"/>
                          </a:solidFill>
                        </a:rPr>
                        <a:t>$8B+ Annual Payment Processing Scale</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B45309"/>
                          </a:solidFill>
                        </a:rPr>
                        <a:t>MODERATE</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9E6"/>
                    </a:solidFill>
                  </a:tcPr>
                </a:tc>
                <a:tc>
                  <a:txBody>
                    <a:bodyPr/>
                    <a:lstStyle/>
                    <a:p>
                      <a:pPr algn="ctr" indent="0" marL="0">
                        <a:buNone/>
                      </a:pPr>
                      <a:r>
                        <a:rPr lang="en-US" sz="850" dirty="0">
                          <a:solidFill>
                            <a:srgbClr val="64748B"/>
                          </a:solidFill>
                        </a:rPr>
                        <a:t>3–5 years (Cedar now $10B+)</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r>
              <a:tr h="0">
                <a:tc>
                  <a:txBody>
                    <a:bodyPr/>
                    <a:lstStyle/>
                    <a:p>
                      <a:pPr algn="l" indent="0" marL="0">
                        <a:buNone/>
                      </a:pPr>
                      <a:r>
                        <a:rPr lang="en-US" sz="850" dirty="0">
                          <a:solidFill>
                            <a:srgbClr val="1E293B"/>
                          </a:solidFill>
                        </a:rPr>
                        <a:t>Multi-Product Switching Costs (3–5yr contracts)</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b="1" dirty="0">
                          <a:solidFill>
                            <a:srgbClr val="B45309"/>
                          </a:solidFill>
                        </a:rPr>
                        <a:t>MODERATE</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9E6"/>
                    </a:solidFill>
                  </a:tcPr>
                </a:tc>
                <a:tc>
                  <a:txBody>
                    <a:bodyPr/>
                    <a:lstStyle/>
                    <a:p>
                      <a:pPr algn="ctr" indent="0" marL="0">
                        <a:buNone/>
                      </a:pPr>
                      <a:r>
                        <a:rPr lang="en-US" sz="850" dirty="0">
                          <a:solidFill>
                            <a:srgbClr val="64748B"/>
                          </a:solidFill>
                        </a:rPr>
                        <a:t>2–3 years</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r>
            </a:tbl>
          </a:graphicData>
        </a:graphic>
      </p:graphicFrame>
      <p:sp>
        <p:nvSpPr>
          <p:cNvPr id="13" name="Shape 9"/>
          <p:cNvSpPr/>
          <p:nvPr/>
        </p:nvSpPr>
        <p:spPr>
          <a:xfrm>
            <a:off x="4846320" y="960120"/>
            <a:ext cx="45720" cy="219456"/>
          </a:xfrm>
          <a:prstGeom prst="rect">
            <a:avLst/>
          </a:prstGeom>
          <a:solidFill>
            <a:srgbClr val="2E6DB4"/>
          </a:solidFill>
          <a:ln/>
        </p:spPr>
      </p:sp>
      <p:sp>
        <p:nvSpPr>
          <p:cNvPr id="14" name="Text 10"/>
          <p:cNvSpPr/>
          <p:nvPr/>
        </p:nvSpPr>
        <p:spPr>
          <a:xfrm>
            <a:off x="4974336" y="960120"/>
            <a:ext cx="3566160" cy="219456"/>
          </a:xfrm>
          <a:prstGeom prst="rect">
            <a:avLst/>
          </a:prstGeom>
          <a:noFill/>
          <a:ln/>
        </p:spPr>
        <p:txBody>
          <a:bodyPr wrap="square" lIns="0" tIns="0" rIns="0" bIns="0" rtlCol="0" anchor="ctr"/>
          <a:lstStyle/>
          <a:p>
            <a:pPr indent="0" marL="0">
              <a:buNone/>
            </a:pPr>
            <a:r>
              <a:rPr lang="en-US" sz="950" b="1" dirty="0">
                <a:solidFill>
                  <a:srgbClr val="1B3A5C"/>
                </a:solidFill>
                <a:latin typeface="Arial" pitchFamily="34" charset="0"/>
                <a:ea typeface="Arial" pitchFamily="34" charset="-122"/>
                <a:cs typeface="Arial" pitchFamily="34" charset="-120"/>
              </a:rPr>
              <a:t>COMPETITOR BENCHMARKING</a:t>
            </a:r>
            <a:endParaRPr lang="en-US" sz="950" dirty="0"/>
          </a:p>
        </p:txBody>
      </p:sp>
      <p:graphicFrame>
        <p:nvGraphicFramePr>
          <p:cNvPr id="13" name="Table 1"/>
          <p:cNvGraphicFramePr>
            <a:graphicFrameLocks noGrp="1"/>
          </p:cNvGraphicFramePr>
          <p:nvPr>
            <p:extLst>
              <p:ext uri="{D42A27DB-BD31-4B8C-83A1-F6EECF244321}">
                <p14:modId xmlns:p14="http://schemas.microsoft.com/office/powerpoint/2010/main" val="1579011935"/>
              </p:ext>
            </p:extLst>
          </p:nvPr>
        </p:nvGraphicFramePr>
        <p:xfrm>
          <a:off x="4846320" y="1216152"/>
          <a:ext cx="3931920" cy="914400"/>
        </p:xfrm>
        <a:graphic>
          <a:graphicData uri="http://schemas.openxmlformats.org/drawingml/2006/table">
            <a:tbl>
              <a:tblPr/>
              <a:tblGrid>
                <a:gridCol w="1463040"/>
                <a:gridCol w="594360"/>
                <a:gridCol w="594360"/>
                <a:gridCol w="685800"/>
                <a:gridCol w="594360"/>
              </a:tblGrid>
              <a:tr h="0">
                <a:tc>
                  <a:txBody>
                    <a:bodyPr/>
                    <a:lstStyle/>
                    <a:p>
                      <a:pPr algn="ctr" indent="0" marL="0">
                        <a:buNone/>
                      </a:pPr>
                      <a:r>
                        <a:rPr lang="en-US" sz="850" b="1" dirty="0">
                          <a:solidFill>
                            <a:srgbClr val="FFFFFF"/>
                          </a:solidFill>
                        </a:rPr>
                        <a:t>Vendor</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KLAS</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Print</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Analytics</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Pre-Svc</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r>
              <a:tr h="0">
                <a:tc>
                  <a:txBody>
                    <a:bodyPr/>
                    <a:lstStyle/>
                    <a:p>
                      <a:pPr algn="l" indent="0" marL="0">
                        <a:buNone/>
                      </a:pPr>
                      <a:r>
                        <a:rPr lang="en-US" sz="850" b="1" dirty="0">
                          <a:solidFill>
                            <a:srgbClr val="1A5C2A"/>
                          </a:solidFill>
                        </a:rPr>
                        <a:t>RevSpring</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8F5E9"/>
                    </a:solidFill>
                  </a:tcPr>
                </a:tc>
                <a:tc>
                  <a:txBody>
                    <a:bodyPr/>
                    <a:lstStyle/>
                    <a:p>
                      <a:pPr algn="ctr" indent="0" marL="0">
                        <a:buNone/>
                      </a:pPr>
                      <a:r>
                        <a:rPr lang="en-US" sz="900" b="1" dirty="0">
                          <a:solidFill>
                            <a:srgbClr val="1A7A2E"/>
                          </a:solidFill>
                        </a:rPr>
                        <a:t>90.3</a:t>
                      </a:r>
                      <a:endParaRPr lang="en-US" sz="90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8F5E9"/>
                    </a:solidFill>
                  </a:tcPr>
                </a:tc>
                <a:tc>
                  <a:txBody>
                    <a:bodyPr/>
                    <a:lstStyle/>
                    <a:p>
                      <a:pPr algn="ctr" indent="0" marL="0">
                        <a:buNone/>
                      </a:pPr>
                      <a:r>
                        <a:rPr lang="en-US" sz="1100" dirty="0">
                          <a:solidFill>
                            <a:srgbClr val="1A7A2E"/>
                          </a:solidFill>
                        </a:rPr>
                        <a:t>✓</a:t>
                      </a:r>
                      <a:endParaRPr lang="en-US" sz="110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8F5E9"/>
                    </a:solidFill>
                  </a:tcPr>
                </a:tc>
                <a:tc>
                  <a:txBody>
                    <a:bodyPr/>
                    <a:lstStyle/>
                    <a:p>
                      <a:pPr algn="ctr" indent="0" marL="0">
                        <a:buNone/>
                      </a:pPr>
                      <a:r>
                        <a:rPr lang="en-US" sz="1100" dirty="0">
                          <a:solidFill>
                            <a:srgbClr val="1A7A2E"/>
                          </a:solidFill>
                        </a:rPr>
                        <a:t>✓</a:t>
                      </a:r>
                      <a:endParaRPr lang="en-US" sz="110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8F5E9"/>
                    </a:solidFill>
                  </a:tcPr>
                </a:tc>
                <a:tc>
                  <a:txBody>
                    <a:bodyPr/>
                    <a:lstStyle/>
                    <a:p>
                      <a:pPr algn="ctr" indent="0" marL="0">
                        <a:buNone/>
                      </a:pPr>
                      <a:r>
                        <a:rPr lang="en-US" sz="1100" dirty="0">
                          <a:solidFill>
                            <a:srgbClr val="1A7A2E"/>
                          </a:solidFill>
                        </a:rPr>
                        <a:t>✓</a:t>
                      </a:r>
                      <a:endParaRPr lang="en-US" sz="110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8F5E9"/>
                    </a:solidFill>
                  </a:tcPr>
                </a:tc>
              </a:tr>
              <a:tr h="0">
                <a:tc>
                  <a:txBody>
                    <a:bodyPr/>
                    <a:lstStyle/>
                    <a:p>
                      <a:pPr algn="l" indent="0" marL="0">
                        <a:buNone/>
                      </a:pPr>
                      <a:r>
                        <a:rPr lang="en-US" sz="850" dirty="0">
                          <a:solidFill>
                            <a:srgbClr val="1E293B"/>
                          </a:solidFill>
                        </a:rPr>
                        <a:t>Waystar</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2E6DB4"/>
                          </a:solidFill>
                        </a:rPr>
                        <a:t>88.8</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64748B"/>
                          </a:solidFill>
                        </a:rPr>
                        <a:t>—</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64748B"/>
                          </a:solidFill>
                        </a:rPr>
                        <a:t>Partial</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E6DB4"/>
                          </a:solidFill>
                        </a:rPr>
                        <a:t>✓</a:t>
                      </a:r>
                      <a:endParaRPr lang="en-US" sz="110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r>
              <a:tr h="0">
                <a:tc>
                  <a:txBody>
                    <a:bodyPr/>
                    <a:lstStyle/>
                    <a:p>
                      <a:pPr algn="l" indent="0" marL="0">
                        <a:buNone/>
                      </a:pPr>
                      <a:r>
                        <a:rPr lang="en-US" sz="850" dirty="0">
                          <a:solidFill>
                            <a:srgbClr val="1E293B"/>
                          </a:solidFill>
                        </a:rPr>
                        <a:t>Cedar</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2E6DB4"/>
                          </a:solidFill>
                        </a:rPr>
                        <a:t>High</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64748B"/>
                          </a:solidFill>
                        </a:rPr>
                        <a:t>—</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64748B"/>
                          </a:solidFill>
                        </a:rPr>
                        <a:t>Limited</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64748B"/>
                          </a:solidFill>
                        </a:rPr>
                        <a:t>—</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r>
              <a:tr h="0">
                <a:tc>
                  <a:txBody>
                    <a:bodyPr/>
                    <a:lstStyle/>
                    <a:p>
                      <a:pPr algn="l" indent="0" marL="0">
                        <a:buNone/>
                      </a:pPr>
                      <a:r>
                        <a:rPr lang="en-US" sz="850" dirty="0">
                          <a:solidFill>
                            <a:srgbClr val="1E293B"/>
                          </a:solidFill>
                        </a:rPr>
                        <a:t>Flywire</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2E6DB4"/>
                          </a:solidFill>
                        </a:rPr>
                        <a:t>88.4</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64748B"/>
                          </a:solidFill>
                        </a:rPr>
                        <a:t>—</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64748B"/>
                          </a:solidFill>
                        </a:rPr>
                        <a:t>—</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64748B"/>
                          </a:solidFill>
                        </a:rPr>
                        <a:t>—</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r>
              <a:tr h="0">
                <a:tc>
                  <a:txBody>
                    <a:bodyPr/>
                    <a:lstStyle/>
                    <a:p>
                      <a:pPr algn="l" indent="0" marL="0">
                        <a:buNone/>
                      </a:pPr>
                      <a:r>
                        <a:rPr lang="en-US" sz="850" dirty="0">
                          <a:solidFill>
                            <a:srgbClr val="1E293B"/>
                          </a:solidFill>
                        </a:rPr>
                        <a:t>Experian</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64748B"/>
                          </a:solidFill>
                        </a:rPr>
                        <a:t>—</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64748B"/>
                          </a:solidFill>
                        </a:rPr>
                        <a:t>Partial</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1100" dirty="0">
                          <a:solidFill>
                            <a:srgbClr val="2E6DB4"/>
                          </a:solidFill>
                        </a:rPr>
                        <a:t>✓</a:t>
                      </a:r>
                      <a:endParaRPr lang="en-US" sz="110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1100" dirty="0">
                          <a:solidFill>
                            <a:srgbClr val="2E6DB4"/>
                          </a:solidFill>
                        </a:rPr>
                        <a:t>✓</a:t>
                      </a:r>
                      <a:endParaRPr lang="en-US" sz="110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r>
              <a:tr h="0">
                <a:tc>
                  <a:txBody>
                    <a:bodyPr/>
                    <a:lstStyle/>
                    <a:p>
                      <a:pPr algn="l" indent="0" marL="0">
                        <a:buNone/>
                      </a:pPr>
                      <a:r>
                        <a:rPr lang="en-US" sz="850" dirty="0">
                          <a:solidFill>
                            <a:srgbClr val="1E293B"/>
                          </a:solidFill>
                        </a:rPr>
                        <a:t>Epic MyChart</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64748B"/>
                          </a:solidFill>
                        </a:rPr>
                        <a:t>N/A</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64748B"/>
                          </a:solidFill>
                        </a:rPr>
                        <a:t>—</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B45309"/>
                          </a:solidFill>
                        </a:rPr>
                        <a:t>Limited</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E6DB4"/>
                          </a:solidFill>
                        </a:rPr>
                        <a:t>✓</a:t>
                      </a:r>
                      <a:endParaRPr lang="en-US" sz="110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r>
            </a:tbl>
          </a:graphicData>
        </a:graphic>
      </p:graphicFrame>
      <p:sp>
        <p:nvSpPr>
          <p:cNvPr id="16" name="Shape 11"/>
          <p:cNvSpPr/>
          <p:nvPr/>
        </p:nvSpPr>
        <p:spPr>
          <a:xfrm>
            <a:off x="4846320" y="2971800"/>
            <a:ext cx="45720" cy="219456"/>
          </a:xfrm>
          <a:prstGeom prst="rect">
            <a:avLst/>
          </a:prstGeom>
          <a:solidFill>
            <a:srgbClr val="2E6DB4"/>
          </a:solidFill>
          <a:ln/>
        </p:spPr>
      </p:sp>
      <p:sp>
        <p:nvSpPr>
          <p:cNvPr id="17" name="Text 12"/>
          <p:cNvSpPr/>
          <p:nvPr/>
        </p:nvSpPr>
        <p:spPr>
          <a:xfrm>
            <a:off x="4974336" y="2971800"/>
            <a:ext cx="3566160" cy="219456"/>
          </a:xfrm>
          <a:prstGeom prst="rect">
            <a:avLst/>
          </a:prstGeom>
          <a:noFill/>
          <a:ln/>
        </p:spPr>
        <p:txBody>
          <a:bodyPr wrap="square" lIns="0" tIns="0" rIns="0" bIns="0" rtlCol="0" anchor="ctr"/>
          <a:lstStyle/>
          <a:p>
            <a:pPr indent="0" marL="0">
              <a:buNone/>
            </a:pPr>
            <a:r>
              <a:rPr lang="en-US" sz="950" b="1" dirty="0">
                <a:solidFill>
                  <a:srgbClr val="1B3A5C"/>
                </a:solidFill>
                <a:latin typeface="Arial" pitchFamily="34" charset="0"/>
                <a:ea typeface="Arial" pitchFamily="34" charset="-122"/>
                <a:cs typeface="Arial" pitchFamily="34" charset="-120"/>
              </a:rPr>
              <a:t>FRAZIER PLATFORM EXTENSIONS</a:t>
            </a:r>
            <a:endParaRPr lang="en-US" sz="950" dirty="0"/>
          </a:p>
        </p:txBody>
      </p:sp>
      <p:sp>
        <p:nvSpPr>
          <p:cNvPr id="18" name="Shape 13"/>
          <p:cNvSpPr/>
          <p:nvPr/>
        </p:nvSpPr>
        <p:spPr>
          <a:xfrm>
            <a:off x="4846320" y="3200400"/>
            <a:ext cx="3931920" cy="475488"/>
          </a:xfrm>
          <a:prstGeom prst="rect">
            <a:avLst/>
          </a:prstGeom>
          <a:solidFill>
            <a:srgbClr val="E8F5E9"/>
          </a:solidFill>
          <a:ln w="5080">
            <a:solidFill>
              <a:srgbClr val="D0D5DD"/>
            </a:solidFill>
            <a:prstDash val="solid"/>
          </a:ln>
        </p:spPr>
      </p:sp>
      <p:sp>
        <p:nvSpPr>
          <p:cNvPr id="19" name="Shape 14"/>
          <p:cNvSpPr/>
          <p:nvPr/>
        </p:nvSpPr>
        <p:spPr>
          <a:xfrm>
            <a:off x="4846320" y="3200400"/>
            <a:ext cx="45720" cy="475488"/>
          </a:xfrm>
          <a:prstGeom prst="rect">
            <a:avLst/>
          </a:prstGeom>
          <a:solidFill>
            <a:srgbClr val="1A7A2E"/>
          </a:solidFill>
          <a:ln/>
        </p:spPr>
      </p:sp>
      <p:sp>
        <p:nvSpPr>
          <p:cNvPr id="20" name="Text 15"/>
          <p:cNvSpPr/>
          <p:nvPr/>
        </p:nvSpPr>
        <p:spPr>
          <a:xfrm>
            <a:off x="4956048" y="3236976"/>
            <a:ext cx="2743200" cy="182880"/>
          </a:xfrm>
          <a:prstGeom prst="rect">
            <a:avLst/>
          </a:prstGeom>
          <a:noFill/>
          <a:ln/>
        </p:spPr>
        <p:txBody>
          <a:bodyPr wrap="square" lIns="0" tIns="0" rIns="0" bIns="0" rtlCol="0" anchor="ctr"/>
          <a:lstStyle/>
          <a:p>
            <a:pPr indent="0" marL="0">
              <a:buNone/>
            </a:pPr>
            <a:r>
              <a:rPr lang="en-US" sz="900" b="1" dirty="0">
                <a:solidFill>
                  <a:srgbClr val="1B3A5C"/>
                </a:solidFill>
                <a:latin typeface="Arial" pitchFamily="34" charset="0"/>
                <a:ea typeface="Arial" pitchFamily="34" charset="-122"/>
                <a:cs typeface="Arial" pitchFamily="34" charset="-120"/>
              </a:rPr>
              <a:t>Kyruus Health (Q4 2025)</a:t>
            </a:r>
            <a:endParaRPr lang="en-US" sz="900" dirty="0"/>
          </a:p>
        </p:txBody>
      </p:sp>
      <p:sp>
        <p:nvSpPr>
          <p:cNvPr id="21" name="Text 16"/>
          <p:cNvSpPr/>
          <p:nvPr/>
        </p:nvSpPr>
        <p:spPr>
          <a:xfrm>
            <a:off x="4956048" y="3429000"/>
            <a:ext cx="3749040" cy="182880"/>
          </a:xfrm>
          <a:prstGeom prst="rect">
            <a:avLst/>
          </a:prstGeom>
          <a:noFill/>
          <a:ln/>
        </p:spPr>
        <p:txBody>
          <a:bodyPr wrap="square" lIns="0" tIns="0" rIns="0" bIns="0" rtlCol="0" anchor="ctr"/>
          <a:lstStyle/>
          <a:p>
            <a:pPr indent="0" marL="0">
              <a:buNone/>
            </a:pPr>
            <a:r>
              <a:rPr lang="en-US" sz="750" dirty="0">
                <a:solidFill>
                  <a:srgbClr val="374151"/>
                </a:solidFill>
                <a:latin typeface="Arial" pitchFamily="34" charset="0"/>
                <a:ea typeface="Arial" pitchFamily="34" charset="-122"/>
                <a:cs typeface="Arial" pitchFamily="34" charset="-120"/>
              </a:rPr>
              <a:t>Provider search &amp; scheduling — care access layer upstream of any competitor</a:t>
            </a:r>
            <a:endParaRPr lang="en-US" sz="750" dirty="0"/>
          </a:p>
        </p:txBody>
      </p:sp>
      <p:sp>
        <p:nvSpPr>
          <p:cNvPr id="22" name="Shape 17"/>
          <p:cNvSpPr/>
          <p:nvPr/>
        </p:nvSpPr>
        <p:spPr>
          <a:xfrm>
            <a:off x="4846320" y="3749040"/>
            <a:ext cx="3931920" cy="475488"/>
          </a:xfrm>
          <a:prstGeom prst="rect">
            <a:avLst/>
          </a:prstGeom>
          <a:solidFill>
            <a:srgbClr val="EBF4FF"/>
          </a:solidFill>
          <a:ln w="5080">
            <a:solidFill>
              <a:srgbClr val="D0D5DD"/>
            </a:solidFill>
            <a:prstDash val="solid"/>
          </a:ln>
        </p:spPr>
      </p:sp>
      <p:sp>
        <p:nvSpPr>
          <p:cNvPr id="23" name="Shape 18"/>
          <p:cNvSpPr/>
          <p:nvPr/>
        </p:nvSpPr>
        <p:spPr>
          <a:xfrm>
            <a:off x="4846320" y="3749040"/>
            <a:ext cx="45720" cy="475488"/>
          </a:xfrm>
          <a:prstGeom prst="rect">
            <a:avLst/>
          </a:prstGeom>
          <a:solidFill>
            <a:srgbClr val="1A7A2E"/>
          </a:solidFill>
          <a:ln/>
        </p:spPr>
      </p:sp>
      <p:sp>
        <p:nvSpPr>
          <p:cNvPr id="24" name="Text 19"/>
          <p:cNvSpPr/>
          <p:nvPr/>
        </p:nvSpPr>
        <p:spPr>
          <a:xfrm>
            <a:off x="4956048" y="3785616"/>
            <a:ext cx="2743200" cy="182880"/>
          </a:xfrm>
          <a:prstGeom prst="rect">
            <a:avLst/>
          </a:prstGeom>
          <a:noFill/>
          <a:ln/>
        </p:spPr>
        <p:txBody>
          <a:bodyPr wrap="square" lIns="0" tIns="0" rIns="0" bIns="0" rtlCol="0" anchor="ctr"/>
          <a:lstStyle/>
          <a:p>
            <a:pPr indent="0" marL="0">
              <a:buNone/>
            </a:pPr>
            <a:r>
              <a:rPr lang="en-US" sz="900" b="1" dirty="0">
                <a:solidFill>
                  <a:srgbClr val="1B3A5C"/>
                </a:solidFill>
                <a:latin typeface="Arial" pitchFamily="34" charset="0"/>
                <a:ea typeface="Arial" pitchFamily="34" charset="-122"/>
                <a:cs typeface="Arial" pitchFamily="34" charset="-120"/>
              </a:rPr>
              <a:t>TrustCommerce (Feb 2026)</a:t>
            </a:r>
            <a:endParaRPr lang="en-US" sz="900" dirty="0"/>
          </a:p>
        </p:txBody>
      </p:sp>
      <p:sp>
        <p:nvSpPr>
          <p:cNvPr id="25" name="Text 20"/>
          <p:cNvSpPr/>
          <p:nvPr/>
        </p:nvSpPr>
        <p:spPr>
          <a:xfrm>
            <a:off x="4956048" y="3977640"/>
            <a:ext cx="3749040" cy="182880"/>
          </a:xfrm>
          <a:prstGeom prst="rect">
            <a:avLst/>
          </a:prstGeom>
          <a:noFill/>
          <a:ln/>
        </p:spPr>
        <p:txBody>
          <a:bodyPr wrap="square" lIns="0" tIns="0" rIns="0" bIns="0" rtlCol="0" anchor="ctr"/>
          <a:lstStyle/>
          <a:p>
            <a:pPr indent="0" marL="0">
              <a:buNone/>
            </a:pPr>
            <a:r>
              <a:rPr lang="en-US" sz="750" dirty="0">
                <a:solidFill>
                  <a:srgbClr val="374151"/>
                </a:solidFill>
                <a:latin typeface="Arial" pitchFamily="34" charset="0"/>
                <a:ea typeface="Arial" pitchFamily="34" charset="-122"/>
                <a:cs typeface="Arial" pitchFamily="34" charset="-120"/>
              </a:rPr>
              <a:t>Integrated payment gateway — end-to-end transaction ownership</a:t>
            </a:r>
            <a:endParaRPr lang="en-US" sz="750" dirty="0"/>
          </a:p>
        </p:txBody>
      </p:sp>
      <p:sp>
        <p:nvSpPr>
          <p:cNvPr id="26" name="Shape 21"/>
          <p:cNvSpPr/>
          <p:nvPr/>
        </p:nvSpPr>
        <p:spPr>
          <a:xfrm>
            <a:off x="4846320" y="4297680"/>
            <a:ext cx="3931920" cy="475488"/>
          </a:xfrm>
          <a:prstGeom prst="rect">
            <a:avLst/>
          </a:prstGeom>
          <a:solidFill>
            <a:srgbClr val="E8F5E9"/>
          </a:solidFill>
          <a:ln w="5080">
            <a:solidFill>
              <a:srgbClr val="D0D5DD"/>
            </a:solidFill>
            <a:prstDash val="solid"/>
          </a:ln>
        </p:spPr>
      </p:sp>
      <p:sp>
        <p:nvSpPr>
          <p:cNvPr id="27" name="Shape 22"/>
          <p:cNvSpPr/>
          <p:nvPr/>
        </p:nvSpPr>
        <p:spPr>
          <a:xfrm>
            <a:off x="4846320" y="4297680"/>
            <a:ext cx="45720" cy="475488"/>
          </a:xfrm>
          <a:prstGeom prst="rect">
            <a:avLst/>
          </a:prstGeom>
          <a:solidFill>
            <a:srgbClr val="1A7A2E"/>
          </a:solidFill>
          <a:ln/>
        </p:spPr>
      </p:sp>
      <p:sp>
        <p:nvSpPr>
          <p:cNvPr id="28" name="Text 23"/>
          <p:cNvSpPr/>
          <p:nvPr/>
        </p:nvSpPr>
        <p:spPr>
          <a:xfrm>
            <a:off x="4956048" y="4334256"/>
            <a:ext cx="2743200" cy="182880"/>
          </a:xfrm>
          <a:prstGeom prst="rect">
            <a:avLst/>
          </a:prstGeom>
          <a:noFill/>
          <a:ln/>
        </p:spPr>
        <p:txBody>
          <a:bodyPr wrap="square" lIns="0" tIns="0" rIns="0" bIns="0" rtlCol="0" anchor="ctr"/>
          <a:lstStyle/>
          <a:p>
            <a:pPr indent="0" marL="0">
              <a:buNone/>
            </a:pPr>
            <a:r>
              <a:rPr lang="en-US" sz="900" b="1" dirty="0">
                <a:solidFill>
                  <a:srgbClr val="1B3A5C"/>
                </a:solidFill>
                <a:latin typeface="Arial" pitchFamily="34" charset="0"/>
                <a:ea typeface="Arial" pitchFamily="34" charset="-122"/>
                <a:cs typeface="Arial" pitchFamily="34" charset="-120"/>
              </a:rPr>
              <a:t>RevSpring Prime (HIMSS26)</a:t>
            </a:r>
            <a:endParaRPr lang="en-US" sz="900" dirty="0"/>
          </a:p>
        </p:txBody>
      </p:sp>
      <p:sp>
        <p:nvSpPr>
          <p:cNvPr id="29" name="Text 24"/>
          <p:cNvSpPr/>
          <p:nvPr/>
        </p:nvSpPr>
        <p:spPr>
          <a:xfrm>
            <a:off x="4956048" y="4526280"/>
            <a:ext cx="3749040" cy="182880"/>
          </a:xfrm>
          <a:prstGeom prst="rect">
            <a:avLst/>
          </a:prstGeom>
          <a:noFill/>
          <a:ln/>
        </p:spPr>
        <p:txBody>
          <a:bodyPr wrap="square" lIns="0" tIns="0" rIns="0" bIns="0" rtlCol="0" anchor="ctr"/>
          <a:lstStyle/>
          <a:p>
            <a:pPr indent="0" marL="0">
              <a:buNone/>
            </a:pPr>
            <a:r>
              <a:rPr lang="en-US" sz="750" dirty="0">
                <a:solidFill>
                  <a:srgbClr val="374151"/>
                </a:solidFill>
                <a:latin typeface="Arial" pitchFamily="34" charset="0"/>
                <a:ea typeface="Arial" pitchFamily="34" charset="-122"/>
                <a:cs typeface="Arial" pitchFamily="34" charset="-120"/>
              </a:rPr>
              <a:t>Membership management &amp; recurring payment programmes — new cross-sell vehicle</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46304"/>
            <a:ext cx="8412480" cy="457200"/>
          </a:xfrm>
          <a:prstGeom prst="rect">
            <a:avLst/>
          </a:prstGeom>
          <a:noFill/>
          <a:ln/>
        </p:spPr>
        <p:txBody>
          <a:bodyPr wrap="square" lIns="0" tIns="0" rIns="0" bIns="0" rtlCol="0" anchor="ctr"/>
          <a:lstStyle/>
          <a:p>
            <a:pPr indent="0" marL="0">
              <a:buNone/>
            </a:pPr>
            <a:r>
              <a:rPr lang="en-US" sz="2000" b="1" dirty="0">
                <a:solidFill>
                  <a:srgbClr val="1B3A5C"/>
                </a:solidFill>
                <a:latin typeface="Arial" pitchFamily="34" charset="0"/>
                <a:ea typeface="Arial" pitchFamily="34" charset="-122"/>
                <a:cs typeface="Arial" pitchFamily="34" charset="-120"/>
              </a:rPr>
              <a:t>Slide 7  |  Financial Summary</a:t>
            </a:r>
            <a:endParaRPr lang="en-US" sz="2000" dirty="0"/>
          </a:p>
        </p:txBody>
      </p:sp>
      <p:sp>
        <p:nvSpPr>
          <p:cNvPr id="3" name="Shape 1"/>
          <p:cNvSpPr/>
          <p:nvPr/>
        </p:nvSpPr>
        <p:spPr>
          <a:xfrm>
            <a:off x="365760" y="640080"/>
            <a:ext cx="822960" cy="201168"/>
          </a:xfrm>
          <a:prstGeom prst="rect">
            <a:avLst/>
          </a:prstGeom>
          <a:solidFill>
            <a:srgbClr val="1B3A5C"/>
          </a:solidFill>
          <a:ln/>
        </p:spPr>
      </p:sp>
      <p:sp>
        <p:nvSpPr>
          <p:cNvPr id="4" name="Text 2"/>
          <p:cNvSpPr/>
          <p:nvPr/>
        </p:nvSpPr>
        <p:spPr>
          <a:xfrm>
            <a:off x="365760" y="640080"/>
            <a:ext cx="822960"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SO WHAT</a:t>
            </a:r>
            <a:endParaRPr lang="en-US" sz="700" dirty="0"/>
          </a:p>
        </p:txBody>
      </p:sp>
      <p:sp>
        <p:nvSpPr>
          <p:cNvPr id="5" name="Text 3"/>
          <p:cNvSpPr/>
          <p:nvPr/>
        </p:nvSpPr>
        <p:spPr>
          <a:xfrm>
            <a:off x="1261872" y="640080"/>
            <a:ext cx="7406640" cy="201168"/>
          </a:xfrm>
          <a:prstGeom prst="rect">
            <a:avLst/>
          </a:prstGeom>
          <a:noFill/>
          <a:ln/>
        </p:spPr>
        <p:txBody>
          <a:bodyPr wrap="square" lIns="0" tIns="0" rIns="0" bIns="0" rtlCol="0" anchor="ctr"/>
          <a:lstStyle/>
          <a:p>
            <a:pPr indent="0" marL="0">
              <a:buNone/>
            </a:pPr>
            <a:r>
              <a:rPr lang="en-US" sz="850" i="1" dirty="0">
                <a:solidFill>
                  <a:srgbClr val="1B3A5C"/>
                </a:solidFill>
                <a:latin typeface="Arial" pitchFamily="34" charset="0"/>
                <a:ea typeface="Arial" pitchFamily="34" charset="-122"/>
                <a:cs typeface="Arial" pitchFamily="34" charset="-120"/>
              </a:rPr>
              <a:t>Revenue grew at 16.6% CAGR FY2020–2024E. EBITDA margins expanded consistently to 27.5%. Bear/base/bull FY2025–26E projections are Morsebridge recalculations — IS projection rows contain formula errors.</a:t>
            </a:r>
            <a:endParaRPr lang="en-US" sz="850" dirty="0"/>
          </a:p>
        </p:txBody>
      </p:sp>
      <p:sp>
        <p:nvSpPr>
          <p:cNvPr id="6" name="Text 4"/>
          <p:cNvSpPr/>
          <p:nvPr/>
        </p:nvSpPr>
        <p:spPr>
          <a:xfrm>
            <a:off x="274320" y="4864608"/>
            <a:ext cx="8595360" cy="182880"/>
          </a:xfrm>
          <a:prstGeom prst="rect">
            <a:avLst/>
          </a:prstGeom>
          <a:noFill/>
          <a:ln/>
        </p:spPr>
        <p:txBody>
          <a:bodyPr wrap="square" lIns="0" tIns="0" rIns="0" bIns="0" rtlCol="0" anchor="ctr"/>
          <a:lstStyle/>
          <a:p>
            <a:pPr algn="ctr" indent="0" marL="0">
              <a:buNone/>
            </a:pPr>
            <a:r>
              <a:rPr lang="en-US" sz="750" dirty="0">
                <a:solidFill>
                  <a:srgbClr val="9EABB8"/>
                </a:solidFill>
                <a:latin typeface="Arial" pitchFamily="34" charset="0"/>
                <a:ea typeface="Arial" pitchFamily="34" charset="-122"/>
                <a:cs typeface="Arial" pitchFamily="34" charset="-120"/>
              </a:rPr>
              <a:t>Confidential  |  Morsebridge Healthcare  |  IC Memo  |  RevSpring, Inc.  |  June 5, 2026</a:t>
            </a:r>
            <a:endParaRPr lang="en-US" sz="750" dirty="0"/>
          </a:p>
        </p:txBody>
      </p:sp>
      <p:sp>
        <p:nvSpPr>
          <p:cNvPr id="7" name="Shape 5"/>
          <p:cNvSpPr/>
          <p:nvPr/>
        </p:nvSpPr>
        <p:spPr>
          <a:xfrm>
            <a:off x="365760" y="960120"/>
            <a:ext cx="45720" cy="219456"/>
          </a:xfrm>
          <a:prstGeom prst="rect">
            <a:avLst/>
          </a:prstGeom>
          <a:solidFill>
            <a:srgbClr val="2E6DB4"/>
          </a:solidFill>
          <a:ln/>
        </p:spPr>
      </p:sp>
      <p:sp>
        <p:nvSpPr>
          <p:cNvPr id="8" name="Text 6"/>
          <p:cNvSpPr/>
          <p:nvPr/>
        </p:nvSpPr>
        <p:spPr>
          <a:xfrm>
            <a:off x="493776" y="960120"/>
            <a:ext cx="8046720" cy="219456"/>
          </a:xfrm>
          <a:prstGeom prst="rect">
            <a:avLst/>
          </a:prstGeom>
          <a:noFill/>
          <a:ln/>
        </p:spPr>
        <p:txBody>
          <a:bodyPr wrap="square" lIns="0" tIns="0" rIns="0" bIns="0" rtlCol="0" anchor="ctr"/>
          <a:lstStyle/>
          <a:p>
            <a:pPr indent="0" marL="0">
              <a:buNone/>
            </a:pPr>
            <a:r>
              <a:rPr lang="en-US" sz="950" b="1" dirty="0">
                <a:solidFill>
                  <a:srgbClr val="1B3A5C"/>
                </a:solidFill>
                <a:latin typeface="Arial" pitchFamily="34" charset="0"/>
                <a:ea typeface="Arial" pitchFamily="34" charset="-122"/>
                <a:cs typeface="Arial" pitchFamily="34" charset="-120"/>
              </a:rPr>
              <a:t>INCOME STATEMENT  ($M)</a:t>
            </a:r>
            <a:endParaRPr lang="en-US" sz="9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365760" y="1216152"/>
          <a:ext cx="8412480" cy="914400"/>
        </p:xfrm>
        <a:graphic>
          <a:graphicData uri="http://schemas.openxmlformats.org/drawingml/2006/table">
            <a:tbl>
              <a:tblPr/>
              <a:tblGrid>
                <a:gridCol w="1691640"/>
                <a:gridCol w="658368"/>
                <a:gridCol w="658368"/>
                <a:gridCol w="658368"/>
                <a:gridCol w="658368"/>
                <a:gridCol w="731520"/>
                <a:gridCol w="731520"/>
                <a:gridCol w="731520"/>
              </a:tblGrid>
              <a:tr h="0">
                <a:tc>
                  <a:txBody>
                    <a:bodyPr/>
                    <a:lstStyle/>
                    <a:p>
                      <a:pPr algn="ctr" indent="0" marL="0">
                        <a:buNone/>
                      </a:pPr>
                      <a:r>
                        <a:rPr lang="en-US" sz="850" b="1" dirty="0">
                          <a:solidFill>
                            <a:srgbClr val="FFFFFF"/>
                          </a:solidFill>
                        </a:rPr>
                        <a:t>Metric</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FY20A</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FY21A</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FY22A</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FY23A</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FY24E</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FY25E Base</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FY26E Base</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r>
              <a:tr h="0">
                <a:tc>
                  <a:txBody>
                    <a:bodyPr/>
                    <a:lstStyle/>
                    <a:p>
                      <a:pPr algn="l" indent="0" marL="0">
                        <a:buNone/>
                      </a:pPr>
                      <a:r>
                        <a:rPr lang="en-US" sz="850" dirty="0">
                          <a:solidFill>
                            <a:srgbClr val="1E293B"/>
                          </a:solidFill>
                        </a:rPr>
                        <a:t>Revenue ($M)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1B3A5C"/>
                          </a:solidFill>
                        </a:rPr>
                        <a:t>162.4</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1B3A5C"/>
                          </a:solidFill>
                        </a:rPr>
                        <a:t>188.7</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1B3A5C"/>
                          </a:solidFill>
                        </a:rPr>
                        <a:t>220.3</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1B3A5C"/>
                          </a:solidFill>
                        </a:rPr>
                        <a:t>248.1</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1B3A5C"/>
                          </a:solidFill>
                        </a:rPr>
                        <a:t>300.0</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2E6DB4"/>
                          </a:solidFill>
                        </a:rPr>
                        <a:t>336.0</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2E6DB4"/>
                          </a:solidFill>
                        </a:rPr>
                        <a:t>379.7</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r>
              <a:tr h="0">
                <a:tc>
                  <a:txBody>
                    <a:bodyPr/>
                    <a:lstStyle/>
                    <a:p>
                      <a:pPr algn="l" indent="0" marL="0">
                        <a:buNone/>
                      </a:pPr>
                      <a:r>
                        <a:rPr lang="en-US" sz="850" dirty="0">
                          <a:solidFill>
                            <a:srgbClr val="1E293B"/>
                          </a:solidFill>
                        </a:rPr>
                        <a:t>YoY Growth</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64748B"/>
                          </a:solidFill>
                        </a:rPr>
                        <a:t>—</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7A2E"/>
                          </a:solidFill>
                        </a:rPr>
                        <a:t>16.2%</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7A2E"/>
                          </a:solidFill>
                        </a:rPr>
                        <a:t>16.7%</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B45309"/>
                          </a:solidFill>
                        </a:rPr>
                        <a:t>12.6%</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7A2E"/>
                          </a:solidFill>
                        </a:rPr>
                        <a:t>20.9%</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2E6DB4"/>
                          </a:solidFill>
                        </a:rPr>
                        <a:t>12.0%</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2E6DB4"/>
                          </a:solidFill>
                        </a:rPr>
                        <a:t>13.0%</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r>
              <a:tr h="0">
                <a:tc>
                  <a:txBody>
                    <a:bodyPr/>
                    <a:lstStyle/>
                    <a:p>
                      <a:pPr algn="l" indent="0" marL="0">
                        <a:buNone/>
                      </a:pPr>
                      <a:r>
                        <a:rPr lang="en-US" sz="850" dirty="0">
                          <a:solidFill>
                            <a:srgbClr val="1E293B"/>
                          </a:solidFill>
                        </a:rPr>
                        <a:t>Gross Profit ($M)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l" indent="0" marL="0">
                        <a:buNone/>
                      </a:pPr>
                      <a:r>
                        <a:rPr lang="en-US" sz="850" dirty="0">
                          <a:solidFill>
                            <a:srgbClr val="1E293B"/>
                          </a:solidFill>
                        </a:rPr>
                        <a:t>81.2</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l" indent="0" marL="0">
                        <a:buNone/>
                      </a:pPr>
                      <a:r>
                        <a:rPr lang="en-US" sz="850" dirty="0">
                          <a:solidFill>
                            <a:srgbClr val="1E293B"/>
                          </a:solidFill>
                        </a:rPr>
                        <a:t>96.2</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l" indent="0" marL="0">
                        <a:buNone/>
                      </a:pPr>
                      <a:r>
                        <a:rPr lang="en-US" sz="850" dirty="0">
                          <a:solidFill>
                            <a:srgbClr val="1E293B"/>
                          </a:solidFill>
                        </a:rPr>
                        <a:t>114.6</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l" indent="0" marL="0">
                        <a:buNone/>
                      </a:pPr>
                      <a:r>
                        <a:rPr lang="en-US" sz="850" dirty="0">
                          <a:solidFill>
                            <a:srgbClr val="1E293B"/>
                          </a:solidFill>
                        </a:rPr>
                        <a:t>130.3</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l" indent="0" marL="0">
                        <a:buNone/>
                      </a:pPr>
                      <a:r>
                        <a:rPr lang="en-US" sz="850" dirty="0">
                          <a:solidFill>
                            <a:srgbClr val="1E293B"/>
                          </a:solidFill>
                        </a:rPr>
                        <a:t>159.0</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2E6DB4"/>
                          </a:solidFill>
                        </a:rPr>
                        <a:t>179.8</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2E6DB4"/>
                          </a:solidFill>
                        </a:rPr>
                        <a:t>205.0</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r>
              <a:tr h="0">
                <a:tc>
                  <a:txBody>
                    <a:bodyPr/>
                    <a:lstStyle/>
                    <a:p>
                      <a:pPr algn="l" indent="0" marL="0">
                        <a:buNone/>
                      </a:pPr>
                      <a:r>
                        <a:rPr lang="en-US" sz="850" dirty="0">
                          <a:solidFill>
                            <a:srgbClr val="1E293B"/>
                          </a:solidFill>
                        </a:rPr>
                        <a:t>Gross Margin</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64748B"/>
                          </a:solidFill>
                        </a:rPr>
                        <a:t>50.0%</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64748B"/>
                          </a:solidFill>
                        </a:rPr>
                        <a:t>51.0%</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64748B"/>
                          </a:solidFill>
                        </a:rPr>
                        <a:t>52.0%</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64748B"/>
                          </a:solidFill>
                        </a:rPr>
                        <a:t>52.5%</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7A2E"/>
                          </a:solidFill>
                        </a:rPr>
                        <a:t>53.0%</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2E6DB4"/>
                          </a:solidFill>
                        </a:rPr>
                        <a:t>53.5%</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2E6DB4"/>
                          </a:solidFill>
                        </a:rPr>
                        <a:t>54.0%</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r>
              <a:tr h="0">
                <a:tc>
                  <a:txBody>
                    <a:bodyPr/>
                    <a:lstStyle/>
                    <a:p>
                      <a:pPr algn="l" indent="0" marL="0">
                        <a:buNone/>
                      </a:pPr>
                      <a:r>
                        <a:rPr lang="en-US" sz="850" b="1" dirty="0">
                          <a:solidFill>
                            <a:srgbClr val="1E293B"/>
                          </a:solidFill>
                        </a:rPr>
                        <a:t>EBITDA ($M)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8F5E9"/>
                    </a:solidFill>
                  </a:tcPr>
                </a:tc>
                <a:tc>
                  <a:txBody>
                    <a:bodyPr/>
                    <a:lstStyle/>
                    <a:p>
                      <a:pPr algn="ctr" indent="0" marL="0">
                        <a:buNone/>
                      </a:pPr>
                      <a:r>
                        <a:rPr lang="en-US" sz="850" dirty="0">
                          <a:solidFill>
                            <a:srgbClr val="1A7A2E"/>
                          </a:solidFill>
                        </a:rPr>
                        <a:t>38.2</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8F5E9"/>
                    </a:solidFill>
                  </a:tcPr>
                </a:tc>
                <a:tc>
                  <a:txBody>
                    <a:bodyPr/>
                    <a:lstStyle/>
                    <a:p>
                      <a:pPr algn="ctr" indent="0" marL="0">
                        <a:buNone/>
                      </a:pPr>
                      <a:r>
                        <a:rPr lang="en-US" sz="850" dirty="0">
                          <a:solidFill>
                            <a:srgbClr val="1A7A2E"/>
                          </a:solidFill>
                        </a:rPr>
                        <a:t>47.2</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8F5E9"/>
                    </a:solidFill>
                  </a:tcPr>
                </a:tc>
                <a:tc>
                  <a:txBody>
                    <a:bodyPr/>
                    <a:lstStyle/>
                    <a:p>
                      <a:pPr algn="ctr" indent="0" marL="0">
                        <a:buNone/>
                      </a:pPr>
                      <a:r>
                        <a:rPr lang="en-US" sz="850" dirty="0">
                          <a:solidFill>
                            <a:srgbClr val="1A7A2E"/>
                          </a:solidFill>
                        </a:rPr>
                        <a:t>57.3</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8F5E9"/>
                    </a:solidFill>
                  </a:tcPr>
                </a:tc>
                <a:tc>
                  <a:txBody>
                    <a:bodyPr/>
                    <a:lstStyle/>
                    <a:p>
                      <a:pPr algn="ctr" indent="0" marL="0">
                        <a:buNone/>
                      </a:pPr>
                      <a:r>
                        <a:rPr lang="en-US" sz="850" dirty="0">
                          <a:solidFill>
                            <a:srgbClr val="1A7A2E"/>
                          </a:solidFill>
                        </a:rPr>
                        <a:t>67.0</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8F5E9"/>
                    </a:solidFill>
                  </a:tcPr>
                </a:tc>
                <a:tc>
                  <a:txBody>
                    <a:bodyPr/>
                    <a:lstStyle/>
                    <a:p>
                      <a:pPr algn="ctr" indent="0" marL="0">
                        <a:buNone/>
                      </a:pPr>
                      <a:r>
                        <a:rPr lang="en-US" sz="850" dirty="0">
                          <a:solidFill>
                            <a:srgbClr val="1A7A2E"/>
                          </a:solidFill>
                        </a:rPr>
                        <a:t>82.5</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8F5E9"/>
                    </a:solidFill>
                  </a:tcPr>
                </a:tc>
                <a:tc>
                  <a:txBody>
                    <a:bodyPr/>
                    <a:lstStyle/>
                    <a:p>
                      <a:pPr algn="ctr" indent="0" marL="0">
                        <a:buNone/>
                      </a:pPr>
                      <a:r>
                        <a:rPr lang="en-US" sz="850" dirty="0">
                          <a:solidFill>
                            <a:srgbClr val="1A7A2E"/>
                          </a:solidFill>
                        </a:rPr>
                        <a:t>91.4</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8F5E9"/>
                    </a:solidFill>
                  </a:tcPr>
                </a:tc>
                <a:tc>
                  <a:txBody>
                    <a:bodyPr/>
                    <a:lstStyle/>
                    <a:p>
                      <a:pPr algn="ctr" indent="0" marL="0">
                        <a:buNone/>
                      </a:pPr>
                      <a:r>
                        <a:rPr lang="en-US" sz="850" dirty="0">
                          <a:solidFill>
                            <a:srgbClr val="1A7A2E"/>
                          </a:solidFill>
                        </a:rPr>
                        <a:t>104.4</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8F5E9"/>
                    </a:solidFill>
                  </a:tcPr>
                </a:tc>
              </a:tr>
              <a:tr h="0">
                <a:tc>
                  <a:txBody>
                    <a:bodyPr/>
                    <a:lstStyle/>
                    <a:p>
                      <a:pPr algn="l" indent="0" marL="0">
                        <a:buNone/>
                      </a:pPr>
                      <a:r>
                        <a:rPr lang="en-US" sz="850" dirty="0">
                          <a:solidFill>
                            <a:srgbClr val="1E293B"/>
                          </a:solidFill>
                        </a:rPr>
                        <a:t>EBITDA Margin</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64748B"/>
                          </a:solidFill>
                        </a:rPr>
                        <a:t>23.5%</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64748B"/>
                          </a:solidFill>
                        </a:rPr>
                        <a:t>25.0%</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64748B"/>
                          </a:solidFill>
                        </a:rPr>
                        <a:t>26.0%</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7A2E"/>
                          </a:solidFill>
                        </a:rPr>
                        <a:t>27.0%</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7A2E"/>
                          </a:solidFill>
                        </a:rPr>
                        <a:t>27.5%</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2E6DB4"/>
                          </a:solidFill>
                        </a:rPr>
                        <a:t>27.2%</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2E6DB4"/>
                          </a:solidFill>
                        </a:rPr>
                        <a:t>27.5%</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r>
              <a:tr h="0">
                <a:tc>
                  <a:txBody>
                    <a:bodyPr/>
                    <a:lstStyle/>
                    <a:p>
                      <a:pPr algn="l" indent="0" marL="0">
                        <a:buNone/>
                      </a:pPr>
                      <a:r>
                        <a:rPr lang="en-US" sz="850" dirty="0">
                          <a:solidFill>
                            <a:srgbClr val="1E293B"/>
                          </a:solidFill>
                        </a:rPr>
                        <a:t>Net Income ($M)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l" indent="0" marL="0">
                        <a:buNone/>
                      </a:pPr>
                      <a:r>
                        <a:rPr lang="en-US" sz="850" dirty="0">
                          <a:solidFill>
                            <a:srgbClr val="1E293B"/>
                          </a:solidFill>
                        </a:rPr>
                        <a:t>5.5</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l" indent="0" marL="0">
                        <a:buNone/>
                      </a:pPr>
                      <a:r>
                        <a:rPr lang="en-US" sz="850" dirty="0">
                          <a:solidFill>
                            <a:srgbClr val="1E293B"/>
                          </a:solidFill>
                        </a:rPr>
                        <a:t>11.9</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l" indent="0" marL="0">
                        <a:buNone/>
                      </a:pPr>
                      <a:r>
                        <a:rPr lang="en-US" sz="850" dirty="0">
                          <a:solidFill>
                            <a:srgbClr val="1E293B"/>
                          </a:solidFill>
                        </a:rPr>
                        <a:t>17.9</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l" indent="0" marL="0">
                        <a:buNone/>
                      </a:pPr>
                      <a:r>
                        <a:rPr lang="en-US" sz="850" dirty="0">
                          <a:solidFill>
                            <a:srgbClr val="1E293B"/>
                          </a:solidFill>
                        </a:rPr>
                        <a:t>22.6</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l" indent="0" marL="0">
                        <a:buNone/>
                      </a:pPr>
                      <a:r>
                        <a:rPr lang="en-US" sz="850" dirty="0">
                          <a:solidFill>
                            <a:srgbClr val="1E293B"/>
                          </a:solidFill>
                        </a:rPr>
                        <a:t>32.3</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2E6DB4"/>
                          </a:solidFill>
                        </a:rPr>
                        <a:t>30.0</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2E6DB4"/>
                          </a:solidFill>
                        </a:rPr>
                        <a:t>37.4</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r>
            </a:tbl>
          </a:graphicData>
        </a:graphic>
      </p:graphicFrame>
      <p:sp>
        <p:nvSpPr>
          <p:cNvPr id="10" name="Shape 7"/>
          <p:cNvSpPr/>
          <p:nvPr/>
        </p:nvSpPr>
        <p:spPr>
          <a:xfrm>
            <a:off x="365760" y="3639312"/>
            <a:ext cx="45720" cy="219456"/>
          </a:xfrm>
          <a:prstGeom prst="rect">
            <a:avLst/>
          </a:prstGeom>
          <a:solidFill>
            <a:srgbClr val="2E6DB4"/>
          </a:solidFill>
          <a:ln/>
        </p:spPr>
      </p:sp>
      <p:sp>
        <p:nvSpPr>
          <p:cNvPr id="11" name="Text 8"/>
          <p:cNvSpPr/>
          <p:nvPr/>
        </p:nvSpPr>
        <p:spPr>
          <a:xfrm>
            <a:off x="493776" y="3639312"/>
            <a:ext cx="8046720" cy="219456"/>
          </a:xfrm>
          <a:prstGeom prst="rect">
            <a:avLst/>
          </a:prstGeom>
          <a:noFill/>
          <a:ln/>
        </p:spPr>
        <p:txBody>
          <a:bodyPr wrap="square" lIns="0" tIns="0" rIns="0" bIns="0" rtlCol="0" anchor="ctr"/>
          <a:lstStyle/>
          <a:p>
            <a:pPr indent="0" marL="0">
              <a:buNone/>
            </a:pPr>
            <a:r>
              <a:rPr lang="en-US" sz="950" b="1" dirty="0">
                <a:solidFill>
                  <a:srgbClr val="1B3A5C"/>
                </a:solidFill>
                <a:latin typeface="Arial" pitchFamily="34" charset="0"/>
                <a:ea typeface="Arial" pitchFamily="34" charset="-122"/>
                <a:cs typeface="Arial" pitchFamily="34" charset="-120"/>
              </a:rPr>
              <a:t>SCENARIO RANGE — EBITDA ($M)</a:t>
            </a:r>
            <a:endParaRPr lang="en-US" sz="950" dirty="0"/>
          </a:p>
        </p:txBody>
      </p:sp>
      <p:graphicFrame>
        <p:nvGraphicFramePr>
          <p:cNvPr id="12" name="Chart 0" descr=""/>
          <p:cNvGraphicFramePr/>
          <p:nvPr/>
        </p:nvGraphicFramePr>
        <p:xfrm>
          <a:off x="365760" y="3840480"/>
          <a:ext cx="4389120" cy="1097280"/>
        </p:xfrm>
        <a:graphic xmlns:a="http://schemas.openxmlformats.org/drawingml/2006/main">
          <a:graphicData uri="http://schemas.openxmlformats.org/drawingml/2006/chart">
            <c:chart xmlns:c="http://schemas.openxmlformats.org/drawingml/2006/chart" r:id="rId1"/>
          </a:graphicData>
        </a:graphic>
      </p:graphicFrame>
      <p:sp>
        <p:nvSpPr>
          <p:cNvPr id="13" name="Shape 9"/>
          <p:cNvSpPr/>
          <p:nvPr/>
        </p:nvSpPr>
        <p:spPr>
          <a:xfrm>
            <a:off x="4937760" y="3639312"/>
            <a:ext cx="45720" cy="219456"/>
          </a:xfrm>
          <a:prstGeom prst="rect">
            <a:avLst/>
          </a:prstGeom>
          <a:solidFill>
            <a:srgbClr val="2E6DB4"/>
          </a:solidFill>
          <a:ln/>
        </p:spPr>
      </p:sp>
      <p:sp>
        <p:nvSpPr>
          <p:cNvPr id="14" name="Text 10"/>
          <p:cNvSpPr/>
          <p:nvPr/>
        </p:nvSpPr>
        <p:spPr>
          <a:xfrm>
            <a:off x="5065776" y="3639312"/>
            <a:ext cx="3474720" cy="219456"/>
          </a:xfrm>
          <a:prstGeom prst="rect">
            <a:avLst/>
          </a:prstGeom>
          <a:noFill/>
          <a:ln/>
        </p:spPr>
        <p:txBody>
          <a:bodyPr wrap="square" lIns="0" tIns="0" rIns="0" bIns="0" rtlCol="0" anchor="ctr"/>
          <a:lstStyle/>
          <a:p>
            <a:pPr indent="0" marL="0">
              <a:buNone/>
            </a:pPr>
            <a:r>
              <a:rPr lang="en-US" sz="950" b="1" dirty="0">
                <a:solidFill>
                  <a:srgbClr val="1B3A5C"/>
                </a:solidFill>
                <a:latin typeface="Arial" pitchFamily="34" charset="0"/>
                <a:ea typeface="Arial" pitchFamily="34" charset="-122"/>
                <a:cs typeface="Arial" pitchFamily="34" charset="-120"/>
              </a:rPr>
              <a:t>KEY REVENUE METRICS</a:t>
            </a:r>
            <a:endParaRPr lang="en-US" sz="950" dirty="0"/>
          </a:p>
        </p:txBody>
      </p:sp>
      <p:graphicFrame>
        <p:nvGraphicFramePr>
          <p:cNvPr id="15" name="Table 1"/>
          <p:cNvGraphicFramePr>
            <a:graphicFrameLocks noGrp="1"/>
          </p:cNvGraphicFramePr>
          <p:nvPr>
            <p:extLst>
              <p:ext uri="{D42A27DB-BD31-4B8C-83A1-F6EECF244321}">
                <p14:modId xmlns:p14="http://schemas.microsoft.com/office/powerpoint/2010/main" val="1579011935"/>
              </p:ext>
            </p:extLst>
          </p:nvPr>
        </p:nvGraphicFramePr>
        <p:xfrm>
          <a:off x="4937760" y="3840480"/>
          <a:ext cx="3840480" cy="914400"/>
        </p:xfrm>
        <a:graphic>
          <a:graphicData uri="http://schemas.openxmlformats.org/drawingml/2006/table">
            <a:tbl>
              <a:tblPr/>
              <a:tblGrid>
                <a:gridCol w="1828800"/>
                <a:gridCol w="1005840"/>
                <a:gridCol w="1005840"/>
              </a:tblGrid>
              <a:tr h="0">
                <a:tc>
                  <a:txBody>
                    <a:bodyPr/>
                    <a:lstStyle/>
                    <a:p>
                      <a:pPr algn="ctr" indent="0" marL="0">
                        <a:buNone/>
                      </a:pPr>
                      <a:r>
                        <a:rPr lang="en-US" sz="850" b="1" dirty="0">
                          <a:solidFill>
                            <a:srgbClr val="FFFFFF"/>
                          </a:solidFill>
                        </a:rPr>
                        <a:t>Metric</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FY2023A</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FY2024E</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r>
              <a:tr h="0">
                <a:tc>
                  <a:txBody>
                    <a:bodyPr/>
                    <a:lstStyle/>
                    <a:p>
                      <a:pPr algn="l" indent="0" marL="0">
                        <a:buNone/>
                      </a:pPr>
                      <a:r>
                        <a:rPr lang="en-US" sz="850" dirty="0">
                          <a:solidFill>
                            <a:srgbClr val="1E293B"/>
                          </a:solidFill>
                        </a:rPr>
                        <a:t>Recurring Revenue</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1A7A2E"/>
                          </a:solidFill>
                        </a:rPr>
                        <a:t>&gt;80%</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1A7A2E"/>
                          </a:solidFill>
                        </a:rPr>
                        <a:t>82%</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r>
              <a:tr h="0">
                <a:tc>
                  <a:txBody>
                    <a:bodyPr/>
                    <a:lstStyle/>
                    <a:p>
                      <a:pPr algn="l" indent="0" marL="0">
                        <a:buNone/>
                      </a:pPr>
                      <a:r>
                        <a:rPr lang="en-US" sz="850" dirty="0">
                          <a:solidFill>
                            <a:srgbClr val="1E293B"/>
                          </a:solidFill>
                        </a:rPr>
                        <a:t>NRR</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7A2E"/>
                          </a:solidFill>
                        </a:rPr>
                        <a:t>~108%</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7A2E"/>
                          </a:solidFill>
                        </a:rPr>
                        <a:t>~108%</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r>
              <a:tr h="0">
                <a:tc>
                  <a:txBody>
                    <a:bodyPr/>
                    <a:lstStyle/>
                    <a:p>
                      <a:pPr algn="l" indent="0" marL="0">
                        <a:buNone/>
                      </a:pPr>
                      <a:r>
                        <a:rPr lang="en-US" sz="850" dirty="0">
                          <a:solidFill>
                            <a:srgbClr val="1E293B"/>
                          </a:solidFill>
                        </a:rPr>
                        <a:t>Top Client Conc.</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1A7A2E"/>
                          </a:solidFill>
                        </a:rPr>
                        <a:t>&lt;6%</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1A7A2E"/>
                          </a:solidFill>
                        </a:rPr>
                        <a:t>&lt;6%</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r>
              <a:tr h="0">
                <a:tc>
                  <a:txBody>
                    <a:bodyPr/>
                    <a:lstStyle/>
                    <a:p>
                      <a:pPr algn="l" indent="0" marL="0">
                        <a:buNone/>
                      </a:pPr>
                      <a:r>
                        <a:rPr lang="en-US" sz="850" dirty="0">
                          <a:solidFill>
                            <a:srgbClr val="1E293B"/>
                          </a:solidFill>
                        </a:rPr>
                        <a:t>Gross Retention</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B45309"/>
                          </a:solidFill>
                        </a:rPr>
                        <a:t>~94%</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B45309"/>
                          </a:solidFill>
                        </a:rPr>
                        <a:t>~94%</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r>
              <a:tr h="0">
                <a:tc>
                  <a:txBody>
                    <a:bodyPr/>
                    <a:lstStyle/>
                    <a:p>
                      <a:pPr algn="l" indent="0" marL="0">
                        <a:buNone/>
                      </a:pPr>
                      <a:r>
                        <a:rPr lang="en-US" sz="850" dirty="0">
                          <a:solidFill>
                            <a:srgbClr val="1E293B"/>
                          </a:solidFill>
                        </a:rPr>
                        <a:t>Deferred Revenue</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1A7A2E"/>
                          </a:solidFill>
                        </a:rPr>
                        <a:t>$21.7M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1A7A2E"/>
                          </a:solidFill>
                        </a:rPr>
                        <a:t>$26.2M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r>
              <a:tr h="0">
                <a:tc>
                  <a:txBody>
                    <a:bodyPr/>
                    <a:lstStyle/>
                    <a:p>
                      <a:pPr algn="l" indent="0" marL="0">
                        <a:buNone/>
                      </a:pPr>
                      <a:r>
                        <a:rPr lang="en-US" sz="850" dirty="0">
                          <a:solidFill>
                            <a:srgbClr val="1E293B"/>
                          </a:solidFill>
                        </a:rPr>
                        <a:t>Net Debt/EBITDA</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B45309"/>
                          </a:solidFill>
                        </a:rPr>
                        <a:t>4.30x</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7A2E"/>
                          </a:solidFill>
                        </a:rPr>
                        <a:t>3.33x</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46304"/>
            <a:ext cx="8412480" cy="457200"/>
          </a:xfrm>
          <a:prstGeom prst="rect">
            <a:avLst/>
          </a:prstGeom>
          <a:noFill/>
          <a:ln/>
        </p:spPr>
        <p:txBody>
          <a:bodyPr wrap="square" lIns="0" tIns="0" rIns="0" bIns="0" rtlCol="0" anchor="ctr"/>
          <a:lstStyle/>
          <a:p>
            <a:pPr indent="0" marL="0">
              <a:buNone/>
            </a:pPr>
            <a:r>
              <a:rPr lang="en-US" sz="2000" b="1" dirty="0">
                <a:solidFill>
                  <a:srgbClr val="1B3A5C"/>
                </a:solidFill>
                <a:latin typeface="Arial" pitchFamily="34" charset="0"/>
                <a:ea typeface="Arial" pitchFamily="34" charset="-122"/>
                <a:cs typeface="Arial" pitchFamily="34" charset="-120"/>
              </a:rPr>
              <a:t>Slide 8  |  LBO Returns</a:t>
            </a:r>
            <a:endParaRPr lang="en-US" sz="2000" dirty="0"/>
          </a:p>
        </p:txBody>
      </p:sp>
      <p:sp>
        <p:nvSpPr>
          <p:cNvPr id="3" name="Shape 1"/>
          <p:cNvSpPr/>
          <p:nvPr/>
        </p:nvSpPr>
        <p:spPr>
          <a:xfrm>
            <a:off x="365760" y="640080"/>
            <a:ext cx="822960" cy="201168"/>
          </a:xfrm>
          <a:prstGeom prst="rect">
            <a:avLst/>
          </a:prstGeom>
          <a:solidFill>
            <a:srgbClr val="1B3A5C"/>
          </a:solidFill>
          <a:ln/>
        </p:spPr>
      </p:sp>
      <p:sp>
        <p:nvSpPr>
          <p:cNvPr id="4" name="Text 2"/>
          <p:cNvSpPr/>
          <p:nvPr/>
        </p:nvSpPr>
        <p:spPr>
          <a:xfrm>
            <a:off x="365760" y="640080"/>
            <a:ext cx="822960"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SO WHAT</a:t>
            </a:r>
            <a:endParaRPr lang="en-US" sz="700" dirty="0"/>
          </a:p>
        </p:txBody>
      </p:sp>
      <p:sp>
        <p:nvSpPr>
          <p:cNvPr id="5" name="Text 3"/>
          <p:cNvSpPr/>
          <p:nvPr/>
        </p:nvSpPr>
        <p:spPr>
          <a:xfrm>
            <a:off x="1261872" y="640080"/>
            <a:ext cx="7406640" cy="201168"/>
          </a:xfrm>
          <a:prstGeom prst="rect">
            <a:avLst/>
          </a:prstGeom>
          <a:noFill/>
          <a:ln/>
        </p:spPr>
        <p:txBody>
          <a:bodyPr wrap="square" lIns="0" tIns="0" rIns="0" bIns="0" rtlCol="0" anchor="ctr"/>
          <a:lstStyle/>
          <a:p>
            <a:pPr indent="0" marL="0">
              <a:buNone/>
            </a:pPr>
            <a:r>
              <a:rPr lang="en-US" sz="850" i="1" dirty="0">
                <a:solidFill>
                  <a:srgbClr val="1B3A5C"/>
                </a:solidFill>
                <a:latin typeface="Arial" pitchFamily="34" charset="0"/>
                <a:ea typeface="Arial" pitchFamily="34" charset="-122"/>
                <a:cs typeface="Arial" pitchFamily="34" charset="-120"/>
              </a:rPr>
              <a:t>Hard gate: bear case IRR = 14% &lt; 15% threshold. MOIC sensitivity table implies base case ~1.52x vs. stated 2.6x. No scenario achieves 3.0x+. Model must be corrected before IC approval.</a:t>
            </a:r>
            <a:endParaRPr lang="en-US" sz="850" dirty="0"/>
          </a:p>
        </p:txBody>
      </p:sp>
      <p:sp>
        <p:nvSpPr>
          <p:cNvPr id="6" name="Text 4"/>
          <p:cNvSpPr/>
          <p:nvPr/>
        </p:nvSpPr>
        <p:spPr>
          <a:xfrm>
            <a:off x="274320" y="4864608"/>
            <a:ext cx="8595360" cy="182880"/>
          </a:xfrm>
          <a:prstGeom prst="rect">
            <a:avLst/>
          </a:prstGeom>
          <a:noFill/>
          <a:ln/>
        </p:spPr>
        <p:txBody>
          <a:bodyPr wrap="square" lIns="0" tIns="0" rIns="0" bIns="0" rtlCol="0" anchor="ctr"/>
          <a:lstStyle/>
          <a:p>
            <a:pPr algn="ctr" indent="0" marL="0">
              <a:buNone/>
            </a:pPr>
            <a:r>
              <a:rPr lang="en-US" sz="750" dirty="0">
                <a:solidFill>
                  <a:srgbClr val="9EABB8"/>
                </a:solidFill>
                <a:latin typeface="Arial" pitchFamily="34" charset="0"/>
                <a:ea typeface="Arial" pitchFamily="34" charset="-122"/>
                <a:cs typeface="Arial" pitchFamily="34" charset="-120"/>
              </a:rPr>
              <a:t>Confidential  |  Morsebridge Healthcare  |  IC Memo  |  RevSpring, Inc.  |  June 5, 2026</a:t>
            </a:r>
            <a:endParaRPr lang="en-US" sz="750" dirty="0"/>
          </a:p>
        </p:txBody>
      </p:sp>
      <p:sp>
        <p:nvSpPr>
          <p:cNvPr id="7" name="Shape 5"/>
          <p:cNvSpPr/>
          <p:nvPr/>
        </p:nvSpPr>
        <p:spPr>
          <a:xfrm>
            <a:off x="365760" y="960120"/>
            <a:ext cx="45720" cy="219456"/>
          </a:xfrm>
          <a:prstGeom prst="rect">
            <a:avLst/>
          </a:prstGeom>
          <a:solidFill>
            <a:srgbClr val="2E6DB4"/>
          </a:solidFill>
          <a:ln/>
        </p:spPr>
      </p:sp>
      <p:sp>
        <p:nvSpPr>
          <p:cNvPr id="8" name="Text 6"/>
          <p:cNvSpPr/>
          <p:nvPr/>
        </p:nvSpPr>
        <p:spPr>
          <a:xfrm>
            <a:off x="493776" y="960120"/>
            <a:ext cx="8046720" cy="219456"/>
          </a:xfrm>
          <a:prstGeom prst="rect">
            <a:avLst/>
          </a:prstGeom>
          <a:noFill/>
          <a:ln/>
        </p:spPr>
        <p:txBody>
          <a:bodyPr wrap="square" lIns="0" tIns="0" rIns="0" bIns="0" rtlCol="0" anchor="ctr"/>
          <a:lstStyle/>
          <a:p>
            <a:pPr indent="0" marL="0">
              <a:buNone/>
            </a:pPr>
            <a:r>
              <a:rPr lang="en-US" sz="950" b="1" dirty="0">
                <a:solidFill>
                  <a:srgbClr val="1B3A5C"/>
                </a:solidFill>
                <a:latin typeface="Arial" pitchFamily="34" charset="0"/>
                <a:ea typeface="Arial" pitchFamily="34" charset="-122"/>
                <a:cs typeface="Arial" pitchFamily="34" charset="-120"/>
              </a:rPr>
              <a:t>RETURNS ANALYSIS  (5-YEAR HOLD)</a:t>
            </a:r>
            <a:endParaRPr lang="en-US" sz="9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365760" y="1216152"/>
          <a:ext cx="8412480" cy="914400"/>
        </p:xfrm>
        <a:graphic>
          <a:graphicData uri="http://schemas.openxmlformats.org/drawingml/2006/table">
            <a:tbl>
              <a:tblPr/>
              <a:tblGrid>
                <a:gridCol w="1402080"/>
                <a:gridCol w="1402080"/>
                <a:gridCol w="1402080"/>
                <a:gridCol w="1402080"/>
                <a:gridCol w="1402080"/>
                <a:gridCol w="1402080"/>
              </a:tblGrid>
              <a:tr h="0">
                <a:tc>
                  <a:txBody>
                    <a:bodyPr/>
                    <a:lstStyle/>
                    <a:p>
                      <a:pPr algn="ctr" indent="0" marL="0">
                        <a:buNone/>
                      </a:pPr>
                      <a:r>
                        <a:rPr lang="en-US" sz="850" b="1" dirty="0">
                          <a:solidFill>
                            <a:srgbClr val="FFFFFF"/>
                          </a:solidFill>
                        </a:rPr>
                        <a:t>Metric</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Bear (5yr)</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Base (5yr)</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Bull (5yr)</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Base (4yr)</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Base (7yr)</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r>
              <a:tr h="0">
                <a:tc>
                  <a:txBody>
                    <a:bodyPr/>
                    <a:lstStyle/>
                    <a:p>
                      <a:pPr algn="l" indent="0" marL="0">
                        <a:buNone/>
                      </a:pPr>
                      <a:r>
                        <a:rPr lang="en-US" sz="850" dirty="0">
                          <a:solidFill>
                            <a:srgbClr val="1E293B"/>
                          </a:solidFill>
                        </a:rPr>
                        <a:t>Exit EBITDA ($M)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l" indent="0" marL="0">
                        <a:buNone/>
                      </a:pPr>
                      <a:r>
                        <a:rPr lang="en-US" sz="850" dirty="0">
                          <a:solidFill>
                            <a:srgbClr val="1E293B"/>
                          </a:solidFill>
                        </a:rPr>
                        <a:t>$76.7M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2E6DB4"/>
                          </a:solidFill>
                        </a:rPr>
                        <a:t>$91.8M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l" indent="0" marL="0">
                        <a:buNone/>
                      </a:pPr>
                      <a:r>
                        <a:rPr lang="en-US" sz="850" dirty="0">
                          <a:solidFill>
                            <a:srgbClr val="1E293B"/>
                          </a:solidFill>
                        </a:rPr>
                        <a:t>$110.6M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l" indent="0" marL="0">
                        <a:buNone/>
                      </a:pPr>
                      <a:r>
                        <a:rPr lang="en-US" sz="850" dirty="0">
                          <a:solidFill>
                            <a:srgbClr val="1E293B"/>
                          </a:solidFill>
                        </a:rPr>
                        <a:t>$84.2M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l" indent="0" marL="0">
                        <a:buNone/>
                      </a:pPr>
                      <a:r>
                        <a:rPr lang="en-US" sz="850" dirty="0">
                          <a:solidFill>
                            <a:srgbClr val="1E293B"/>
                          </a:solidFill>
                        </a:rPr>
                        <a:t>$108.4M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r>
              <a:tr h="0">
                <a:tc>
                  <a:txBody>
                    <a:bodyPr/>
                    <a:lstStyle/>
                    <a:p>
                      <a:pPr algn="l" indent="0" marL="0">
                        <a:buNone/>
                      </a:pPr>
                      <a:r>
                        <a:rPr lang="en-US" sz="850" dirty="0">
                          <a:solidFill>
                            <a:srgbClr val="1E293B"/>
                          </a:solidFill>
                        </a:rPr>
                        <a:t>Exit EV/EBITDA</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64748B"/>
                          </a:solidFill>
                        </a:rPr>
                        <a:t>14.0x</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2E6DB4"/>
                          </a:solidFill>
                        </a:rPr>
                        <a:t>16.0x</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64748B"/>
                          </a:solidFill>
                        </a:rPr>
                        <a:t>18.0x</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64748B"/>
                          </a:solidFill>
                        </a:rPr>
                        <a:t>15.0x</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64748B"/>
                          </a:solidFill>
                        </a:rPr>
                        <a:t>15.5x</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r>
              <a:tr h="0">
                <a:tc>
                  <a:txBody>
                    <a:bodyPr/>
                    <a:lstStyle/>
                    <a:p>
                      <a:pPr algn="l" indent="0" marL="0">
                        <a:buNone/>
                      </a:pPr>
                      <a:r>
                        <a:rPr lang="en-US" sz="850" dirty="0">
                          <a:solidFill>
                            <a:srgbClr val="1E293B"/>
                          </a:solidFill>
                        </a:rPr>
                        <a:t>Exit Equity ($M)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l" indent="0" marL="0">
                        <a:buNone/>
                      </a:pPr>
                      <a:r>
                        <a:rPr lang="en-US" sz="850" dirty="0">
                          <a:solidFill>
                            <a:srgbClr val="1E293B"/>
                          </a:solidFill>
                        </a:rPr>
                        <a:t>$782M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2E6DB4"/>
                          </a:solidFill>
                        </a:rPr>
                        <a:t>$1,181M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l" indent="0" marL="0">
                        <a:buNone/>
                      </a:pPr>
                      <a:r>
                        <a:rPr lang="en-US" sz="850" dirty="0">
                          <a:solidFill>
                            <a:srgbClr val="1E293B"/>
                          </a:solidFill>
                        </a:rPr>
                        <a:t>$1,707M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l" indent="0" marL="0">
                        <a:buNone/>
                      </a:pPr>
                      <a:r>
                        <a:rPr lang="en-US" sz="850" dirty="0">
                          <a:solidFill>
                            <a:srgbClr val="1E293B"/>
                          </a:solidFill>
                        </a:rPr>
                        <a:t>$968M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l" indent="0" marL="0">
                        <a:buNone/>
                      </a:pPr>
                      <a:r>
                        <a:rPr lang="en-US" sz="850" dirty="0">
                          <a:solidFill>
                            <a:srgbClr val="1E293B"/>
                          </a:solidFill>
                        </a:rPr>
                        <a:t>$1,402M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r>
              <a:tr h="0">
                <a:tc>
                  <a:txBody>
                    <a:bodyPr/>
                    <a:lstStyle/>
                    <a:p>
                      <a:pPr algn="l" indent="0" marL="0">
                        <a:buNone/>
                      </a:pPr>
                      <a:r>
                        <a:rPr lang="en-US" sz="850" dirty="0">
                          <a:solidFill>
                            <a:srgbClr val="1E293B"/>
                          </a:solidFill>
                        </a:rPr>
                        <a:t>MOIC (Stated — unverified)</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C00000"/>
                          </a:solidFill>
                        </a:rPr>
                        <a:t>1.8x ⚠</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EF2F2"/>
                    </a:solidFill>
                  </a:tcPr>
                </a:tc>
                <a:tc>
                  <a:txBody>
                    <a:bodyPr/>
                    <a:lstStyle/>
                    <a:p>
                      <a:pPr algn="ctr" indent="0" marL="0">
                        <a:buNone/>
                      </a:pPr>
                      <a:r>
                        <a:rPr lang="en-US" sz="850" b="1" dirty="0">
                          <a:solidFill>
                            <a:srgbClr val="B45309"/>
                          </a:solidFill>
                        </a:rPr>
                        <a:t>2.6x ⚠</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9E6"/>
                    </a:solidFill>
                  </a:tcPr>
                </a:tc>
                <a:tc>
                  <a:txBody>
                    <a:bodyPr/>
                    <a:lstStyle/>
                    <a:p>
                      <a:pPr algn="ctr" indent="0" marL="0">
                        <a:buNone/>
                      </a:pPr>
                      <a:r>
                        <a:rPr lang="en-US" sz="850" b="1" dirty="0">
                          <a:solidFill>
                            <a:srgbClr val="1A7A2E"/>
                          </a:solidFill>
                        </a:rPr>
                        <a:t>3.5x</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8F5E9"/>
                    </a:solidFill>
                  </a:tcPr>
                </a:tc>
                <a:tc>
                  <a:txBody>
                    <a:bodyPr/>
                    <a:lstStyle/>
                    <a:p>
                      <a:pPr algn="ctr" indent="0" marL="0">
                        <a:buNone/>
                      </a:pPr>
                      <a:r>
                        <a:rPr lang="en-US" sz="850" b="1" dirty="0">
                          <a:solidFill>
                            <a:srgbClr val="B45309"/>
                          </a:solidFill>
                        </a:rPr>
                        <a:t>2.4x ⚠</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9E6"/>
                    </a:solidFill>
                  </a:tcPr>
                </a:tc>
                <a:tc>
                  <a:txBody>
                    <a:bodyPr/>
                    <a:lstStyle/>
                    <a:p>
                      <a:pPr algn="ctr" indent="0" marL="0">
                        <a:buNone/>
                      </a:pPr>
                      <a:r>
                        <a:rPr lang="en-US" sz="850" b="1" dirty="0">
                          <a:solidFill>
                            <a:srgbClr val="B45309"/>
                          </a:solidFill>
                        </a:rPr>
                        <a:t>2.9x</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9E6"/>
                    </a:solidFill>
                  </a:tcPr>
                </a:tc>
              </a:tr>
              <a:tr h="0">
                <a:tc>
                  <a:txBody>
                    <a:bodyPr/>
                    <a:lstStyle/>
                    <a:p>
                      <a:pPr algn="l" indent="0" marL="0">
                        <a:buNone/>
                      </a:pPr>
                      <a:r>
                        <a:rPr lang="en-US" sz="850" dirty="0">
                          <a:solidFill>
                            <a:srgbClr val="1E293B"/>
                          </a:solidFill>
                        </a:rPr>
                        <a:t>MOIC (Corrected — sensitivity tbl)</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C00000"/>
                          </a:solidFill>
                        </a:rPr>
                        <a:t>1.01x</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EF2F2"/>
                    </a:solidFill>
                  </a:tcPr>
                </a:tc>
                <a:tc>
                  <a:txBody>
                    <a:bodyPr/>
                    <a:lstStyle/>
                    <a:p>
                      <a:pPr algn="ctr" indent="0" marL="0">
                        <a:buNone/>
                      </a:pPr>
                      <a:r>
                        <a:rPr lang="en-US" sz="850" b="1" dirty="0">
                          <a:solidFill>
                            <a:srgbClr val="B45309"/>
                          </a:solidFill>
                        </a:rPr>
                        <a:t>1.52x</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9E6"/>
                    </a:solidFill>
                  </a:tcPr>
                </a:tc>
                <a:tc>
                  <a:txBody>
                    <a:bodyPr/>
                    <a:lstStyle/>
                    <a:p>
                      <a:pPr algn="ctr" indent="0" marL="0">
                        <a:buNone/>
                      </a:pPr>
                      <a:r>
                        <a:rPr lang="en-US" sz="850" b="1" dirty="0">
                          <a:solidFill>
                            <a:srgbClr val="1A7A2E"/>
                          </a:solidFill>
                        </a:rPr>
                        <a:t>2.20x</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8F5E9"/>
                    </a:solidFill>
                  </a:tcPr>
                </a:tc>
                <a:tc>
                  <a:txBody>
                    <a:bodyPr/>
                    <a:lstStyle/>
                    <a:p>
                      <a:pPr algn="ctr" indent="0" marL="0">
                        <a:buNone/>
                      </a:pPr>
                      <a:r>
                        <a:rPr lang="en-US" sz="850" b="1" dirty="0">
                          <a:solidFill>
                            <a:srgbClr val="C00000"/>
                          </a:solidFill>
                        </a:rPr>
                        <a:t>1.25x</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EF2F2"/>
                    </a:solidFill>
                  </a:tcPr>
                </a:tc>
                <a:tc>
                  <a:txBody>
                    <a:bodyPr/>
                    <a:lstStyle/>
                    <a:p>
                      <a:pPr algn="ctr" indent="0" marL="0">
                        <a:buNone/>
                      </a:pPr>
                      <a:r>
                        <a:rPr lang="en-US" sz="850" b="1" dirty="0">
                          <a:solidFill>
                            <a:srgbClr val="B45309"/>
                          </a:solidFill>
                        </a:rPr>
                        <a:t>1.81x</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9E6"/>
                    </a:solidFill>
                  </a:tcPr>
                </a:tc>
              </a:tr>
              <a:tr h="0">
                <a:tc>
                  <a:txBody>
                    <a:bodyPr/>
                    <a:lstStyle/>
                    <a:p>
                      <a:pPr algn="l" indent="0" marL="0">
                        <a:buNone/>
                      </a:pPr>
                      <a:r>
                        <a:rPr lang="en-US" sz="850" dirty="0">
                          <a:solidFill>
                            <a:srgbClr val="1E293B"/>
                          </a:solidFill>
                        </a:rPr>
                        <a:t>IRR (Stated)</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b="1" dirty="0">
                          <a:solidFill>
                            <a:srgbClr val="C00000"/>
                          </a:solidFill>
                        </a:rPr>
                        <a:t>14% ⚠ GATE</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EF2F2"/>
                    </a:solidFill>
                  </a:tcPr>
                </a:tc>
                <a:tc>
                  <a:txBody>
                    <a:bodyPr/>
                    <a:lstStyle/>
                    <a:p>
                      <a:pPr algn="ctr" indent="0" marL="0">
                        <a:buNone/>
                      </a:pPr>
                      <a:r>
                        <a:rPr lang="en-US" sz="850" b="1" dirty="0">
                          <a:solidFill>
                            <a:srgbClr val="B45309"/>
                          </a:solidFill>
                        </a:rPr>
                        <a:t>19%</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9E6"/>
                    </a:solidFill>
                  </a:tcPr>
                </a:tc>
                <a:tc>
                  <a:txBody>
                    <a:bodyPr/>
                    <a:lstStyle/>
                    <a:p>
                      <a:pPr algn="ctr" indent="0" marL="0">
                        <a:buNone/>
                      </a:pPr>
                      <a:r>
                        <a:rPr lang="en-US" sz="850" b="1" dirty="0">
                          <a:solidFill>
                            <a:srgbClr val="1A7A2E"/>
                          </a:solidFill>
                        </a:rPr>
                        <a:t>25%</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8F5E9"/>
                    </a:solidFill>
                  </a:tcPr>
                </a:tc>
                <a:tc>
                  <a:txBody>
                    <a:bodyPr/>
                    <a:lstStyle/>
                    <a:p>
                      <a:pPr algn="ctr" indent="0" marL="0">
                        <a:buNone/>
                      </a:pPr>
                      <a:r>
                        <a:rPr lang="en-US" sz="850" b="1" dirty="0">
                          <a:solidFill>
                            <a:srgbClr val="B45309"/>
                          </a:solidFill>
                        </a:rPr>
                        <a:t>21%</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9E6"/>
                    </a:solidFill>
                  </a:tcPr>
                </a:tc>
                <a:tc>
                  <a:txBody>
                    <a:bodyPr/>
                    <a:lstStyle/>
                    <a:p>
                      <a:pPr algn="ctr" indent="0" marL="0">
                        <a:buNone/>
                      </a:pPr>
                      <a:r>
                        <a:rPr lang="en-US" sz="850" b="1" dirty="0">
                          <a:solidFill>
                            <a:srgbClr val="B45309"/>
                          </a:solidFill>
                        </a:rPr>
                        <a:t>17%</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9E6"/>
                    </a:solidFill>
                  </a:tcPr>
                </a:tc>
              </a:tr>
            </a:tbl>
          </a:graphicData>
        </a:graphic>
      </p:graphicFrame>
      <p:sp>
        <p:nvSpPr>
          <p:cNvPr id="10" name="Shape 7"/>
          <p:cNvSpPr/>
          <p:nvPr/>
        </p:nvSpPr>
        <p:spPr>
          <a:xfrm>
            <a:off x="365760" y="3200400"/>
            <a:ext cx="45720" cy="219456"/>
          </a:xfrm>
          <a:prstGeom prst="rect">
            <a:avLst/>
          </a:prstGeom>
          <a:solidFill>
            <a:srgbClr val="2E6DB4"/>
          </a:solidFill>
          <a:ln/>
        </p:spPr>
      </p:sp>
      <p:sp>
        <p:nvSpPr>
          <p:cNvPr id="11" name="Text 8"/>
          <p:cNvSpPr/>
          <p:nvPr/>
        </p:nvSpPr>
        <p:spPr>
          <a:xfrm>
            <a:off x="493776" y="3200400"/>
            <a:ext cx="8046720" cy="219456"/>
          </a:xfrm>
          <a:prstGeom prst="rect">
            <a:avLst/>
          </a:prstGeom>
          <a:noFill/>
          <a:ln/>
        </p:spPr>
        <p:txBody>
          <a:bodyPr wrap="square" lIns="0" tIns="0" rIns="0" bIns="0" rtlCol="0" anchor="ctr"/>
          <a:lstStyle/>
          <a:p>
            <a:pPr indent="0" marL="0">
              <a:buNone/>
            </a:pPr>
            <a:r>
              <a:rPr lang="en-US" sz="950" b="1" dirty="0">
                <a:solidFill>
                  <a:srgbClr val="1B3A5C"/>
                </a:solidFill>
                <a:latin typeface="Arial" pitchFamily="34" charset="0"/>
                <a:ea typeface="Arial" pitchFamily="34" charset="-122"/>
                <a:cs typeface="Arial" pitchFamily="34" charset="-120"/>
              </a:rPr>
              <a:t>MOIC SENSITIVITY — EXIT MULTIPLE vs EXIT EBITDA (CORRECTED)</a:t>
            </a:r>
            <a:endParaRPr lang="en-US" sz="950" dirty="0"/>
          </a:p>
        </p:txBody>
      </p:sp>
      <p:graphicFrame>
        <p:nvGraphicFramePr>
          <p:cNvPr id="17" name="Table 1"/>
          <p:cNvGraphicFramePr>
            <a:graphicFrameLocks noGrp="1"/>
          </p:cNvGraphicFramePr>
          <p:nvPr>
            <p:extLst>
              <p:ext uri="{D42A27DB-BD31-4B8C-83A1-F6EECF244321}">
                <p14:modId xmlns:p14="http://schemas.microsoft.com/office/powerpoint/2010/main" val="1579011935"/>
              </p:ext>
            </p:extLst>
          </p:nvPr>
        </p:nvGraphicFramePr>
        <p:xfrm>
          <a:off x="365760" y="3419856"/>
          <a:ext cx="8412480" cy="914400"/>
        </p:xfrm>
        <a:graphic>
          <a:graphicData uri="http://schemas.openxmlformats.org/drawingml/2006/table">
            <a:tbl>
              <a:tblPr/>
              <a:tblGrid>
                <a:gridCol w="1463040"/>
                <a:gridCol w="1389888"/>
                <a:gridCol w="1389888"/>
                <a:gridCol w="1389888"/>
                <a:gridCol w="1389888"/>
                <a:gridCol w="1389888"/>
              </a:tblGrid>
              <a:tr h="0">
                <a:tc>
                  <a:txBody>
                    <a:bodyPr/>
                    <a:lstStyle/>
                    <a:p>
                      <a:pPr indent="0" marL="0">
                        <a:buNone/>
                      </a:pPr>
                      <a:r>
                        <a:rPr lang="en-US" sz="850" b="1" dirty="0">
                          <a:solidFill>
                            <a:srgbClr val="FFFFFF"/>
                          </a:solidFill>
                        </a:rPr>
                        <a:t>Exit Multiple ↓ \ EBITDA →</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$76.7M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$84.0M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$91.8M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$100.0M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$110.6M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r>
              <a:tr h="0">
                <a:tc>
                  <a:txBody>
                    <a:bodyPr/>
                    <a:lstStyle/>
                    <a:p>
                      <a:pPr algn="l" indent="0" marL="0">
                        <a:buNone/>
                      </a:pPr>
                      <a:r>
                        <a:rPr lang="en-US" sz="850" b="1" dirty="0">
                          <a:solidFill>
                            <a:srgbClr val="1E293B"/>
                          </a:solidFill>
                        </a:rPr>
                        <a:t>14x</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C00000"/>
                          </a:solidFill>
                        </a:rPr>
                        <a:t>1.01x</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EF2F2"/>
                    </a:solidFill>
                  </a:tcPr>
                </a:tc>
                <a:tc>
                  <a:txBody>
                    <a:bodyPr/>
                    <a:lstStyle/>
                    <a:p>
                      <a:pPr algn="ctr" indent="0" marL="0">
                        <a:buNone/>
                      </a:pPr>
                      <a:r>
                        <a:rPr lang="en-US" sz="850" dirty="0">
                          <a:solidFill>
                            <a:srgbClr val="C00000"/>
                          </a:solidFill>
                        </a:rPr>
                        <a:t>1.14x</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EF2F2"/>
                    </a:solidFill>
                  </a:tcPr>
                </a:tc>
                <a:tc>
                  <a:txBody>
                    <a:bodyPr/>
                    <a:lstStyle/>
                    <a:p>
                      <a:pPr algn="ctr" indent="0" marL="0">
                        <a:buNone/>
                      </a:pPr>
                      <a:r>
                        <a:rPr lang="en-US" sz="850" dirty="0">
                          <a:solidFill>
                            <a:srgbClr val="C00000"/>
                          </a:solidFill>
                        </a:rPr>
                        <a:t>1.28x</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EF2F2"/>
                    </a:solidFill>
                  </a:tcPr>
                </a:tc>
                <a:tc>
                  <a:txBody>
                    <a:bodyPr/>
                    <a:lstStyle/>
                    <a:p>
                      <a:pPr algn="ctr" indent="0" marL="0">
                        <a:buNone/>
                      </a:pPr>
                      <a:r>
                        <a:rPr lang="en-US" sz="850" dirty="0">
                          <a:solidFill>
                            <a:srgbClr val="C00000"/>
                          </a:solidFill>
                        </a:rPr>
                        <a:t>1.43x</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EF2F2"/>
                    </a:solidFill>
                  </a:tcPr>
                </a:tc>
                <a:tc>
                  <a:txBody>
                    <a:bodyPr/>
                    <a:lstStyle/>
                    <a:p>
                      <a:pPr algn="ctr" indent="0" marL="0">
                        <a:buNone/>
                      </a:pPr>
                      <a:r>
                        <a:rPr lang="en-US" sz="850" dirty="0">
                          <a:solidFill>
                            <a:srgbClr val="C00000"/>
                          </a:solidFill>
                        </a:rPr>
                        <a:t>1.62x</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EF2F2"/>
                    </a:solidFill>
                  </a:tcPr>
                </a:tc>
              </a:tr>
              <a:tr h="0">
                <a:tc>
                  <a:txBody>
                    <a:bodyPr/>
                    <a:lstStyle/>
                    <a:p>
                      <a:pPr algn="l" indent="0" marL="0">
                        <a:buNone/>
                      </a:pPr>
                      <a:r>
                        <a:rPr lang="en-US" sz="850" b="1" dirty="0">
                          <a:solidFill>
                            <a:srgbClr val="1E293B"/>
                          </a:solidFill>
                        </a:rPr>
                        <a:t>16x</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C00000"/>
                          </a:solidFill>
                        </a:rPr>
                        <a:t>1.21x</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EF2F2"/>
                    </a:solidFill>
                  </a:tcPr>
                </a:tc>
                <a:tc>
                  <a:txBody>
                    <a:bodyPr/>
                    <a:lstStyle/>
                    <a:p>
                      <a:pPr algn="ctr" indent="0" marL="0">
                        <a:buNone/>
                      </a:pPr>
                      <a:r>
                        <a:rPr lang="en-US" sz="850" dirty="0">
                          <a:solidFill>
                            <a:srgbClr val="C00000"/>
                          </a:solidFill>
                        </a:rPr>
                        <a:t>1.36x</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EF2F2"/>
                    </a:solidFill>
                  </a:tcPr>
                </a:tc>
                <a:tc>
                  <a:txBody>
                    <a:bodyPr/>
                    <a:lstStyle/>
                    <a:p>
                      <a:pPr algn="ctr" indent="0" marL="0">
                        <a:buNone/>
                      </a:pPr>
                      <a:r>
                        <a:rPr lang="en-US" sz="850" b="1" dirty="0">
                          <a:solidFill>
                            <a:srgbClr val="B45309"/>
                          </a:solidFill>
                        </a:rPr>
                        <a:t>1.52x ◀</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9E6"/>
                    </a:solidFill>
                  </a:tcPr>
                </a:tc>
                <a:tc>
                  <a:txBody>
                    <a:bodyPr/>
                    <a:lstStyle/>
                    <a:p>
                      <a:pPr algn="ctr" indent="0" marL="0">
                        <a:buNone/>
                      </a:pPr>
                      <a:r>
                        <a:rPr lang="en-US" sz="850" dirty="0">
                          <a:solidFill>
                            <a:srgbClr val="C00000"/>
                          </a:solidFill>
                        </a:rPr>
                        <a:t>1.69x</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EF2F2"/>
                    </a:solidFill>
                  </a:tcPr>
                </a:tc>
                <a:tc>
                  <a:txBody>
                    <a:bodyPr/>
                    <a:lstStyle/>
                    <a:p>
                      <a:pPr algn="ctr" indent="0" marL="0">
                        <a:buNone/>
                      </a:pPr>
                      <a:r>
                        <a:rPr lang="en-US" sz="850" dirty="0">
                          <a:solidFill>
                            <a:srgbClr val="C00000"/>
                          </a:solidFill>
                        </a:rPr>
                        <a:t>1.91x</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EF2F2"/>
                    </a:solidFill>
                  </a:tcPr>
                </a:tc>
              </a:tr>
              <a:tr h="0">
                <a:tc>
                  <a:txBody>
                    <a:bodyPr/>
                    <a:lstStyle/>
                    <a:p>
                      <a:pPr algn="l" indent="0" marL="0">
                        <a:buNone/>
                      </a:pPr>
                      <a:r>
                        <a:rPr lang="en-US" sz="850" b="1" dirty="0">
                          <a:solidFill>
                            <a:srgbClr val="1E293B"/>
                          </a:solidFill>
                        </a:rPr>
                        <a:t>18x</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C00000"/>
                          </a:solidFill>
                        </a:rPr>
                        <a:t>1.41x</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EF2F2"/>
                    </a:solidFill>
                  </a:tcPr>
                </a:tc>
                <a:tc>
                  <a:txBody>
                    <a:bodyPr/>
                    <a:lstStyle/>
                    <a:p>
                      <a:pPr algn="ctr" indent="0" marL="0">
                        <a:buNone/>
                      </a:pPr>
                      <a:r>
                        <a:rPr lang="en-US" sz="850" dirty="0">
                          <a:solidFill>
                            <a:srgbClr val="C00000"/>
                          </a:solidFill>
                        </a:rPr>
                        <a:t>1.58x</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EF2F2"/>
                    </a:solidFill>
                  </a:tcPr>
                </a:tc>
                <a:tc>
                  <a:txBody>
                    <a:bodyPr/>
                    <a:lstStyle/>
                    <a:p>
                      <a:pPr algn="ctr" indent="0" marL="0">
                        <a:buNone/>
                      </a:pPr>
                      <a:r>
                        <a:rPr lang="en-US" sz="850" dirty="0">
                          <a:solidFill>
                            <a:srgbClr val="C00000"/>
                          </a:solidFill>
                        </a:rPr>
                        <a:t>1.76x</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EF2F2"/>
                    </a:solidFill>
                  </a:tcPr>
                </a:tc>
                <a:tc>
                  <a:txBody>
                    <a:bodyPr/>
                    <a:lstStyle/>
                    <a:p>
                      <a:pPr algn="ctr" indent="0" marL="0">
                        <a:buNone/>
                      </a:pPr>
                      <a:r>
                        <a:rPr lang="en-US" sz="850" dirty="0">
                          <a:solidFill>
                            <a:srgbClr val="C00000"/>
                          </a:solidFill>
                        </a:rPr>
                        <a:t>1.95x</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EF2F2"/>
                    </a:solidFill>
                  </a:tcPr>
                </a:tc>
                <a:tc>
                  <a:txBody>
                    <a:bodyPr/>
                    <a:lstStyle/>
                    <a:p>
                      <a:pPr algn="ctr" indent="0" marL="0">
                        <a:buNone/>
                      </a:pPr>
                      <a:r>
                        <a:rPr lang="en-US" sz="850" dirty="0">
                          <a:solidFill>
                            <a:srgbClr val="B45309"/>
                          </a:solidFill>
                        </a:rPr>
                        <a:t>2.19x</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9E6"/>
                    </a:solidFill>
                  </a:tcPr>
                </a:tc>
              </a:tr>
              <a:tr h="0">
                <a:tc>
                  <a:txBody>
                    <a:bodyPr/>
                    <a:lstStyle/>
                    <a:p>
                      <a:pPr algn="l" indent="0" marL="0">
                        <a:buNone/>
                      </a:pPr>
                      <a:r>
                        <a:rPr lang="en-US" sz="850" b="1" dirty="0">
                          <a:solidFill>
                            <a:srgbClr val="1E293B"/>
                          </a:solidFill>
                        </a:rPr>
                        <a:t>20x</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C00000"/>
                          </a:solidFill>
                        </a:rPr>
                        <a:t>1.61x</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EF2F2"/>
                    </a:solidFill>
                  </a:tcPr>
                </a:tc>
                <a:tc>
                  <a:txBody>
                    <a:bodyPr/>
                    <a:lstStyle/>
                    <a:p>
                      <a:pPr algn="ctr" indent="0" marL="0">
                        <a:buNone/>
                      </a:pPr>
                      <a:r>
                        <a:rPr lang="en-US" sz="850" dirty="0">
                          <a:solidFill>
                            <a:srgbClr val="C00000"/>
                          </a:solidFill>
                        </a:rPr>
                        <a:t>1.79x</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EF2F2"/>
                    </a:solidFill>
                  </a:tcPr>
                </a:tc>
                <a:tc>
                  <a:txBody>
                    <a:bodyPr/>
                    <a:lstStyle/>
                    <a:p>
                      <a:pPr algn="ctr" indent="0" marL="0">
                        <a:buNone/>
                      </a:pPr>
                      <a:r>
                        <a:rPr lang="en-US" sz="850" dirty="0">
                          <a:solidFill>
                            <a:srgbClr val="C00000"/>
                          </a:solidFill>
                        </a:rPr>
                        <a:t>1.99x</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EF2F2"/>
                    </a:solidFill>
                  </a:tcPr>
                </a:tc>
                <a:tc>
                  <a:txBody>
                    <a:bodyPr/>
                    <a:lstStyle/>
                    <a:p>
                      <a:pPr algn="ctr" indent="0" marL="0">
                        <a:buNone/>
                      </a:pPr>
                      <a:r>
                        <a:rPr lang="en-US" sz="850" dirty="0">
                          <a:solidFill>
                            <a:srgbClr val="B45309"/>
                          </a:solidFill>
                        </a:rPr>
                        <a:t>2.21x</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9E6"/>
                    </a:solidFill>
                  </a:tcPr>
                </a:tc>
                <a:tc>
                  <a:txBody>
                    <a:bodyPr/>
                    <a:lstStyle/>
                    <a:p>
                      <a:pPr algn="ctr" indent="0" marL="0">
                        <a:buNone/>
                      </a:pPr>
                      <a:r>
                        <a:rPr lang="en-US" sz="850" dirty="0">
                          <a:solidFill>
                            <a:srgbClr val="B45309"/>
                          </a:solidFill>
                        </a:rPr>
                        <a:t>2.48x</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9E6"/>
                    </a:solidFill>
                  </a:tcPr>
                </a:tc>
              </a:tr>
            </a:tbl>
          </a:graphicData>
        </a:graphic>
      </p:graphicFrame>
      <p:sp>
        <p:nvSpPr>
          <p:cNvPr id="13" name="Shape 9"/>
          <p:cNvSpPr/>
          <p:nvPr/>
        </p:nvSpPr>
        <p:spPr>
          <a:xfrm>
            <a:off x="365760" y="4526280"/>
            <a:ext cx="8412480" cy="219456"/>
          </a:xfrm>
          <a:prstGeom prst="rect">
            <a:avLst/>
          </a:prstGeom>
          <a:solidFill>
            <a:srgbClr val="FEF2F2"/>
          </a:solidFill>
          <a:ln w="9525">
            <a:solidFill>
              <a:srgbClr val="C00000"/>
            </a:solidFill>
            <a:prstDash val="solid"/>
          </a:ln>
        </p:spPr>
      </p:sp>
      <p:sp>
        <p:nvSpPr>
          <p:cNvPr id="14" name="Text 10"/>
          <p:cNvSpPr/>
          <p:nvPr/>
        </p:nvSpPr>
        <p:spPr>
          <a:xfrm>
            <a:off x="457200" y="4544568"/>
            <a:ext cx="8229600" cy="182880"/>
          </a:xfrm>
          <a:prstGeom prst="rect">
            <a:avLst/>
          </a:prstGeom>
          <a:noFill/>
          <a:ln/>
        </p:spPr>
        <p:txBody>
          <a:bodyPr wrap="square" lIns="0" tIns="0" rIns="0" bIns="0" rtlCol="0" anchor="ctr"/>
          <a:lstStyle/>
          <a:p>
            <a:pPr indent="0" marL="0">
              <a:buNone/>
            </a:pPr>
            <a:r>
              <a:rPr lang="en-US" sz="850" b="1" dirty="0">
                <a:solidFill>
                  <a:srgbClr val="C00000"/>
                </a:solidFill>
                <a:latin typeface="Arial" pitchFamily="34" charset="0"/>
                <a:ea typeface="Arial" pitchFamily="34" charset="-122"/>
                <a:cs typeface="Arial" pitchFamily="34" charset="-120"/>
              </a:rPr>
              <a:t>⚠  No scenario in the sensitivity table achieves 3.0x+ MOIC. Model formula error in Returned Equity row overstates MOIC in main table by ~1.1x. Corrected model required before IC approval.</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46304"/>
            <a:ext cx="8412480" cy="457200"/>
          </a:xfrm>
          <a:prstGeom prst="rect">
            <a:avLst/>
          </a:prstGeom>
          <a:noFill/>
          <a:ln/>
        </p:spPr>
        <p:txBody>
          <a:bodyPr wrap="square" lIns="0" tIns="0" rIns="0" bIns="0" rtlCol="0" anchor="ctr"/>
          <a:lstStyle/>
          <a:p>
            <a:pPr indent="0" marL="0">
              <a:buNone/>
            </a:pPr>
            <a:r>
              <a:rPr lang="en-US" sz="2000" b="1" dirty="0">
                <a:solidFill>
                  <a:srgbClr val="1B3A5C"/>
                </a:solidFill>
                <a:latin typeface="Arial" pitchFamily="34" charset="0"/>
                <a:ea typeface="Arial" pitchFamily="34" charset="-122"/>
                <a:cs typeface="Arial" pitchFamily="34" charset="-120"/>
              </a:rPr>
              <a:t>Slide 9  |  Investment Thesis</a:t>
            </a:r>
            <a:endParaRPr lang="en-US" sz="2000" dirty="0"/>
          </a:p>
        </p:txBody>
      </p:sp>
      <p:sp>
        <p:nvSpPr>
          <p:cNvPr id="3" name="Shape 1"/>
          <p:cNvSpPr/>
          <p:nvPr/>
        </p:nvSpPr>
        <p:spPr>
          <a:xfrm>
            <a:off x="365760" y="640080"/>
            <a:ext cx="822960" cy="201168"/>
          </a:xfrm>
          <a:prstGeom prst="rect">
            <a:avLst/>
          </a:prstGeom>
          <a:solidFill>
            <a:srgbClr val="1B3A5C"/>
          </a:solidFill>
          <a:ln/>
        </p:spPr>
      </p:sp>
      <p:sp>
        <p:nvSpPr>
          <p:cNvPr id="4" name="Text 2"/>
          <p:cNvSpPr/>
          <p:nvPr/>
        </p:nvSpPr>
        <p:spPr>
          <a:xfrm>
            <a:off x="365760" y="640080"/>
            <a:ext cx="822960"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SO WHAT</a:t>
            </a:r>
            <a:endParaRPr lang="en-US" sz="700" dirty="0"/>
          </a:p>
        </p:txBody>
      </p:sp>
      <p:sp>
        <p:nvSpPr>
          <p:cNvPr id="5" name="Text 3"/>
          <p:cNvSpPr/>
          <p:nvPr/>
        </p:nvSpPr>
        <p:spPr>
          <a:xfrm>
            <a:off x="1261872" y="640080"/>
            <a:ext cx="7406640" cy="201168"/>
          </a:xfrm>
          <a:prstGeom prst="rect">
            <a:avLst/>
          </a:prstGeom>
          <a:noFill/>
          <a:ln/>
        </p:spPr>
        <p:txBody>
          <a:bodyPr wrap="square" lIns="0" tIns="0" rIns="0" bIns="0" rtlCol="0" anchor="ctr"/>
          <a:lstStyle/>
          <a:p>
            <a:pPr indent="0" marL="0">
              <a:buNone/>
            </a:pPr>
            <a:r>
              <a:rPr lang="en-US" sz="850" i="1" dirty="0">
                <a:solidFill>
                  <a:srgbClr val="1B3A5C"/>
                </a:solidFill>
                <a:latin typeface="Arial" pitchFamily="34" charset="0"/>
                <a:ea typeface="Arial" pitchFamily="34" charset="-122"/>
                <a:cs typeface="Arial" pitchFamily="34" charset="-120"/>
              </a:rPr>
              <a:t>Three pillars — platform moat, under-monetised cross-sell, and PE-ready management — each stress-tested against the bear case. All three hold at bear case revenue growth of 8%.</a:t>
            </a:r>
            <a:endParaRPr lang="en-US" sz="850" dirty="0"/>
          </a:p>
        </p:txBody>
      </p:sp>
      <p:sp>
        <p:nvSpPr>
          <p:cNvPr id="6" name="Text 4"/>
          <p:cNvSpPr/>
          <p:nvPr/>
        </p:nvSpPr>
        <p:spPr>
          <a:xfrm>
            <a:off x="274320" y="4864608"/>
            <a:ext cx="8595360" cy="182880"/>
          </a:xfrm>
          <a:prstGeom prst="rect">
            <a:avLst/>
          </a:prstGeom>
          <a:noFill/>
          <a:ln/>
        </p:spPr>
        <p:txBody>
          <a:bodyPr wrap="square" lIns="0" tIns="0" rIns="0" bIns="0" rtlCol="0" anchor="ctr"/>
          <a:lstStyle/>
          <a:p>
            <a:pPr algn="ctr" indent="0" marL="0">
              <a:buNone/>
            </a:pPr>
            <a:r>
              <a:rPr lang="en-US" sz="750" dirty="0">
                <a:solidFill>
                  <a:srgbClr val="9EABB8"/>
                </a:solidFill>
                <a:latin typeface="Arial" pitchFamily="34" charset="0"/>
                <a:ea typeface="Arial" pitchFamily="34" charset="-122"/>
                <a:cs typeface="Arial" pitchFamily="34" charset="-120"/>
              </a:rPr>
              <a:t>Confidential  |  Morsebridge Healthcare  |  IC Memo  |  RevSpring, Inc.  |  June 5, 2026</a:t>
            </a:r>
            <a:endParaRPr lang="en-US" sz="750" dirty="0"/>
          </a:p>
        </p:txBody>
      </p:sp>
      <p:sp>
        <p:nvSpPr>
          <p:cNvPr id="7" name="Shape 5"/>
          <p:cNvSpPr/>
          <p:nvPr/>
        </p:nvSpPr>
        <p:spPr>
          <a:xfrm>
            <a:off x="365760" y="960120"/>
            <a:ext cx="8412480" cy="1243584"/>
          </a:xfrm>
          <a:prstGeom prst="rect">
            <a:avLst/>
          </a:prstGeom>
          <a:solidFill>
            <a:srgbClr val="F7F8FA"/>
          </a:solidFill>
          <a:ln w="5080">
            <a:solidFill>
              <a:srgbClr val="D0D5DD"/>
            </a:solidFill>
            <a:prstDash val="solid"/>
          </a:ln>
        </p:spPr>
      </p:sp>
      <p:sp>
        <p:nvSpPr>
          <p:cNvPr id="8" name="Shape 6"/>
          <p:cNvSpPr/>
          <p:nvPr/>
        </p:nvSpPr>
        <p:spPr>
          <a:xfrm>
            <a:off x="365760" y="960120"/>
            <a:ext cx="45720" cy="1243584"/>
          </a:xfrm>
          <a:prstGeom prst="rect">
            <a:avLst/>
          </a:prstGeom>
          <a:solidFill>
            <a:srgbClr val="1A7A2E"/>
          </a:solidFill>
          <a:ln/>
        </p:spPr>
      </p:sp>
      <p:sp>
        <p:nvSpPr>
          <p:cNvPr id="9" name="Shape 7"/>
          <p:cNvSpPr/>
          <p:nvPr/>
        </p:nvSpPr>
        <p:spPr>
          <a:xfrm>
            <a:off x="493776" y="1051560"/>
            <a:ext cx="365760" cy="365760"/>
          </a:xfrm>
          <a:prstGeom prst="rect">
            <a:avLst>
              <a:gd name="adj" fmla="val 12500"/>
            </a:avLst>
          </a:prstGeom>
          <a:solidFill>
            <a:srgbClr val="1A7A2E"/>
          </a:solidFill>
          <a:ln/>
        </p:spPr>
      </p:sp>
      <p:sp>
        <p:nvSpPr>
          <p:cNvPr id="10" name="Text 8"/>
          <p:cNvSpPr/>
          <p:nvPr/>
        </p:nvSpPr>
        <p:spPr>
          <a:xfrm>
            <a:off x="493776" y="1051560"/>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01</a:t>
            </a:r>
            <a:endParaRPr lang="en-US" sz="1600" dirty="0"/>
          </a:p>
        </p:txBody>
      </p:sp>
      <p:sp>
        <p:nvSpPr>
          <p:cNvPr id="11" name="Text 9"/>
          <p:cNvSpPr/>
          <p:nvPr/>
        </p:nvSpPr>
        <p:spPr>
          <a:xfrm>
            <a:off x="960120" y="1033272"/>
            <a:ext cx="5852160" cy="274320"/>
          </a:xfrm>
          <a:prstGeom prst="rect">
            <a:avLst/>
          </a:prstGeom>
          <a:noFill/>
          <a:ln/>
        </p:spPr>
        <p:txBody>
          <a:bodyPr wrap="square" lIns="0" tIns="0" rIns="0" bIns="0" rtlCol="0" anchor="ctr"/>
          <a:lstStyle/>
          <a:p>
            <a:pPr indent="0" marL="0">
              <a:buNone/>
            </a:pPr>
            <a:r>
              <a:rPr lang="en-US" sz="1000" b="1" dirty="0">
                <a:solidFill>
                  <a:srgbClr val="1B3A5C"/>
                </a:solidFill>
                <a:latin typeface="Arial" pitchFamily="34" charset="0"/>
                <a:ea typeface="Arial" pitchFamily="34" charset="-122"/>
                <a:cs typeface="Arial" pitchFamily="34" charset="-120"/>
              </a:rPr>
              <a:t>Mandatory Compliance + Data Moat = Defensible Market Leadership</a:t>
            </a:r>
            <a:endParaRPr lang="en-US" sz="1000" dirty="0"/>
          </a:p>
        </p:txBody>
      </p:sp>
      <p:sp>
        <p:nvSpPr>
          <p:cNvPr id="12" name="Shape 10"/>
          <p:cNvSpPr/>
          <p:nvPr/>
        </p:nvSpPr>
        <p:spPr>
          <a:xfrm>
            <a:off x="6931152" y="1014984"/>
            <a:ext cx="1801368" cy="292608"/>
          </a:xfrm>
          <a:prstGeom prst="rect">
            <a:avLst>
              <a:gd name="adj" fmla="val 12500"/>
            </a:avLst>
          </a:prstGeom>
          <a:solidFill>
            <a:srgbClr val="1A7A2E"/>
          </a:solidFill>
          <a:ln/>
        </p:spPr>
      </p:sp>
      <p:sp>
        <p:nvSpPr>
          <p:cNvPr id="13" name="Text 11"/>
          <p:cNvSpPr/>
          <p:nvPr/>
        </p:nvSpPr>
        <p:spPr>
          <a:xfrm>
            <a:off x="6949440" y="1014984"/>
            <a:ext cx="1764792" cy="292608"/>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Revenue growth 12%+, EBITDA $91.4M</a:t>
            </a:r>
            <a:endParaRPr lang="en-US" sz="750" dirty="0"/>
          </a:p>
        </p:txBody>
      </p:sp>
      <p:sp>
        <p:nvSpPr>
          <p:cNvPr id="14" name="Text 12"/>
          <p:cNvSpPr/>
          <p:nvPr/>
        </p:nvSpPr>
        <p:spPr>
          <a:xfrm>
            <a:off x="960120" y="1344168"/>
            <a:ext cx="7772400" cy="475488"/>
          </a:xfrm>
          <a:prstGeom prst="rect">
            <a:avLst/>
          </a:prstGeom>
          <a:noFill/>
          <a:ln/>
        </p:spPr>
        <p:txBody>
          <a:bodyPr wrap="square" lIns="0" tIns="0" rIns="0" bIns="0" rtlCol="0" anchor="ctr"/>
          <a:lstStyle/>
          <a:p>
            <a:pPr indent="0" marL="0">
              <a:buNone/>
            </a:pPr>
            <a:r>
              <a:rPr lang="en-US" sz="800" dirty="0">
                <a:solidFill>
                  <a:srgbClr val="374151"/>
                </a:solidFill>
                <a:latin typeface="Arial" pitchFamily="34" charset="0"/>
                <a:ea typeface="Arial" pitchFamily="34" charset="-122"/>
                <a:cs typeface="Arial" pitchFamily="34" charset="-120"/>
              </a:rPr>
              <a:t>RevSpring's PreService and Engage IQ workflows are now mandated by the February 2025 Executive Order on price transparency and the November 2025 CMS Final Rule effective April 2026. This converts RevSpring's core products from discretionary IT spend into compliance infrastructure for 2,000+ U.S. health systems.</a:t>
            </a:r>
            <a:endParaRPr lang="en-US" sz="800" dirty="0"/>
          </a:p>
        </p:txBody>
      </p:sp>
      <p:sp>
        <p:nvSpPr>
          <p:cNvPr id="15" name="Shape 13"/>
          <p:cNvSpPr/>
          <p:nvPr/>
        </p:nvSpPr>
        <p:spPr>
          <a:xfrm>
            <a:off x="960120" y="1856232"/>
            <a:ext cx="548640" cy="182880"/>
          </a:xfrm>
          <a:prstGeom prst="rect">
            <a:avLst/>
          </a:prstGeom>
          <a:solidFill>
            <a:srgbClr val="E2E8F0"/>
          </a:solidFill>
          <a:ln/>
        </p:spPr>
      </p:sp>
      <p:sp>
        <p:nvSpPr>
          <p:cNvPr id="16" name="Text 14"/>
          <p:cNvSpPr/>
          <p:nvPr/>
        </p:nvSpPr>
        <p:spPr>
          <a:xfrm>
            <a:off x="960120" y="1856232"/>
            <a:ext cx="548640" cy="182880"/>
          </a:xfrm>
          <a:prstGeom prst="rect">
            <a:avLst/>
          </a:prstGeom>
          <a:noFill/>
          <a:ln/>
        </p:spPr>
        <p:txBody>
          <a:bodyPr wrap="square" lIns="0" tIns="0" rIns="0" bIns="0" rtlCol="0" anchor="ctr"/>
          <a:lstStyle/>
          <a:p>
            <a:pPr algn="ctr" indent="0" marL="0">
              <a:buNone/>
            </a:pPr>
            <a:r>
              <a:rPr lang="en-US" sz="700" b="1" dirty="0">
                <a:solidFill>
                  <a:srgbClr val="64748B"/>
                </a:solidFill>
                <a:latin typeface="Arial" pitchFamily="34" charset="0"/>
                <a:ea typeface="Arial" pitchFamily="34" charset="-122"/>
                <a:cs typeface="Arial" pitchFamily="34" charset="-120"/>
              </a:rPr>
              <a:t>BEAR</a:t>
            </a:r>
            <a:endParaRPr lang="en-US" sz="700" dirty="0"/>
          </a:p>
        </p:txBody>
      </p:sp>
      <p:sp>
        <p:nvSpPr>
          <p:cNvPr id="17" name="Text 15"/>
          <p:cNvSpPr/>
          <p:nvPr/>
        </p:nvSpPr>
        <p:spPr>
          <a:xfrm>
            <a:off x="1572768" y="1856232"/>
            <a:ext cx="7159752" cy="182880"/>
          </a:xfrm>
          <a:prstGeom prst="rect">
            <a:avLst/>
          </a:prstGeom>
          <a:noFill/>
          <a:ln/>
        </p:spPr>
        <p:txBody>
          <a:bodyPr wrap="square" lIns="0" tIns="0" rIns="0" bIns="0" rtlCol="0" anchor="ctr"/>
          <a:lstStyle/>
          <a:p>
            <a:pPr indent="0" marL="0">
              <a:buNone/>
            </a:pPr>
            <a:r>
              <a:rPr lang="en-US" sz="750" i="1" dirty="0">
                <a:solidFill>
                  <a:srgbClr val="64748B"/>
                </a:solidFill>
                <a:latin typeface="Arial" pitchFamily="34" charset="0"/>
                <a:ea typeface="Arial" pitchFamily="34" charset="-122"/>
                <a:cs typeface="Arial" pitchFamily="34" charset="-120"/>
              </a:rPr>
              <a:t>Bear case: Compliance mandates are regulatory, not cyclical. Even in the bear case (8% revenue growth), RevSpring retains its installed base and compliance-driven renewal rates. The only bear case risk is competitive displacement, not regulatory rollback.</a:t>
            </a:r>
            <a:endParaRPr lang="en-US" sz="750" dirty="0"/>
          </a:p>
        </p:txBody>
      </p:sp>
      <p:sp>
        <p:nvSpPr>
          <p:cNvPr id="18" name="Shape 16"/>
          <p:cNvSpPr/>
          <p:nvPr/>
        </p:nvSpPr>
        <p:spPr>
          <a:xfrm>
            <a:off x="365760" y="2276856"/>
            <a:ext cx="8412480" cy="1243584"/>
          </a:xfrm>
          <a:prstGeom prst="rect">
            <a:avLst/>
          </a:prstGeom>
          <a:solidFill>
            <a:srgbClr val="FFFFFF"/>
          </a:solidFill>
          <a:ln w="5080">
            <a:solidFill>
              <a:srgbClr val="D0D5DD"/>
            </a:solidFill>
            <a:prstDash val="solid"/>
          </a:ln>
        </p:spPr>
      </p:sp>
      <p:sp>
        <p:nvSpPr>
          <p:cNvPr id="19" name="Shape 17"/>
          <p:cNvSpPr/>
          <p:nvPr/>
        </p:nvSpPr>
        <p:spPr>
          <a:xfrm>
            <a:off x="365760" y="2276856"/>
            <a:ext cx="45720" cy="1243584"/>
          </a:xfrm>
          <a:prstGeom prst="rect">
            <a:avLst/>
          </a:prstGeom>
          <a:solidFill>
            <a:srgbClr val="2E6DB4"/>
          </a:solidFill>
          <a:ln/>
        </p:spPr>
      </p:sp>
      <p:sp>
        <p:nvSpPr>
          <p:cNvPr id="20" name="Shape 18"/>
          <p:cNvSpPr/>
          <p:nvPr/>
        </p:nvSpPr>
        <p:spPr>
          <a:xfrm>
            <a:off x="493776" y="2368296"/>
            <a:ext cx="365760" cy="365760"/>
          </a:xfrm>
          <a:prstGeom prst="rect">
            <a:avLst>
              <a:gd name="adj" fmla="val 12500"/>
            </a:avLst>
          </a:prstGeom>
          <a:solidFill>
            <a:srgbClr val="2E6DB4"/>
          </a:solidFill>
          <a:ln/>
        </p:spPr>
      </p:sp>
      <p:sp>
        <p:nvSpPr>
          <p:cNvPr id="21" name="Text 19"/>
          <p:cNvSpPr/>
          <p:nvPr/>
        </p:nvSpPr>
        <p:spPr>
          <a:xfrm>
            <a:off x="493776" y="2368296"/>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02</a:t>
            </a:r>
            <a:endParaRPr lang="en-US" sz="1600" dirty="0"/>
          </a:p>
        </p:txBody>
      </p:sp>
      <p:sp>
        <p:nvSpPr>
          <p:cNvPr id="22" name="Text 20"/>
          <p:cNvSpPr/>
          <p:nvPr/>
        </p:nvSpPr>
        <p:spPr>
          <a:xfrm>
            <a:off x="960120" y="2350008"/>
            <a:ext cx="5852160" cy="274320"/>
          </a:xfrm>
          <a:prstGeom prst="rect">
            <a:avLst/>
          </a:prstGeom>
          <a:noFill/>
          <a:ln/>
        </p:spPr>
        <p:txBody>
          <a:bodyPr wrap="square" lIns="0" tIns="0" rIns="0" bIns="0" rtlCol="0" anchor="ctr"/>
          <a:lstStyle/>
          <a:p>
            <a:pPr indent="0" marL="0">
              <a:buNone/>
            </a:pPr>
            <a:r>
              <a:rPr lang="en-US" sz="1000" b="1" dirty="0">
                <a:solidFill>
                  <a:srgbClr val="1B3A5C"/>
                </a:solidFill>
                <a:latin typeface="Arial" pitchFamily="34" charset="0"/>
                <a:ea typeface="Arial" pitchFamily="34" charset="-122"/>
                <a:cs typeface="Arial" pitchFamily="34" charset="-120"/>
              </a:rPr>
              <a:t>$45M+ Identified Cross-Sell ARR + Two Platform Extensions</a:t>
            </a:r>
            <a:endParaRPr lang="en-US" sz="1000" dirty="0"/>
          </a:p>
        </p:txBody>
      </p:sp>
      <p:sp>
        <p:nvSpPr>
          <p:cNvPr id="23" name="Shape 21"/>
          <p:cNvSpPr/>
          <p:nvPr/>
        </p:nvSpPr>
        <p:spPr>
          <a:xfrm>
            <a:off x="6931152" y="2331720"/>
            <a:ext cx="1801368" cy="292608"/>
          </a:xfrm>
          <a:prstGeom prst="rect">
            <a:avLst>
              <a:gd name="adj" fmla="val 12500"/>
            </a:avLst>
          </a:prstGeom>
          <a:solidFill>
            <a:srgbClr val="2E6DB4"/>
          </a:solidFill>
          <a:ln/>
        </p:spPr>
      </p:sp>
      <p:sp>
        <p:nvSpPr>
          <p:cNvPr id="24" name="Text 22"/>
          <p:cNvSpPr/>
          <p:nvPr/>
        </p:nvSpPr>
        <p:spPr>
          <a:xfrm>
            <a:off x="6949440" y="2331720"/>
            <a:ext cx="1764792" cy="292608"/>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Cross-sell: $45M+ ARR; Kyruus + TrustCommerce extend TAM</a:t>
            </a:r>
            <a:endParaRPr lang="en-US" sz="750" dirty="0"/>
          </a:p>
        </p:txBody>
      </p:sp>
      <p:sp>
        <p:nvSpPr>
          <p:cNvPr id="25" name="Text 23"/>
          <p:cNvSpPr/>
          <p:nvPr/>
        </p:nvSpPr>
        <p:spPr>
          <a:xfrm>
            <a:off x="960120" y="2660904"/>
            <a:ext cx="7772400" cy="475488"/>
          </a:xfrm>
          <a:prstGeom prst="rect">
            <a:avLst/>
          </a:prstGeom>
          <a:noFill/>
          <a:ln/>
        </p:spPr>
        <p:txBody>
          <a:bodyPr wrap="square" lIns="0" tIns="0" rIns="0" bIns="0" rtlCol="0" anchor="ctr"/>
          <a:lstStyle/>
          <a:p>
            <a:pPr indent="0" marL="0">
              <a:buNone/>
            </a:pPr>
            <a:r>
              <a:rPr lang="en-US" sz="800" dirty="0">
                <a:solidFill>
                  <a:srgbClr val="374151"/>
                </a:solidFill>
                <a:latin typeface="Arial" pitchFamily="34" charset="0"/>
                <a:ea typeface="Arial" pitchFamily="34" charset="-122"/>
                <a:cs typeface="Arial" pitchFamily="34" charset="-120"/>
              </a:rPr>
              <a:t>RevSpring has identified $45M+ in incremental ARR from cross-selling PreService and Engage IQ into the existing 2,000+ client base. Kyruus Health (Q4 2025) adds provider search and scheduling upstream; TrustCommerce (February 2026) adds integrated payments downstream. No competitor occupies this full-journey position at enterprise scale.</a:t>
            </a:r>
            <a:endParaRPr lang="en-US" sz="800" dirty="0"/>
          </a:p>
        </p:txBody>
      </p:sp>
      <p:sp>
        <p:nvSpPr>
          <p:cNvPr id="26" name="Shape 24"/>
          <p:cNvSpPr/>
          <p:nvPr/>
        </p:nvSpPr>
        <p:spPr>
          <a:xfrm>
            <a:off x="960120" y="3172968"/>
            <a:ext cx="548640" cy="182880"/>
          </a:xfrm>
          <a:prstGeom prst="rect">
            <a:avLst/>
          </a:prstGeom>
          <a:solidFill>
            <a:srgbClr val="E2E8F0"/>
          </a:solidFill>
          <a:ln/>
        </p:spPr>
      </p:sp>
      <p:sp>
        <p:nvSpPr>
          <p:cNvPr id="27" name="Text 25"/>
          <p:cNvSpPr/>
          <p:nvPr/>
        </p:nvSpPr>
        <p:spPr>
          <a:xfrm>
            <a:off x="960120" y="3172968"/>
            <a:ext cx="548640" cy="182880"/>
          </a:xfrm>
          <a:prstGeom prst="rect">
            <a:avLst/>
          </a:prstGeom>
          <a:noFill/>
          <a:ln/>
        </p:spPr>
        <p:txBody>
          <a:bodyPr wrap="square" lIns="0" tIns="0" rIns="0" bIns="0" rtlCol="0" anchor="ctr"/>
          <a:lstStyle/>
          <a:p>
            <a:pPr algn="ctr" indent="0" marL="0">
              <a:buNone/>
            </a:pPr>
            <a:r>
              <a:rPr lang="en-US" sz="700" b="1" dirty="0">
                <a:solidFill>
                  <a:srgbClr val="64748B"/>
                </a:solidFill>
                <a:latin typeface="Arial" pitchFamily="34" charset="0"/>
                <a:ea typeface="Arial" pitchFamily="34" charset="-122"/>
                <a:cs typeface="Arial" pitchFamily="34" charset="-120"/>
              </a:rPr>
              <a:t>BEAR</a:t>
            </a:r>
            <a:endParaRPr lang="en-US" sz="700" dirty="0"/>
          </a:p>
        </p:txBody>
      </p:sp>
      <p:sp>
        <p:nvSpPr>
          <p:cNvPr id="28" name="Text 26"/>
          <p:cNvSpPr/>
          <p:nvPr/>
        </p:nvSpPr>
        <p:spPr>
          <a:xfrm>
            <a:off x="1572768" y="3172968"/>
            <a:ext cx="7159752" cy="182880"/>
          </a:xfrm>
          <a:prstGeom prst="rect">
            <a:avLst/>
          </a:prstGeom>
          <a:noFill/>
          <a:ln/>
        </p:spPr>
        <p:txBody>
          <a:bodyPr wrap="square" lIns="0" tIns="0" rIns="0" bIns="0" rtlCol="0" anchor="ctr"/>
          <a:lstStyle/>
          <a:p>
            <a:pPr indent="0" marL="0">
              <a:buNone/>
            </a:pPr>
            <a:r>
              <a:rPr lang="en-US" sz="750" i="1" dirty="0">
                <a:solidFill>
                  <a:srgbClr val="64748B"/>
                </a:solidFill>
                <a:latin typeface="Arial" pitchFamily="34" charset="0"/>
                <a:ea typeface="Arial" pitchFamily="34" charset="-122"/>
                <a:cs typeface="Arial" pitchFamily="34" charset="-120"/>
              </a:rPr>
              <a:t>Bear case: Even at 50% cross-sell realisation, $22M+ in incremental ARR represents meaningful upside over the base. The greater risk is integration execution across two concurrent acquisitions.</a:t>
            </a:r>
            <a:endParaRPr lang="en-US" sz="750" dirty="0"/>
          </a:p>
        </p:txBody>
      </p:sp>
      <p:sp>
        <p:nvSpPr>
          <p:cNvPr id="29" name="Shape 27"/>
          <p:cNvSpPr/>
          <p:nvPr/>
        </p:nvSpPr>
        <p:spPr>
          <a:xfrm>
            <a:off x="365760" y="3593592"/>
            <a:ext cx="8412480" cy="1243584"/>
          </a:xfrm>
          <a:prstGeom prst="rect">
            <a:avLst/>
          </a:prstGeom>
          <a:solidFill>
            <a:srgbClr val="F7F8FA"/>
          </a:solidFill>
          <a:ln w="5080">
            <a:solidFill>
              <a:srgbClr val="D0D5DD"/>
            </a:solidFill>
            <a:prstDash val="solid"/>
          </a:ln>
        </p:spPr>
      </p:sp>
      <p:sp>
        <p:nvSpPr>
          <p:cNvPr id="30" name="Shape 28"/>
          <p:cNvSpPr/>
          <p:nvPr/>
        </p:nvSpPr>
        <p:spPr>
          <a:xfrm>
            <a:off x="365760" y="3593592"/>
            <a:ext cx="45720" cy="1243584"/>
          </a:xfrm>
          <a:prstGeom prst="rect">
            <a:avLst/>
          </a:prstGeom>
          <a:solidFill>
            <a:srgbClr val="B45309"/>
          </a:solidFill>
          <a:ln/>
        </p:spPr>
      </p:sp>
      <p:sp>
        <p:nvSpPr>
          <p:cNvPr id="31" name="Shape 29"/>
          <p:cNvSpPr/>
          <p:nvPr/>
        </p:nvSpPr>
        <p:spPr>
          <a:xfrm>
            <a:off x="493776" y="3685032"/>
            <a:ext cx="365760" cy="365760"/>
          </a:xfrm>
          <a:prstGeom prst="rect">
            <a:avLst>
              <a:gd name="adj" fmla="val 12500"/>
            </a:avLst>
          </a:prstGeom>
          <a:solidFill>
            <a:srgbClr val="B45309"/>
          </a:solidFill>
          <a:ln/>
        </p:spPr>
      </p:sp>
      <p:sp>
        <p:nvSpPr>
          <p:cNvPr id="32" name="Text 30"/>
          <p:cNvSpPr/>
          <p:nvPr/>
        </p:nvSpPr>
        <p:spPr>
          <a:xfrm>
            <a:off x="493776" y="3685032"/>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03</a:t>
            </a:r>
            <a:endParaRPr lang="en-US" sz="1600" dirty="0"/>
          </a:p>
        </p:txBody>
      </p:sp>
      <p:sp>
        <p:nvSpPr>
          <p:cNvPr id="33" name="Text 31"/>
          <p:cNvSpPr/>
          <p:nvPr/>
        </p:nvSpPr>
        <p:spPr>
          <a:xfrm>
            <a:off x="960120" y="3666744"/>
            <a:ext cx="5852160" cy="274320"/>
          </a:xfrm>
          <a:prstGeom prst="rect">
            <a:avLst/>
          </a:prstGeom>
          <a:noFill/>
          <a:ln/>
        </p:spPr>
        <p:txBody>
          <a:bodyPr wrap="square" lIns="0" tIns="0" rIns="0" bIns="0" rtlCol="0" anchor="ctr"/>
          <a:lstStyle/>
          <a:p>
            <a:pPr indent="0" marL="0">
              <a:buNone/>
            </a:pPr>
            <a:r>
              <a:rPr lang="en-US" sz="1000" b="1" dirty="0">
                <a:solidFill>
                  <a:srgbClr val="1B3A5C"/>
                </a:solidFill>
                <a:latin typeface="Arial" pitchFamily="34" charset="0"/>
                <a:ea typeface="Arial" pitchFamily="34" charset="-122"/>
                <a:cs typeface="Arial" pitchFamily="34" charset="-120"/>
              </a:rPr>
              <a:t>CEO With Two PE Exits + $45M Rollover + Frazier Operational Governance</a:t>
            </a:r>
            <a:endParaRPr lang="en-US" sz="1000" dirty="0"/>
          </a:p>
        </p:txBody>
      </p:sp>
      <p:sp>
        <p:nvSpPr>
          <p:cNvPr id="34" name="Shape 32"/>
          <p:cNvSpPr/>
          <p:nvPr/>
        </p:nvSpPr>
        <p:spPr>
          <a:xfrm>
            <a:off x="6931152" y="3648456"/>
            <a:ext cx="1801368" cy="292608"/>
          </a:xfrm>
          <a:prstGeom prst="rect">
            <a:avLst>
              <a:gd name="adj" fmla="val 12500"/>
            </a:avLst>
          </a:prstGeom>
          <a:solidFill>
            <a:srgbClr val="B45309"/>
          </a:solidFill>
          <a:ln/>
        </p:spPr>
      </p:sp>
      <p:sp>
        <p:nvSpPr>
          <p:cNvPr id="35" name="Text 33"/>
          <p:cNvSpPr/>
          <p:nvPr/>
        </p:nvSpPr>
        <p:spPr>
          <a:xfrm>
            <a:off x="6949440" y="3648456"/>
            <a:ext cx="1764792" cy="292608"/>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MacKenzie: 2 PE exits | Smith: Cloudmed CFO, Highland Capital MD</a:t>
            </a:r>
            <a:endParaRPr lang="en-US" sz="750" dirty="0"/>
          </a:p>
        </p:txBody>
      </p:sp>
      <p:sp>
        <p:nvSpPr>
          <p:cNvPr id="36" name="Text 34"/>
          <p:cNvSpPr/>
          <p:nvPr/>
        </p:nvSpPr>
        <p:spPr>
          <a:xfrm>
            <a:off x="960120" y="3977640"/>
            <a:ext cx="7772400" cy="475488"/>
          </a:xfrm>
          <a:prstGeom prst="rect">
            <a:avLst/>
          </a:prstGeom>
          <a:noFill/>
          <a:ln/>
        </p:spPr>
        <p:txBody>
          <a:bodyPr wrap="square" lIns="0" tIns="0" rIns="0" bIns="0" rtlCol="0" anchor="ctr"/>
          <a:lstStyle/>
          <a:p>
            <a:pPr indent="0" marL="0">
              <a:buNone/>
            </a:pPr>
            <a:r>
              <a:rPr lang="en-US" sz="800" dirty="0">
                <a:solidFill>
                  <a:srgbClr val="374151"/>
                </a:solidFill>
                <a:latin typeface="Arial" pitchFamily="34" charset="0"/>
                <a:ea typeface="Arial" pitchFamily="34" charset="-122"/>
                <a:cs typeface="Arial" pitchFamily="34" charset="-120"/>
              </a:rPr>
              <a:t>Scott MacKenzie has led two PE-backed companies to successful exits (M*Modal → 3M; Passport Health → Experian). He has a $45M equity rollover under Frazier, 7+ years at RevSpring, and Roger Davis as Executive Chairman providing direct PE sponsor governance. Management alignment is strong.</a:t>
            </a:r>
            <a:endParaRPr lang="en-US" sz="800" dirty="0"/>
          </a:p>
        </p:txBody>
      </p:sp>
      <p:sp>
        <p:nvSpPr>
          <p:cNvPr id="37" name="Shape 35"/>
          <p:cNvSpPr/>
          <p:nvPr/>
        </p:nvSpPr>
        <p:spPr>
          <a:xfrm>
            <a:off x="960120" y="4489704"/>
            <a:ext cx="548640" cy="182880"/>
          </a:xfrm>
          <a:prstGeom prst="rect">
            <a:avLst/>
          </a:prstGeom>
          <a:solidFill>
            <a:srgbClr val="E2E8F0"/>
          </a:solidFill>
          <a:ln/>
        </p:spPr>
      </p:sp>
      <p:sp>
        <p:nvSpPr>
          <p:cNvPr id="38" name="Text 36"/>
          <p:cNvSpPr/>
          <p:nvPr/>
        </p:nvSpPr>
        <p:spPr>
          <a:xfrm>
            <a:off x="960120" y="4489704"/>
            <a:ext cx="548640" cy="182880"/>
          </a:xfrm>
          <a:prstGeom prst="rect">
            <a:avLst/>
          </a:prstGeom>
          <a:noFill/>
          <a:ln/>
        </p:spPr>
        <p:txBody>
          <a:bodyPr wrap="square" lIns="0" tIns="0" rIns="0" bIns="0" rtlCol="0" anchor="ctr"/>
          <a:lstStyle/>
          <a:p>
            <a:pPr algn="ctr" indent="0" marL="0">
              <a:buNone/>
            </a:pPr>
            <a:r>
              <a:rPr lang="en-US" sz="700" b="1" dirty="0">
                <a:solidFill>
                  <a:srgbClr val="64748B"/>
                </a:solidFill>
                <a:latin typeface="Arial" pitchFamily="34" charset="0"/>
                <a:ea typeface="Arial" pitchFamily="34" charset="-122"/>
                <a:cs typeface="Arial" pitchFamily="34" charset="-120"/>
              </a:rPr>
              <a:t>BEAR</a:t>
            </a:r>
            <a:endParaRPr lang="en-US" sz="700" dirty="0"/>
          </a:p>
        </p:txBody>
      </p:sp>
      <p:sp>
        <p:nvSpPr>
          <p:cNvPr id="39" name="Text 37"/>
          <p:cNvSpPr/>
          <p:nvPr/>
        </p:nvSpPr>
        <p:spPr>
          <a:xfrm>
            <a:off x="1572768" y="4489704"/>
            <a:ext cx="7159752" cy="182880"/>
          </a:xfrm>
          <a:prstGeom prst="rect">
            <a:avLst/>
          </a:prstGeom>
          <a:noFill/>
          <a:ln/>
        </p:spPr>
        <p:txBody>
          <a:bodyPr wrap="square" lIns="0" tIns="0" rIns="0" bIns="0" rtlCol="0" anchor="ctr"/>
          <a:lstStyle/>
          <a:p>
            <a:pPr indent="0" marL="0">
              <a:buNone/>
            </a:pPr>
            <a:r>
              <a:rPr lang="en-US" sz="750" i="1" dirty="0">
                <a:solidFill>
                  <a:srgbClr val="64748B"/>
                </a:solidFill>
                <a:latin typeface="Arial" pitchFamily="34" charset="0"/>
                <a:ea typeface="Arial" pitchFamily="34" charset="-122"/>
                <a:cs typeface="Arial" pitchFamily="34" charset="-120"/>
              </a:rPr>
              <a:t>Bear case: Biggest risk is CFO David Smith's 11-month tenure and the model integrity issues he must resolve. If corrected model confirms bear IRR ≥ 15%, this condition is met and the management pillar is intact.</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46304"/>
            <a:ext cx="8412480" cy="457200"/>
          </a:xfrm>
          <a:prstGeom prst="rect">
            <a:avLst/>
          </a:prstGeom>
          <a:noFill/>
          <a:ln/>
        </p:spPr>
        <p:txBody>
          <a:bodyPr wrap="square" lIns="0" tIns="0" rIns="0" bIns="0" rtlCol="0" anchor="ctr"/>
          <a:lstStyle/>
          <a:p>
            <a:pPr indent="0" marL="0">
              <a:buNone/>
            </a:pPr>
            <a:r>
              <a:rPr lang="en-US" sz="2000" b="1" dirty="0">
                <a:solidFill>
                  <a:srgbClr val="1B3A5C"/>
                </a:solidFill>
                <a:latin typeface="Arial" pitchFamily="34" charset="0"/>
                <a:ea typeface="Arial" pitchFamily="34" charset="-122"/>
                <a:cs typeface="Arial" pitchFamily="34" charset="-120"/>
              </a:rPr>
              <a:t>Slide 10  |  Value Creation Plan</a:t>
            </a:r>
            <a:endParaRPr lang="en-US" sz="2000" dirty="0"/>
          </a:p>
        </p:txBody>
      </p:sp>
      <p:sp>
        <p:nvSpPr>
          <p:cNvPr id="3" name="Shape 1"/>
          <p:cNvSpPr/>
          <p:nvPr/>
        </p:nvSpPr>
        <p:spPr>
          <a:xfrm>
            <a:off x="365760" y="640080"/>
            <a:ext cx="822960" cy="201168"/>
          </a:xfrm>
          <a:prstGeom prst="rect">
            <a:avLst/>
          </a:prstGeom>
          <a:solidFill>
            <a:srgbClr val="1B3A5C"/>
          </a:solidFill>
          <a:ln/>
        </p:spPr>
      </p:sp>
      <p:sp>
        <p:nvSpPr>
          <p:cNvPr id="4" name="Text 2"/>
          <p:cNvSpPr/>
          <p:nvPr/>
        </p:nvSpPr>
        <p:spPr>
          <a:xfrm>
            <a:off x="365760" y="640080"/>
            <a:ext cx="822960"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SO WHAT</a:t>
            </a:r>
            <a:endParaRPr lang="en-US" sz="700" dirty="0"/>
          </a:p>
        </p:txBody>
      </p:sp>
      <p:sp>
        <p:nvSpPr>
          <p:cNvPr id="5" name="Text 3"/>
          <p:cNvSpPr/>
          <p:nvPr/>
        </p:nvSpPr>
        <p:spPr>
          <a:xfrm>
            <a:off x="1261872" y="640080"/>
            <a:ext cx="7406640" cy="201168"/>
          </a:xfrm>
          <a:prstGeom prst="rect">
            <a:avLst/>
          </a:prstGeom>
          <a:noFill/>
          <a:ln/>
        </p:spPr>
        <p:txBody>
          <a:bodyPr wrap="square" lIns="0" tIns="0" rIns="0" bIns="0" rtlCol="0" anchor="ctr"/>
          <a:lstStyle/>
          <a:p>
            <a:pPr indent="0" marL="0">
              <a:buNone/>
            </a:pPr>
            <a:r>
              <a:rPr lang="en-US" sz="850" i="1" dirty="0">
                <a:solidFill>
                  <a:srgbClr val="1B3A5C"/>
                </a:solidFill>
                <a:latin typeface="Arial" pitchFamily="34" charset="0"/>
                <a:ea typeface="Arial" pitchFamily="34" charset="-122"/>
                <a:cs typeface="Arial" pitchFamily="34" charset="-120"/>
              </a:rPr>
              <a:t>Four workstreams across a 5-year hold target 3.0x+ MOIC at exit — but this requires the corrected financial model to confirm base case returns are achievable.</a:t>
            </a:r>
            <a:endParaRPr lang="en-US" sz="850" dirty="0"/>
          </a:p>
        </p:txBody>
      </p:sp>
      <p:sp>
        <p:nvSpPr>
          <p:cNvPr id="6" name="Text 4"/>
          <p:cNvSpPr/>
          <p:nvPr/>
        </p:nvSpPr>
        <p:spPr>
          <a:xfrm>
            <a:off x="274320" y="4864608"/>
            <a:ext cx="8595360" cy="182880"/>
          </a:xfrm>
          <a:prstGeom prst="rect">
            <a:avLst/>
          </a:prstGeom>
          <a:noFill/>
          <a:ln/>
        </p:spPr>
        <p:txBody>
          <a:bodyPr wrap="square" lIns="0" tIns="0" rIns="0" bIns="0" rtlCol="0" anchor="ctr"/>
          <a:lstStyle/>
          <a:p>
            <a:pPr algn="ctr" indent="0" marL="0">
              <a:buNone/>
            </a:pPr>
            <a:r>
              <a:rPr lang="en-US" sz="750" dirty="0">
                <a:solidFill>
                  <a:srgbClr val="9EABB8"/>
                </a:solidFill>
                <a:latin typeface="Arial" pitchFamily="34" charset="0"/>
                <a:ea typeface="Arial" pitchFamily="34" charset="-122"/>
                <a:cs typeface="Arial" pitchFamily="34" charset="-120"/>
              </a:rPr>
              <a:t>Confidential  |  Morsebridge Healthcare  |  IC Memo  |  RevSpring, Inc.  |  June 5, 2026</a:t>
            </a:r>
            <a:endParaRPr lang="en-US" sz="750" dirty="0"/>
          </a:p>
        </p:txBody>
      </p:sp>
      <p:sp>
        <p:nvSpPr>
          <p:cNvPr id="7" name="Shape 5"/>
          <p:cNvSpPr/>
          <p:nvPr/>
        </p:nvSpPr>
        <p:spPr>
          <a:xfrm>
            <a:off x="365760" y="960120"/>
            <a:ext cx="45720" cy="219456"/>
          </a:xfrm>
          <a:prstGeom prst="rect">
            <a:avLst/>
          </a:prstGeom>
          <a:solidFill>
            <a:srgbClr val="2E6DB4"/>
          </a:solidFill>
          <a:ln/>
        </p:spPr>
      </p:sp>
      <p:sp>
        <p:nvSpPr>
          <p:cNvPr id="8" name="Text 6"/>
          <p:cNvSpPr/>
          <p:nvPr/>
        </p:nvSpPr>
        <p:spPr>
          <a:xfrm>
            <a:off x="493776" y="960120"/>
            <a:ext cx="8046720" cy="219456"/>
          </a:xfrm>
          <a:prstGeom prst="rect">
            <a:avLst/>
          </a:prstGeom>
          <a:noFill/>
          <a:ln/>
        </p:spPr>
        <p:txBody>
          <a:bodyPr wrap="square" lIns="0" tIns="0" rIns="0" bIns="0" rtlCol="0" anchor="ctr"/>
          <a:lstStyle/>
          <a:p>
            <a:pPr indent="0" marL="0">
              <a:buNone/>
            </a:pPr>
            <a:r>
              <a:rPr lang="en-US" sz="950" b="1" dirty="0">
                <a:solidFill>
                  <a:srgbClr val="1B3A5C"/>
                </a:solidFill>
                <a:latin typeface="Arial" pitchFamily="34" charset="0"/>
                <a:ea typeface="Arial" pitchFamily="34" charset="-122"/>
                <a:cs typeface="Arial" pitchFamily="34" charset="-120"/>
              </a:rPr>
              <a:t>100-DAY PLAN AND 3-YEAR VALUE CREATION ROADMAP</a:t>
            </a:r>
            <a:endParaRPr lang="en-US" sz="9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365760" y="1216152"/>
          <a:ext cx="8412480" cy="914400"/>
        </p:xfrm>
        <a:graphic>
          <a:graphicData uri="http://schemas.openxmlformats.org/drawingml/2006/table">
            <a:tbl>
              <a:tblPr/>
              <a:tblGrid>
                <a:gridCol w="914400"/>
                <a:gridCol w="1920240"/>
                <a:gridCol w="4297680"/>
                <a:gridCol w="1280160"/>
              </a:tblGrid>
              <a:tr h="0">
                <a:tc>
                  <a:txBody>
                    <a:bodyPr/>
                    <a:lstStyle/>
                    <a:p>
                      <a:pPr algn="ctr" indent="0" marL="0">
                        <a:buNone/>
                      </a:pPr>
                      <a:r>
                        <a:rPr lang="en-US" sz="850" b="1" dirty="0">
                          <a:solidFill>
                            <a:srgbClr val="FFFFFF"/>
                          </a:solidFill>
                        </a:rPr>
                        <a:t>Horizon</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Workstream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Target / Milestone</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Owner</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r>
              <a:tr h="0">
                <a:tc>
                  <a:txBody>
                    <a:bodyPr/>
                    <a:lstStyle/>
                    <a:p>
                      <a:pPr algn="l" indent="0" marL="0">
                        <a:buNone/>
                      </a:pPr>
                      <a:r>
                        <a:rPr lang="en-US" sz="850" b="1" dirty="0">
                          <a:solidFill>
                            <a:srgbClr val="2E6DB4"/>
                          </a:solidFill>
                        </a:rPr>
                        <a:t>0–100 Days</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l" indent="0" marL="0">
                        <a:buNone/>
                      </a:pPr>
                      <a:r>
                        <a:rPr lang="en-US" sz="850" dirty="0">
                          <a:solidFill>
                            <a:srgbClr val="1E293B"/>
                          </a:solidFill>
                        </a:rPr>
                        <a:t>Financial Model Correction</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l" indent="0" marL="0">
                        <a:buNone/>
                      </a:pPr>
                      <a:r>
                        <a:rPr lang="en-US" sz="850" dirty="0">
                          <a:solidFill>
                            <a:srgbClr val="1E293B"/>
                          </a:solidFill>
                        </a:rPr>
                        <a:t>Corrected model + bear IRR ≥ 15% confirmed. Kyruus + TrustCommerce pro forma. FY2024A audit finalised.</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l" indent="0" marL="0">
                        <a:buNone/>
                      </a:pPr>
                      <a:r>
                        <a:rPr lang="en-US" sz="850" dirty="0">
                          <a:solidFill>
                            <a:srgbClr val="1E293B"/>
                          </a:solidFill>
                        </a:rPr>
                        <a:t>CFO (Smith)</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r>
              <a:tr h="0">
                <a:tc>
                  <a:txBody>
                    <a:bodyPr/>
                    <a:lstStyle/>
                    <a:p>
                      <a:pPr algn="l" indent="0" marL="0">
                        <a:buNone/>
                      </a:pPr>
                      <a:r>
                        <a:rPr lang="en-US" sz="850" b="1" dirty="0">
                          <a:solidFill>
                            <a:srgbClr val="2E6DB4"/>
                          </a:solidFill>
                        </a:rPr>
                        <a:t>0–100 Days</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l" indent="0" marL="0">
                        <a:buNone/>
                      </a:pPr>
                      <a:r>
                        <a:rPr lang="en-US" sz="850" dirty="0">
                          <a:solidFill>
                            <a:srgbClr val="1E293B"/>
                          </a:solidFill>
                        </a:rPr>
                        <a:t>Integration PMO</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l" indent="0" marL="0">
                        <a:buNone/>
                      </a:pPr>
                      <a:r>
                        <a:rPr lang="en-US" sz="850" dirty="0">
                          <a:solidFill>
                            <a:srgbClr val="1E293B"/>
                          </a:solidFill>
                        </a:rPr>
                        <a:t>Integration playbook for Kyruus and TrustCommerce live. Revenue run rates confirmed.</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l" indent="0" marL="0">
                        <a:buNone/>
                      </a:pPr>
                      <a:r>
                        <a:rPr lang="en-US" sz="850" dirty="0">
                          <a:solidFill>
                            <a:srgbClr val="1E293B"/>
                          </a:solidFill>
                        </a:rPr>
                        <a:t>CEO (MacKenzie)</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r>
              <a:tr h="0">
                <a:tc>
                  <a:txBody>
                    <a:bodyPr/>
                    <a:lstStyle/>
                    <a:p>
                      <a:pPr algn="l" indent="0" marL="0">
                        <a:buNone/>
                      </a:pPr>
                      <a:r>
                        <a:rPr lang="en-US" sz="850" b="1" dirty="0">
                          <a:solidFill>
                            <a:srgbClr val="2E6DB4"/>
                          </a:solidFill>
                        </a:rPr>
                        <a:t>0–100 Days</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l" indent="0" marL="0">
                        <a:buNone/>
                      </a:pPr>
                      <a:r>
                        <a:rPr lang="en-US" sz="850" dirty="0">
                          <a:solidFill>
                            <a:srgbClr val="1E293B"/>
                          </a:solidFill>
                        </a:rPr>
                        <a:t>Commercial Baseline</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l" indent="0" marL="0">
                        <a:buNone/>
                      </a:pPr>
                      <a:r>
                        <a:rPr lang="en-US" sz="850" dirty="0">
                          <a:solidFill>
                            <a:srgbClr val="1E293B"/>
                          </a:solidFill>
                        </a:rPr>
                        <a:t>Win/loss analysis completed. Cross-sell pipeline by product under Rogas. RevSpring Prime pipeline established.</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l" indent="0" marL="0">
                        <a:buNone/>
                      </a:pPr>
                      <a:r>
                        <a:rPr lang="en-US" sz="850" dirty="0">
                          <a:solidFill>
                            <a:srgbClr val="1E293B"/>
                          </a:solidFill>
                        </a:rPr>
                        <a:t>President (Rogas)</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r>
              <a:tr h="0">
                <a:tc>
                  <a:txBody>
                    <a:bodyPr/>
                    <a:lstStyle/>
                    <a:p>
                      <a:pPr algn="l" indent="0" marL="0">
                        <a:buNone/>
                      </a:pPr>
                      <a:r>
                        <a:rPr lang="en-US" sz="850" b="1" dirty="0">
                          <a:solidFill>
                            <a:srgbClr val="1B3A5C"/>
                          </a:solidFill>
                        </a:rPr>
                        <a:t>Year 1</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l" indent="0" marL="0">
                        <a:buNone/>
                      </a:pPr>
                      <a:r>
                        <a:rPr lang="en-US" sz="850" dirty="0">
                          <a:solidFill>
                            <a:srgbClr val="1E293B"/>
                          </a:solidFill>
                        </a:rPr>
                        <a:t>Cross-Sell Execution</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l" indent="0" marL="0">
                        <a:buNone/>
                      </a:pPr>
                      <a:r>
                        <a:rPr lang="en-US" sz="850" dirty="0">
                          <a:solidFill>
                            <a:srgbClr val="1E293B"/>
                          </a:solidFill>
                        </a:rPr>
                        <a:t>$15–20M incremental ARR realised from Engage IQ + PreService cross-sell into existing base. NRR toward 110%+.</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l" indent="0" marL="0">
                        <a:buNone/>
                      </a:pPr>
                      <a:r>
                        <a:rPr lang="en-US" sz="850" dirty="0">
                          <a:solidFill>
                            <a:srgbClr val="1E293B"/>
                          </a:solidFill>
                        </a:rPr>
                        <a:t>President + AMs</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r>
              <a:tr h="0">
                <a:tc>
                  <a:txBody>
                    <a:bodyPr/>
                    <a:lstStyle/>
                    <a:p>
                      <a:pPr algn="l" indent="0" marL="0">
                        <a:buNone/>
                      </a:pPr>
                      <a:r>
                        <a:rPr lang="en-US" sz="850" b="1" dirty="0">
                          <a:solidFill>
                            <a:srgbClr val="1B3A5C"/>
                          </a:solidFill>
                        </a:rPr>
                        <a:t>Year 1</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l" indent="0" marL="0">
                        <a:buNone/>
                      </a:pPr>
                      <a:r>
                        <a:rPr lang="en-US" sz="850" dirty="0">
                          <a:solidFill>
                            <a:srgbClr val="1E293B"/>
                          </a:solidFill>
                        </a:rPr>
                        <a:t>SaaS Mix Improvement</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l" indent="0" marL="0">
                        <a:buNone/>
                      </a:pPr>
                      <a:r>
                        <a:rPr lang="en-US" sz="850" dirty="0">
                          <a:solidFill>
                            <a:srgbClr val="1E293B"/>
                          </a:solidFill>
                        </a:rPr>
                        <a:t>SaaS as % of revenue: 52% → 58%+. Print &amp; Mail managed for margin, not growth.</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l" indent="0" marL="0">
                        <a:buNone/>
                      </a:pPr>
                      <a:r>
                        <a:rPr lang="en-US" sz="850" dirty="0">
                          <a:solidFill>
                            <a:srgbClr val="1E293B"/>
                          </a:solidFill>
                        </a:rPr>
                        <a:t>CTO (Bright)</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r>
              <a:tr h="0">
                <a:tc>
                  <a:txBody>
                    <a:bodyPr/>
                    <a:lstStyle/>
                    <a:p>
                      <a:pPr algn="l" indent="0" marL="0">
                        <a:buNone/>
                      </a:pPr>
                      <a:r>
                        <a:rPr lang="en-US" sz="850" b="1" dirty="0">
                          <a:solidFill>
                            <a:srgbClr val="1B3A5C"/>
                          </a:solidFill>
                        </a:rPr>
                        <a:t>Year 2–3</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l" indent="0" marL="0">
                        <a:buNone/>
                      </a:pPr>
                      <a:r>
                        <a:rPr lang="en-US" sz="850" dirty="0">
                          <a:solidFill>
                            <a:srgbClr val="1E293B"/>
                          </a:solidFill>
                        </a:rPr>
                        <a:t>Payer Market Entry</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l" indent="0" marL="0">
                        <a:buNone/>
                      </a:pPr>
                      <a:r>
                        <a:rPr lang="en-US" sz="850" dirty="0">
                          <a:solidFill>
                            <a:srgbClr val="1E293B"/>
                          </a:solidFill>
                        </a:rPr>
                        <a:t>First payer contract signed (if management provides concrete entry plan). Target $10M+ initial ARR.</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l" indent="0" marL="0">
                        <a:buNone/>
                      </a:pPr>
                      <a:r>
                        <a:rPr lang="en-US" sz="850" dirty="0">
                          <a:solidFill>
                            <a:srgbClr val="1E293B"/>
                          </a:solidFill>
                        </a:rPr>
                        <a:t>CEO + New BD hire</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r>
              <a:tr h="0">
                <a:tc>
                  <a:txBody>
                    <a:bodyPr/>
                    <a:lstStyle/>
                    <a:p>
                      <a:pPr algn="l" indent="0" marL="0">
                        <a:buNone/>
                      </a:pPr>
                      <a:r>
                        <a:rPr lang="en-US" sz="850" b="1" dirty="0">
                          <a:solidFill>
                            <a:srgbClr val="1B3A5C"/>
                          </a:solidFill>
                        </a:rPr>
                        <a:t>Year 2–3</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l" indent="0" marL="0">
                        <a:buNone/>
                      </a:pPr>
                      <a:r>
                        <a:rPr lang="en-US" sz="850" dirty="0">
                          <a:solidFill>
                            <a:srgbClr val="1E293B"/>
                          </a:solidFill>
                        </a:rPr>
                        <a:t>M&amp;A Bolt-On (1–2 tuck-ins)</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l" indent="0" marL="0">
                        <a:buNone/>
                      </a:pPr>
                      <a:r>
                        <a:rPr lang="en-US" sz="850" dirty="0">
                          <a:solidFill>
                            <a:srgbClr val="1E293B"/>
                          </a:solidFill>
                        </a:rPr>
                        <a:t>Target: AI-native coding automation or population health analytics. Budget: $100–200M. Builds toward 30%+ EBITDA margin.</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l" indent="0" marL="0">
                        <a:buNone/>
                      </a:pPr>
                      <a:r>
                        <a:rPr lang="en-US" sz="850" dirty="0">
                          <a:solidFill>
                            <a:srgbClr val="1E293B"/>
                          </a:solidFill>
                        </a:rPr>
                        <a:t>CEO + Frazier</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r>
              <a:tr h="0">
                <a:tc>
                  <a:txBody>
                    <a:bodyPr/>
                    <a:lstStyle/>
                    <a:p>
                      <a:pPr algn="l" indent="0" marL="0">
                        <a:buNone/>
                      </a:pPr>
                      <a:r>
                        <a:rPr lang="en-US" sz="850" b="1" dirty="0">
                          <a:solidFill>
                            <a:srgbClr val="1B3A5C"/>
                          </a:solidFill>
                        </a:rPr>
                        <a:t>Exit (Yr 4–5)</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l" indent="0" marL="0">
                        <a:buNone/>
                      </a:pPr>
                      <a:r>
                        <a:rPr lang="en-US" sz="850" dirty="0">
                          <a:solidFill>
                            <a:srgbClr val="1E293B"/>
                          </a:solidFill>
                        </a:rPr>
                        <a:t>Exit Preparation</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l" indent="0" marL="0">
                        <a:buNone/>
                      </a:pPr>
                      <a:r>
                        <a:rPr lang="en-US" sz="850" dirty="0">
                          <a:solidFill>
                            <a:srgbClr val="1E293B"/>
                          </a:solidFill>
                        </a:rPr>
                        <a:t>Strategic buyer universe or secondary PE. Target 3.0x+ MOIC. SaaS mix 65%+, NRR 110%+, EBITDA $120M+.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l" indent="0" marL="0">
                        <a:buNone/>
                      </a:pPr>
                      <a:r>
                        <a:rPr lang="en-US" sz="850" dirty="0">
                          <a:solidFill>
                            <a:srgbClr val="1E293B"/>
                          </a:solidFill>
                        </a:rPr>
                        <a:t>Frazier + MacKenzie</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r>
            </a:tbl>
          </a:graphicData>
        </a:graphic>
      </p:graphicFrame>
      <p:sp>
        <p:nvSpPr>
          <p:cNvPr id="10" name="Shape 7"/>
          <p:cNvSpPr/>
          <p:nvPr/>
        </p:nvSpPr>
        <p:spPr>
          <a:xfrm>
            <a:off x="365760" y="4407408"/>
            <a:ext cx="45720" cy="219456"/>
          </a:xfrm>
          <a:prstGeom prst="rect">
            <a:avLst/>
          </a:prstGeom>
          <a:solidFill>
            <a:srgbClr val="2E6DB4"/>
          </a:solidFill>
          <a:ln/>
        </p:spPr>
      </p:sp>
      <p:sp>
        <p:nvSpPr>
          <p:cNvPr id="11" name="Text 8"/>
          <p:cNvSpPr/>
          <p:nvPr/>
        </p:nvSpPr>
        <p:spPr>
          <a:xfrm>
            <a:off x="493776" y="4407408"/>
            <a:ext cx="8046720" cy="219456"/>
          </a:xfrm>
          <a:prstGeom prst="rect">
            <a:avLst/>
          </a:prstGeom>
          <a:noFill/>
          <a:ln/>
        </p:spPr>
        <p:txBody>
          <a:bodyPr wrap="square" lIns="0" tIns="0" rIns="0" bIns="0" rtlCol="0" anchor="ctr"/>
          <a:lstStyle/>
          <a:p>
            <a:pPr indent="0" marL="0">
              <a:buNone/>
            </a:pPr>
            <a:r>
              <a:rPr lang="en-US" sz="950" b="1" dirty="0">
                <a:solidFill>
                  <a:srgbClr val="1B3A5C"/>
                </a:solidFill>
                <a:latin typeface="Arial" pitchFamily="34" charset="0"/>
                <a:ea typeface="Arial" pitchFamily="34" charset="-122"/>
                <a:cs typeface="Arial" pitchFamily="34" charset="-120"/>
              </a:rPr>
              <a:t>MORSEBRIDGE'S SPECIFIC VALUE-ADD</a:t>
            </a:r>
            <a:endParaRPr lang="en-US" sz="950" dirty="0"/>
          </a:p>
        </p:txBody>
      </p:sp>
      <p:graphicFrame>
        <p:nvGraphicFramePr>
          <p:cNvPr id="21" name="Table 1"/>
          <p:cNvGraphicFramePr>
            <a:graphicFrameLocks noGrp="1"/>
          </p:cNvGraphicFramePr>
          <p:nvPr>
            <p:extLst>
              <p:ext uri="{D42A27DB-BD31-4B8C-83A1-F6EECF244321}">
                <p14:modId xmlns:p14="http://schemas.microsoft.com/office/powerpoint/2010/main" val="1579011935"/>
              </p:ext>
            </p:extLst>
          </p:nvPr>
        </p:nvGraphicFramePr>
        <p:xfrm>
          <a:off x="365760" y="4626864"/>
          <a:ext cx="8412480" cy="914400"/>
        </p:xfrm>
        <a:graphic>
          <a:graphicData uri="http://schemas.openxmlformats.org/drawingml/2006/table">
            <a:tbl>
              <a:tblPr/>
              <a:tblGrid>
                <a:gridCol w="2011680"/>
                <a:gridCol w="6400800"/>
              </a:tblGrid>
              <a:tr h="0">
                <a:tc>
                  <a:txBody>
                    <a:bodyPr/>
                    <a:lstStyle/>
                    <a:p>
                      <a:pPr algn="ctr" indent="0" marL="0">
                        <a:buNone/>
                      </a:pPr>
                      <a:r>
                        <a:rPr lang="en-US" sz="850" b="1" dirty="0">
                          <a:solidFill>
                            <a:srgbClr val="FFFFFF"/>
                          </a:solidFill>
                        </a:rPr>
                        <a:t>Lever</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Morsebridge Contribution</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r>
              <a:tr h="0">
                <a:tc>
                  <a:txBody>
                    <a:bodyPr/>
                    <a:lstStyle/>
                    <a:p>
                      <a:pPr algn="l" indent="0" marL="0">
                        <a:buNone/>
                      </a:pPr>
                      <a:r>
                        <a:rPr lang="en-US" sz="850" dirty="0">
                          <a:solidFill>
                            <a:srgbClr val="1E293B"/>
                          </a:solidFill>
                        </a:rPr>
                        <a:t>NEA + 22C Capital Network</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l" indent="0" marL="0">
                        <a:buNone/>
                      </a:pPr>
                      <a:r>
                        <a:rPr lang="en-US" sz="850" dirty="0">
                          <a:solidFill>
                            <a:srgbClr val="1E293B"/>
                          </a:solidFill>
                        </a:rPr>
                        <a:t>Existing LP co-investors provide payer-side introductions (Quantum Health, Cotiviti context) and direct commercial channels into large health systems.</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r>
              <a:tr h="0">
                <a:tc>
                  <a:txBody>
                    <a:bodyPr/>
                    <a:lstStyle/>
                    <a:p>
                      <a:pPr algn="l" indent="0" marL="0">
                        <a:buNone/>
                      </a:pPr>
                      <a:r>
                        <a:rPr lang="en-US" sz="850" dirty="0">
                          <a:solidFill>
                            <a:srgbClr val="1E293B"/>
                          </a:solidFill>
                        </a:rPr>
                        <a:t>Sector Expertise</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l" indent="0" marL="0">
                        <a:buNone/>
                      </a:pPr>
                      <a:r>
                        <a:rPr lang="en-US" sz="850" dirty="0">
                          <a:solidFill>
                            <a:srgbClr val="1E293B"/>
                          </a:solidFill>
                        </a:rPr>
                        <a:t>Healthcare IT platform M&amp;A experience enables faster target assessment and integration support for the next bolt-on acquisition.</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46304"/>
            <a:ext cx="8412480" cy="457200"/>
          </a:xfrm>
          <a:prstGeom prst="rect">
            <a:avLst/>
          </a:prstGeom>
          <a:noFill/>
          <a:ln/>
        </p:spPr>
        <p:txBody>
          <a:bodyPr wrap="square" lIns="0" tIns="0" rIns="0" bIns="0" rtlCol="0" anchor="ctr"/>
          <a:lstStyle/>
          <a:p>
            <a:pPr indent="0" marL="0">
              <a:buNone/>
            </a:pPr>
            <a:r>
              <a:rPr lang="en-US" sz="2000" b="1" dirty="0">
                <a:solidFill>
                  <a:srgbClr val="1B3A5C"/>
                </a:solidFill>
                <a:latin typeface="Arial" pitchFamily="34" charset="0"/>
                <a:ea typeface="Arial" pitchFamily="34" charset="-122"/>
                <a:cs typeface="Arial" pitchFamily="34" charset="-120"/>
              </a:rPr>
              <a:t>Slide 11  |  Key Risk Register</a:t>
            </a:r>
            <a:endParaRPr lang="en-US" sz="2000" dirty="0"/>
          </a:p>
        </p:txBody>
      </p:sp>
      <p:sp>
        <p:nvSpPr>
          <p:cNvPr id="3" name="Shape 1"/>
          <p:cNvSpPr/>
          <p:nvPr/>
        </p:nvSpPr>
        <p:spPr>
          <a:xfrm>
            <a:off x="365760" y="640080"/>
            <a:ext cx="822960" cy="201168"/>
          </a:xfrm>
          <a:prstGeom prst="rect">
            <a:avLst/>
          </a:prstGeom>
          <a:solidFill>
            <a:srgbClr val="1B3A5C"/>
          </a:solidFill>
          <a:ln/>
        </p:spPr>
      </p:sp>
      <p:sp>
        <p:nvSpPr>
          <p:cNvPr id="4" name="Text 2"/>
          <p:cNvSpPr/>
          <p:nvPr/>
        </p:nvSpPr>
        <p:spPr>
          <a:xfrm>
            <a:off x="365760" y="640080"/>
            <a:ext cx="822960"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SO WHAT</a:t>
            </a:r>
            <a:endParaRPr lang="en-US" sz="700" dirty="0"/>
          </a:p>
        </p:txBody>
      </p:sp>
      <p:sp>
        <p:nvSpPr>
          <p:cNvPr id="5" name="Text 3"/>
          <p:cNvSpPr/>
          <p:nvPr/>
        </p:nvSpPr>
        <p:spPr>
          <a:xfrm>
            <a:off x="1261872" y="640080"/>
            <a:ext cx="7406640" cy="201168"/>
          </a:xfrm>
          <a:prstGeom prst="rect">
            <a:avLst/>
          </a:prstGeom>
          <a:noFill/>
          <a:ln/>
        </p:spPr>
        <p:txBody>
          <a:bodyPr wrap="square" lIns="0" tIns="0" rIns="0" bIns="0" rtlCol="0" anchor="ctr"/>
          <a:lstStyle/>
          <a:p>
            <a:pPr indent="0" marL="0">
              <a:buNone/>
            </a:pPr>
            <a:r>
              <a:rPr lang="en-US" sz="850" i="1" dirty="0">
                <a:solidFill>
                  <a:srgbClr val="1B3A5C"/>
                </a:solidFill>
                <a:latin typeface="Arial" pitchFamily="34" charset="0"/>
                <a:ea typeface="Arial" pitchFamily="34" charset="-122"/>
                <a:cs typeface="Arial" pitchFamily="34" charset="-120"/>
              </a:rPr>
              <a:t>Three Critical flags from Financial DD drive the Conditional recommendation. Six additional risks are manageable at current severity levels.</a:t>
            </a:r>
            <a:endParaRPr lang="en-US" sz="850" dirty="0"/>
          </a:p>
        </p:txBody>
      </p:sp>
      <p:sp>
        <p:nvSpPr>
          <p:cNvPr id="6" name="Text 4"/>
          <p:cNvSpPr/>
          <p:nvPr/>
        </p:nvSpPr>
        <p:spPr>
          <a:xfrm>
            <a:off x="274320" y="4864608"/>
            <a:ext cx="8595360" cy="182880"/>
          </a:xfrm>
          <a:prstGeom prst="rect">
            <a:avLst/>
          </a:prstGeom>
          <a:noFill/>
          <a:ln/>
        </p:spPr>
        <p:txBody>
          <a:bodyPr wrap="square" lIns="0" tIns="0" rIns="0" bIns="0" rtlCol="0" anchor="ctr"/>
          <a:lstStyle/>
          <a:p>
            <a:pPr algn="ctr" indent="0" marL="0">
              <a:buNone/>
            </a:pPr>
            <a:r>
              <a:rPr lang="en-US" sz="750" dirty="0">
                <a:solidFill>
                  <a:srgbClr val="9EABB8"/>
                </a:solidFill>
                <a:latin typeface="Arial" pitchFamily="34" charset="0"/>
                <a:ea typeface="Arial" pitchFamily="34" charset="-122"/>
                <a:cs typeface="Arial" pitchFamily="34" charset="-120"/>
              </a:rPr>
              <a:t>Confidential  |  Morsebridge Healthcare  |  IC Memo  |  RevSpring, Inc.  |  June 5, 2026</a:t>
            </a:r>
            <a:endParaRPr lang="en-US" sz="7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365760" y="960120"/>
          <a:ext cx="8412480" cy="914400"/>
        </p:xfrm>
        <a:graphic>
          <a:graphicData uri="http://schemas.openxmlformats.org/drawingml/2006/table">
            <a:tbl>
              <a:tblPr/>
              <a:tblGrid>
                <a:gridCol w="1965960"/>
                <a:gridCol w="594360"/>
                <a:gridCol w="502920"/>
                <a:gridCol w="1737360"/>
                <a:gridCol w="2011680"/>
                <a:gridCol w="685800"/>
              </a:tblGrid>
              <a:tr h="0">
                <a:tc>
                  <a:txBody>
                    <a:bodyPr/>
                    <a:lstStyle/>
                    <a:p>
                      <a:pPr algn="ctr" indent="0" marL="0">
                        <a:buNone/>
                      </a:pPr>
                      <a:r>
                        <a:rPr lang="en-US" sz="850" b="1" dirty="0">
                          <a:solidFill>
                            <a:srgbClr val="FFFFFF"/>
                          </a:solidFill>
                        </a:rPr>
                        <a:t>Risk</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Sev.</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From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Impact on Returns</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Mitigation</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Status</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r>
              <a:tr h="0">
                <a:tc>
                  <a:txBody>
                    <a:bodyPr/>
                    <a:lstStyle/>
                    <a:p>
                      <a:pPr algn="l" indent="0" marL="0">
                        <a:buNone/>
                      </a:pPr>
                      <a:r>
                        <a:rPr lang="en-US" sz="850" b="1" dirty="0">
                          <a:solidFill>
                            <a:srgbClr val="7F1D1D"/>
                          </a:solidFill>
                        </a:rPr>
                        <a:t>Bear case IRR = 14% — model hard gate</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EF2F2"/>
                    </a:solidFill>
                  </a:tcPr>
                </a:tc>
                <a:tc>
                  <a:txBody>
                    <a:bodyPr/>
                    <a:lstStyle/>
                    <a:p>
                      <a:pPr algn="ctr" indent="0" marL="0">
                        <a:buNone/>
                      </a:pPr>
                      <a:r>
                        <a:rPr lang="en-US" sz="750" b="1" dirty="0">
                          <a:solidFill>
                            <a:srgbClr val="FFFFFF"/>
                          </a:solidFill>
                        </a:rPr>
                        <a:t>CRITICAL</a:t>
                      </a:r>
                      <a:endParaRPr lang="en-US" sz="7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C00000"/>
                    </a:solidFill>
                  </a:tcPr>
                </a:tc>
                <a:tc>
                  <a:txBody>
                    <a:bodyPr/>
                    <a:lstStyle/>
                    <a:p>
                      <a:pPr algn="l" indent="0" marL="0">
                        <a:buNone/>
                      </a:pPr>
                      <a:r>
                        <a:rPr lang="en-US" sz="850" dirty="0">
                          <a:solidFill>
                            <a:srgbClr val="1E293B"/>
                          </a:solidFill>
                        </a:rPr>
                        <a:t>Fin DD</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EF2F2"/>
                    </a:solidFill>
                  </a:tcPr>
                </a:tc>
                <a:tc>
                  <a:txBody>
                    <a:bodyPr/>
                    <a:lstStyle/>
                    <a:p>
                      <a:pPr algn="l" indent="0" marL="0">
                        <a:buNone/>
                      </a:pPr>
                      <a:r>
                        <a:rPr lang="en-US" sz="850" dirty="0">
                          <a:solidFill>
                            <a:srgbClr val="7F1D1D"/>
                          </a:solidFill>
                        </a:rPr>
                        <a:t>MOIC compression; deal fails internal return threshold</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EF2F2"/>
                    </a:solidFill>
                  </a:tcPr>
                </a:tc>
                <a:tc>
                  <a:txBody>
                    <a:bodyPr/>
                    <a:lstStyle/>
                    <a:p>
                      <a:pPr algn="l" indent="0" marL="0">
                        <a:buNone/>
                      </a:pPr>
                      <a:r>
                        <a:rPr lang="en-US" sz="850" dirty="0">
                          <a:solidFill>
                            <a:srgbClr val="7F1D1D"/>
                          </a:solidFill>
                        </a:rPr>
                        <a:t>Requires corrected model. If bear IRR &lt; 15% after correction, this is a PASS.</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EF2F2"/>
                    </a:solidFill>
                  </a:tcPr>
                </a:tc>
                <a:tc>
                  <a:txBody>
                    <a:bodyPr/>
                    <a:lstStyle/>
                    <a:p>
                      <a:pPr algn="ctr" indent="0" marL="0">
                        <a:buNone/>
                      </a:pPr>
                      <a:r>
                        <a:rPr lang="en-US" sz="750" b="1" dirty="0">
                          <a:solidFill>
                            <a:srgbClr val="FFFFFF"/>
                          </a:solidFill>
                        </a:rPr>
                        <a:t>OPEN</a:t>
                      </a:r>
                      <a:endParaRPr lang="en-US" sz="7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C00000"/>
                    </a:solidFill>
                  </a:tcPr>
                </a:tc>
              </a:tr>
              <a:tr h="0">
                <a:tc>
                  <a:txBody>
                    <a:bodyPr/>
                    <a:lstStyle/>
                    <a:p>
                      <a:pPr algn="l" indent="0" marL="0">
                        <a:buNone/>
                      </a:pPr>
                      <a:r>
                        <a:rPr lang="en-US" sz="850" b="1" dirty="0">
                          <a:solidFill>
                            <a:srgbClr val="7F1D1D"/>
                          </a:solidFill>
                        </a:rPr>
                        <a:t>MOIC inconsistency (main table vs. sensitivity)</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EF2F2"/>
                    </a:solidFill>
                  </a:tcPr>
                </a:tc>
                <a:tc>
                  <a:txBody>
                    <a:bodyPr/>
                    <a:lstStyle/>
                    <a:p>
                      <a:pPr algn="ctr" indent="0" marL="0">
                        <a:buNone/>
                      </a:pPr>
                      <a:r>
                        <a:rPr lang="en-US" sz="750" b="1" dirty="0">
                          <a:solidFill>
                            <a:srgbClr val="FFFFFF"/>
                          </a:solidFill>
                        </a:rPr>
                        <a:t>CRITICAL</a:t>
                      </a:r>
                      <a:endParaRPr lang="en-US" sz="7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C00000"/>
                    </a:solidFill>
                  </a:tcPr>
                </a:tc>
                <a:tc>
                  <a:txBody>
                    <a:bodyPr/>
                    <a:lstStyle/>
                    <a:p>
                      <a:pPr algn="l" indent="0" marL="0">
                        <a:buNone/>
                      </a:pPr>
                      <a:r>
                        <a:rPr lang="en-US" sz="850" dirty="0">
                          <a:solidFill>
                            <a:srgbClr val="1E293B"/>
                          </a:solidFill>
                        </a:rPr>
                        <a:t>Fin DD</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EF2F2"/>
                    </a:solidFill>
                  </a:tcPr>
                </a:tc>
                <a:tc>
                  <a:txBody>
                    <a:bodyPr/>
                    <a:lstStyle/>
                    <a:p>
                      <a:pPr algn="l" indent="0" marL="0">
                        <a:buNone/>
                      </a:pPr>
                      <a:r>
                        <a:rPr lang="en-US" sz="850" dirty="0">
                          <a:solidFill>
                            <a:srgbClr val="7F1D1D"/>
                          </a:solidFill>
                        </a:rPr>
                        <a:t>Returns overstated in main table by ~1.1x</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EF2F2"/>
                    </a:solidFill>
                  </a:tcPr>
                </a:tc>
                <a:tc>
                  <a:txBody>
                    <a:bodyPr/>
                    <a:lstStyle/>
                    <a:p>
                      <a:pPr algn="l" indent="0" marL="0">
                        <a:buNone/>
                      </a:pPr>
                      <a:r>
                        <a:rPr lang="en-US" sz="850" dirty="0">
                          <a:solidFill>
                            <a:srgbClr val="7F1D1D"/>
                          </a:solidFill>
                        </a:rPr>
                        <a:t>CFO must reconcile and re-issue model</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EF2F2"/>
                    </a:solidFill>
                  </a:tcPr>
                </a:tc>
                <a:tc>
                  <a:txBody>
                    <a:bodyPr/>
                    <a:lstStyle/>
                    <a:p>
                      <a:pPr algn="ctr" indent="0" marL="0">
                        <a:buNone/>
                      </a:pPr>
                      <a:r>
                        <a:rPr lang="en-US" sz="750" b="1" dirty="0">
                          <a:solidFill>
                            <a:srgbClr val="FFFFFF"/>
                          </a:solidFill>
                        </a:rPr>
                        <a:t>OPEN</a:t>
                      </a:r>
                      <a:endParaRPr lang="en-US" sz="7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C00000"/>
                    </a:solidFill>
                  </a:tcPr>
                </a:tc>
              </a:tr>
              <a:tr h="0">
                <a:tc>
                  <a:txBody>
                    <a:bodyPr/>
                    <a:lstStyle/>
                    <a:p>
                      <a:pPr algn="l" indent="0" marL="0">
                        <a:buNone/>
                      </a:pPr>
                      <a:r>
                        <a:rPr lang="en-US" sz="850" b="1" dirty="0">
                          <a:solidFill>
                            <a:srgbClr val="7F1D1D"/>
                          </a:solidFill>
                        </a:rPr>
                        <a:t>G&amp;A formula error corrupts projection years</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EF2F2"/>
                    </a:solidFill>
                  </a:tcPr>
                </a:tc>
                <a:tc>
                  <a:txBody>
                    <a:bodyPr/>
                    <a:lstStyle/>
                    <a:p>
                      <a:pPr algn="ctr" indent="0" marL="0">
                        <a:buNone/>
                      </a:pPr>
                      <a:r>
                        <a:rPr lang="en-US" sz="750" b="1" dirty="0">
                          <a:solidFill>
                            <a:srgbClr val="FFFFFF"/>
                          </a:solidFill>
                        </a:rPr>
                        <a:t>CRITICAL</a:t>
                      </a:r>
                      <a:endParaRPr lang="en-US" sz="7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C00000"/>
                    </a:solidFill>
                  </a:tcPr>
                </a:tc>
                <a:tc>
                  <a:txBody>
                    <a:bodyPr/>
                    <a:lstStyle/>
                    <a:p>
                      <a:pPr algn="l" indent="0" marL="0">
                        <a:buNone/>
                      </a:pPr>
                      <a:r>
                        <a:rPr lang="en-US" sz="850" dirty="0">
                          <a:solidFill>
                            <a:srgbClr val="1E293B"/>
                          </a:solidFill>
                        </a:rPr>
                        <a:t>Fin DD</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EF2F2"/>
                    </a:solidFill>
                  </a:tcPr>
                </a:tc>
                <a:tc>
                  <a:txBody>
                    <a:bodyPr/>
                    <a:lstStyle/>
                    <a:p>
                      <a:pPr algn="l" indent="0" marL="0">
                        <a:buNone/>
                      </a:pPr>
                      <a:r>
                        <a:rPr lang="en-US" sz="850" dirty="0">
                          <a:solidFill>
                            <a:srgbClr val="7F1D1D"/>
                          </a:solidFill>
                        </a:rPr>
                        <a:t>All FY25–26E metrics unreliable</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EF2F2"/>
                    </a:solidFill>
                  </a:tcPr>
                </a:tc>
                <a:tc>
                  <a:txBody>
                    <a:bodyPr/>
                    <a:lstStyle/>
                    <a:p>
                      <a:pPr algn="l" indent="0" marL="0">
                        <a:buNone/>
                      </a:pPr>
                      <a:r>
                        <a:rPr lang="en-US" sz="850" dirty="0">
                          <a:solidFill>
                            <a:srgbClr val="7F1D1D"/>
                          </a:solidFill>
                        </a:rPr>
                        <a:t>Correct G&amp;A formula; re-derive EBITDA, OpEx, all projection rows</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EF2F2"/>
                    </a:solidFill>
                  </a:tcPr>
                </a:tc>
                <a:tc>
                  <a:txBody>
                    <a:bodyPr/>
                    <a:lstStyle/>
                    <a:p>
                      <a:pPr algn="ctr" indent="0" marL="0">
                        <a:buNone/>
                      </a:pPr>
                      <a:r>
                        <a:rPr lang="en-US" sz="750" b="1" dirty="0">
                          <a:solidFill>
                            <a:srgbClr val="FFFFFF"/>
                          </a:solidFill>
                        </a:rPr>
                        <a:t>OPEN</a:t>
                      </a:r>
                      <a:endParaRPr lang="en-US" sz="7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C00000"/>
                    </a:solidFill>
                  </a:tcPr>
                </a:tc>
              </a:tr>
              <a:tr h="0">
                <a:tc>
                  <a:txBody>
                    <a:bodyPr/>
                    <a:lstStyle/>
                    <a:p>
                      <a:pPr algn="l" indent="0" marL="0">
                        <a:buNone/>
                      </a:pPr>
                      <a:r>
                        <a:rPr lang="en-US" sz="850" b="1" dirty="0">
                          <a:solidFill>
                            <a:srgbClr val="78350F"/>
                          </a:solidFill>
                        </a:rPr>
                        <a:t>19.4x EBITDA entry multiple</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9E6"/>
                    </a:solidFill>
                  </a:tcPr>
                </a:tc>
                <a:tc>
                  <a:txBody>
                    <a:bodyPr/>
                    <a:lstStyle/>
                    <a:p>
                      <a:pPr algn="ctr" indent="0" marL="0">
                        <a:buNone/>
                      </a:pPr>
                      <a:r>
                        <a:rPr lang="en-US" sz="750" b="1" dirty="0">
                          <a:solidFill>
                            <a:srgbClr val="FFFFFF"/>
                          </a:solidFill>
                        </a:rPr>
                        <a:t>SIGNIF.</a:t>
                      </a:r>
                      <a:endParaRPr lang="en-US" sz="7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B45309"/>
                    </a:solidFill>
                  </a:tcPr>
                </a:tc>
                <a:tc>
                  <a:txBody>
                    <a:bodyPr/>
                    <a:lstStyle/>
                    <a:p>
                      <a:pPr algn="l" indent="0" marL="0">
                        <a:buNone/>
                      </a:pPr>
                      <a:r>
                        <a:rPr lang="en-US" sz="850" dirty="0">
                          <a:solidFill>
                            <a:srgbClr val="1E293B"/>
                          </a:solidFill>
                        </a:rPr>
                        <a:t>CIM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9E6"/>
                    </a:solidFill>
                  </a:tcPr>
                </a:tc>
                <a:tc>
                  <a:txBody>
                    <a:bodyPr/>
                    <a:lstStyle/>
                    <a:p>
                      <a:pPr algn="l" indent="0" marL="0">
                        <a:buNone/>
                      </a:pPr>
                      <a:r>
                        <a:rPr lang="en-US" sz="850" dirty="0">
                          <a:solidFill>
                            <a:srgbClr val="78350F"/>
                          </a:solidFill>
                        </a:rPr>
                        <a:t>Base MOIC ~1.52x — below 3.0x target. Back-loaded return profile.</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9E6"/>
                    </a:solidFill>
                  </a:tcPr>
                </a:tc>
                <a:tc>
                  <a:txBody>
                    <a:bodyPr/>
                    <a:lstStyle/>
                    <a:p>
                      <a:pPr algn="l" indent="0" marL="0">
                        <a:buNone/>
                      </a:pPr>
                      <a:r>
                        <a:rPr lang="en-US" sz="850" dirty="0">
                          <a:solidFill>
                            <a:srgbClr val="78350F"/>
                          </a:solidFill>
                        </a:rPr>
                        <a:t>Corrected model may improve with Kyruus + TrustCommerce pro forma</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9E6"/>
                    </a:solidFill>
                  </a:tcPr>
                </a:tc>
                <a:tc>
                  <a:txBody>
                    <a:bodyPr/>
                    <a:lstStyle/>
                    <a:p>
                      <a:pPr algn="ctr" indent="0" marL="0">
                        <a:buNone/>
                      </a:pPr>
                      <a:r>
                        <a:rPr lang="en-US" sz="750" b="1" dirty="0">
                          <a:solidFill>
                            <a:srgbClr val="FFFFFF"/>
                          </a:solidFill>
                        </a:rPr>
                        <a:t>OPEN</a:t>
                      </a:r>
                      <a:endParaRPr lang="en-US" sz="7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B45309"/>
                    </a:solidFill>
                  </a:tcPr>
                </a:tc>
              </a:tr>
              <a:tr h="0">
                <a:tc>
                  <a:txBody>
                    <a:bodyPr/>
                    <a:lstStyle/>
                    <a:p>
                      <a:pPr algn="l" indent="0" marL="0">
                        <a:buNone/>
                      </a:pPr>
                      <a:r>
                        <a:rPr lang="en-US" sz="850" b="1" dirty="0">
                          <a:solidFill>
                            <a:srgbClr val="78350F"/>
                          </a:solidFill>
                        </a:rPr>
                        <a:t>CFO David Smith: 11-month tenure</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9E6"/>
                    </a:solidFill>
                  </a:tcPr>
                </a:tc>
                <a:tc>
                  <a:txBody>
                    <a:bodyPr/>
                    <a:lstStyle/>
                    <a:p>
                      <a:pPr algn="ctr" indent="0" marL="0">
                        <a:buNone/>
                      </a:pPr>
                      <a:r>
                        <a:rPr lang="en-US" sz="750" b="1" dirty="0">
                          <a:solidFill>
                            <a:srgbClr val="FFFFFF"/>
                          </a:solidFill>
                        </a:rPr>
                        <a:t>SIGNIF.</a:t>
                      </a:r>
                      <a:endParaRPr lang="en-US" sz="7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B45309"/>
                    </a:solidFill>
                  </a:tcPr>
                </a:tc>
                <a:tc>
                  <a:txBody>
                    <a:bodyPr/>
                    <a:lstStyle/>
                    <a:p>
                      <a:pPr algn="l" indent="0" marL="0">
                        <a:buNone/>
                      </a:pPr>
                      <a:r>
                        <a:rPr lang="en-US" sz="850" dirty="0">
                          <a:solidFill>
                            <a:srgbClr val="1E293B"/>
                          </a:solidFill>
                        </a:rPr>
                        <a:t>Mgmt DD</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9E6"/>
                    </a:solidFill>
                  </a:tcPr>
                </a:tc>
                <a:tc>
                  <a:txBody>
                    <a:bodyPr/>
                    <a:lstStyle/>
                    <a:p>
                      <a:pPr algn="l" indent="0" marL="0">
                        <a:buNone/>
                      </a:pPr>
                      <a:r>
                        <a:rPr lang="en-US" sz="850" dirty="0">
                          <a:solidFill>
                            <a:srgbClr val="78350F"/>
                          </a:solidFill>
                        </a:rPr>
                        <a:t>Model errors may persist; reporting continuity unconfirmed</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9E6"/>
                    </a:solidFill>
                  </a:tcPr>
                </a:tc>
                <a:tc>
                  <a:txBody>
                    <a:bodyPr/>
                    <a:lstStyle/>
                    <a:p>
                      <a:pPr algn="l" indent="0" marL="0">
                        <a:buNone/>
                      </a:pPr>
                      <a:r>
                        <a:rPr lang="en-US" sz="850" dirty="0">
                          <a:solidFill>
                            <a:srgbClr val="78350F"/>
                          </a:solidFill>
                        </a:rPr>
                        <a:t>Resolution = corrected model, Big 4 audit sign-off</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9E6"/>
                    </a:solidFill>
                  </a:tcPr>
                </a:tc>
                <a:tc>
                  <a:txBody>
                    <a:bodyPr/>
                    <a:lstStyle/>
                    <a:p>
                      <a:pPr algn="ctr" indent="0" marL="0">
                        <a:buNone/>
                      </a:pPr>
                      <a:r>
                        <a:rPr lang="en-US" sz="750" b="1" dirty="0">
                          <a:solidFill>
                            <a:srgbClr val="FFFFFF"/>
                          </a:solidFill>
                        </a:rPr>
                        <a:t>OPEN</a:t>
                      </a:r>
                      <a:endParaRPr lang="en-US" sz="7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B45309"/>
                    </a:solidFill>
                  </a:tcPr>
                </a:tc>
              </a:tr>
              <a:tr h="0">
                <a:tc>
                  <a:txBody>
                    <a:bodyPr/>
                    <a:lstStyle/>
                    <a:p>
                      <a:pPr algn="l" indent="0" marL="0">
                        <a:buNone/>
                      </a:pPr>
                      <a:r>
                        <a:rPr lang="en-US" sz="850" b="1" dirty="0">
                          <a:solidFill>
                            <a:srgbClr val="1E293B"/>
                          </a:solidFill>
                        </a:rPr>
                        <a:t>Print &amp; Mail structural decline</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750" b="1" dirty="0">
                          <a:solidFill>
                            <a:srgbClr val="FFFFFF"/>
                          </a:solidFill>
                        </a:rPr>
                        <a:t>MODERATE</a:t>
                      </a:r>
                      <a:endParaRPr lang="en-US" sz="7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64748B"/>
                    </a:solidFill>
                  </a:tcPr>
                </a:tc>
                <a:tc>
                  <a:txBody>
                    <a:bodyPr/>
                    <a:lstStyle/>
                    <a:p>
                      <a:pPr algn="l" indent="0" marL="0">
                        <a:buNone/>
                      </a:pPr>
                      <a:r>
                        <a:rPr lang="en-US" sz="850" dirty="0">
                          <a:solidFill>
                            <a:srgbClr val="1E293B"/>
                          </a:solidFill>
                        </a:rPr>
                        <a:t>Comm DD</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l" indent="0" marL="0">
                        <a:buNone/>
                      </a:pPr>
                      <a:r>
                        <a:rPr lang="en-US" sz="850" dirty="0">
                          <a:solidFill>
                            <a:srgbClr val="1E293B"/>
                          </a:solidFill>
                        </a:rPr>
                        <a:t>Revenue compression; EBITDA margin pressure if decline accelerates</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l" indent="0" marL="0">
                        <a:buNone/>
                      </a:pPr>
                      <a:r>
                        <a:rPr lang="en-US" sz="850" dirty="0">
                          <a:solidFill>
                            <a:srgbClr val="1E293B"/>
                          </a:solidFill>
                        </a:rPr>
                        <a:t>Digital mix shift reduces costs; multi-product bundling retains clients</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750" b="1" dirty="0">
                          <a:solidFill>
                            <a:srgbClr val="FFFFFF"/>
                          </a:solidFill>
                        </a:rPr>
                        <a:t>MONITOR</a:t>
                      </a:r>
                      <a:endParaRPr lang="en-US" sz="7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64748B"/>
                    </a:solidFill>
                  </a:tcPr>
                </a:tc>
              </a:tr>
              <a:tr h="0">
                <a:tc>
                  <a:txBody>
                    <a:bodyPr/>
                    <a:lstStyle/>
                    <a:p>
                      <a:pPr algn="l" indent="0" marL="0">
                        <a:buNone/>
                      </a:pPr>
                      <a:r>
                        <a:rPr lang="en-US" sz="850" b="1" dirty="0">
                          <a:solidFill>
                            <a:srgbClr val="1E293B"/>
                          </a:solidFill>
                        </a:rPr>
                        <a:t>Epic MyChart encroachment</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750" b="1" dirty="0">
                          <a:solidFill>
                            <a:srgbClr val="FFFFFF"/>
                          </a:solidFill>
                        </a:rPr>
                        <a:t>MODERATE</a:t>
                      </a:r>
                      <a:endParaRPr lang="en-US" sz="7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64748B"/>
                    </a:solidFill>
                  </a:tcPr>
                </a:tc>
                <a:tc>
                  <a:txBody>
                    <a:bodyPr/>
                    <a:lstStyle/>
                    <a:p>
                      <a:pPr algn="l" indent="0" marL="0">
                        <a:buNone/>
                      </a:pPr>
                      <a:r>
                        <a:rPr lang="en-US" sz="850" dirty="0">
                          <a:solidFill>
                            <a:srgbClr val="1E293B"/>
                          </a:solidFill>
                        </a:rPr>
                        <a:t>Comm DD</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l" indent="0" marL="0">
                        <a:buNone/>
                      </a:pPr>
                      <a:r>
                        <a:rPr lang="en-US" sz="850" dirty="0">
                          <a:solidFill>
                            <a:srgbClr val="1E293B"/>
                          </a:solidFill>
                        </a:rPr>
                        <a:t>Gradual displacement in workflows overlapping with native EHR</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l" indent="0" marL="0">
                        <a:buNone/>
                      </a:pPr>
                      <a:r>
                        <a:rPr lang="en-US" sz="850" dirty="0">
                          <a:solidFill>
                            <a:srgbClr val="1E293B"/>
                          </a:solidFill>
                        </a:rPr>
                        <a:t>Analytics moat non-replicable; #1 KLAS provides pricing leverage</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750" b="1" dirty="0">
                          <a:solidFill>
                            <a:srgbClr val="FFFFFF"/>
                          </a:solidFill>
                        </a:rPr>
                        <a:t>MONITOR</a:t>
                      </a:r>
                      <a:endParaRPr lang="en-US" sz="7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64748B"/>
                    </a:solidFill>
                  </a:tcPr>
                </a:tc>
              </a:tr>
              <a:tr h="0">
                <a:tc>
                  <a:txBody>
                    <a:bodyPr/>
                    <a:lstStyle/>
                    <a:p>
                      <a:pPr algn="l" indent="0" marL="0">
                        <a:buNone/>
                      </a:pPr>
                      <a:r>
                        <a:rPr lang="en-US" sz="850" b="1" dirty="0">
                          <a:solidFill>
                            <a:srgbClr val="1E293B"/>
                          </a:solidFill>
                        </a:rPr>
                        <a:t>Two concurrent integrations (Kyruus + TrustCommerce)</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750" b="1" dirty="0">
                          <a:solidFill>
                            <a:srgbClr val="FFFFFF"/>
                          </a:solidFill>
                        </a:rPr>
                        <a:t>MODERATE</a:t>
                      </a:r>
                      <a:endParaRPr lang="en-US" sz="7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2E6DB4"/>
                    </a:solidFill>
                  </a:tcPr>
                </a:tc>
                <a:tc>
                  <a:txBody>
                    <a:bodyPr/>
                    <a:lstStyle/>
                    <a:p>
                      <a:pPr algn="l" indent="0" marL="0">
                        <a:buNone/>
                      </a:pPr>
                      <a:r>
                        <a:rPr lang="en-US" sz="850" dirty="0">
                          <a:solidFill>
                            <a:srgbClr val="1E293B"/>
                          </a:solidFill>
                        </a:rPr>
                        <a:t>Mgmt DD</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l" indent="0" marL="0">
                        <a:buNone/>
                      </a:pPr>
                      <a:r>
                        <a:rPr lang="en-US" sz="850" dirty="0">
                          <a:solidFill>
                            <a:srgbClr val="1E293B"/>
                          </a:solidFill>
                        </a:rPr>
                        <a:t>CEO bandwidth; revenue attribution unclear; integration PMO not named</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l" indent="0" marL="0">
                        <a:buNone/>
                      </a:pPr>
                      <a:r>
                        <a:rPr lang="en-US" sz="850" dirty="0">
                          <a:solidFill>
                            <a:srgbClr val="1E293B"/>
                          </a:solidFill>
                        </a:rPr>
                        <a:t>MacKenzie's 5-acquisition GTCR track record is strong precedent</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750" b="1" dirty="0">
                          <a:solidFill>
                            <a:srgbClr val="FFFFFF"/>
                          </a:solidFill>
                        </a:rPr>
                        <a:t>MONITOR</a:t>
                      </a:r>
                      <a:endParaRPr lang="en-US" sz="7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2E6DB4"/>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46304"/>
            <a:ext cx="8412480" cy="457200"/>
          </a:xfrm>
          <a:prstGeom prst="rect">
            <a:avLst/>
          </a:prstGeom>
          <a:noFill/>
          <a:ln/>
        </p:spPr>
        <p:txBody>
          <a:bodyPr wrap="square" lIns="0" tIns="0" rIns="0" bIns="0" rtlCol="0" anchor="ctr"/>
          <a:lstStyle/>
          <a:p>
            <a:pPr indent="0" marL="0">
              <a:buNone/>
            </a:pPr>
            <a:r>
              <a:rPr lang="en-US" sz="2000" b="1" dirty="0">
                <a:solidFill>
                  <a:srgbClr val="1B3A5C"/>
                </a:solidFill>
                <a:latin typeface="Arial" pitchFamily="34" charset="0"/>
                <a:ea typeface="Arial" pitchFamily="34" charset="-122"/>
                <a:cs typeface="Arial" pitchFamily="34" charset="-120"/>
              </a:rPr>
              <a:t>Slide 12  |  Open Items</a:t>
            </a:r>
            <a:endParaRPr lang="en-US" sz="2000" dirty="0"/>
          </a:p>
        </p:txBody>
      </p:sp>
      <p:sp>
        <p:nvSpPr>
          <p:cNvPr id="3" name="Shape 1"/>
          <p:cNvSpPr/>
          <p:nvPr/>
        </p:nvSpPr>
        <p:spPr>
          <a:xfrm>
            <a:off x="365760" y="640080"/>
            <a:ext cx="822960" cy="201168"/>
          </a:xfrm>
          <a:prstGeom prst="rect">
            <a:avLst/>
          </a:prstGeom>
          <a:solidFill>
            <a:srgbClr val="1B3A5C"/>
          </a:solidFill>
          <a:ln/>
        </p:spPr>
      </p:sp>
      <p:sp>
        <p:nvSpPr>
          <p:cNvPr id="4" name="Text 2"/>
          <p:cNvSpPr/>
          <p:nvPr/>
        </p:nvSpPr>
        <p:spPr>
          <a:xfrm>
            <a:off x="365760" y="640080"/>
            <a:ext cx="822960"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SO WHAT</a:t>
            </a:r>
            <a:endParaRPr lang="en-US" sz="700" dirty="0"/>
          </a:p>
        </p:txBody>
      </p:sp>
      <p:sp>
        <p:nvSpPr>
          <p:cNvPr id="5" name="Text 3"/>
          <p:cNvSpPr/>
          <p:nvPr/>
        </p:nvSpPr>
        <p:spPr>
          <a:xfrm>
            <a:off x="1261872" y="640080"/>
            <a:ext cx="7406640" cy="201168"/>
          </a:xfrm>
          <a:prstGeom prst="rect">
            <a:avLst/>
          </a:prstGeom>
          <a:noFill/>
          <a:ln/>
        </p:spPr>
        <p:txBody>
          <a:bodyPr wrap="square" lIns="0" tIns="0" rIns="0" bIns="0" rtlCol="0" anchor="ctr"/>
          <a:lstStyle/>
          <a:p>
            <a:pPr indent="0" marL="0">
              <a:buNone/>
            </a:pPr>
            <a:r>
              <a:rPr lang="en-US" sz="850" i="1" dirty="0">
                <a:solidFill>
                  <a:srgbClr val="1B3A5C"/>
                </a:solidFill>
                <a:latin typeface="Arial" pitchFamily="34" charset="0"/>
                <a:ea typeface="Arial" pitchFamily="34" charset="-122"/>
                <a:cs typeface="Arial" pitchFamily="34" charset="-120"/>
              </a:rPr>
              <a:t>Seven items must be resolved before IC approval — three are blocking (require corrected model); four are material but non-blocking for Conditional Invest approval.</a:t>
            </a:r>
            <a:endParaRPr lang="en-US" sz="850" dirty="0"/>
          </a:p>
        </p:txBody>
      </p:sp>
      <p:sp>
        <p:nvSpPr>
          <p:cNvPr id="6" name="Text 4"/>
          <p:cNvSpPr/>
          <p:nvPr/>
        </p:nvSpPr>
        <p:spPr>
          <a:xfrm>
            <a:off x="274320" y="4864608"/>
            <a:ext cx="8595360" cy="182880"/>
          </a:xfrm>
          <a:prstGeom prst="rect">
            <a:avLst/>
          </a:prstGeom>
          <a:noFill/>
          <a:ln/>
        </p:spPr>
        <p:txBody>
          <a:bodyPr wrap="square" lIns="0" tIns="0" rIns="0" bIns="0" rtlCol="0" anchor="ctr"/>
          <a:lstStyle/>
          <a:p>
            <a:pPr algn="ctr" indent="0" marL="0">
              <a:buNone/>
            </a:pPr>
            <a:r>
              <a:rPr lang="en-US" sz="750" dirty="0">
                <a:solidFill>
                  <a:srgbClr val="9EABB8"/>
                </a:solidFill>
                <a:latin typeface="Arial" pitchFamily="34" charset="0"/>
                <a:ea typeface="Arial" pitchFamily="34" charset="-122"/>
                <a:cs typeface="Arial" pitchFamily="34" charset="-120"/>
              </a:rPr>
              <a:t>Confidential  |  Morsebridge Healthcare  |  IC Memo  |  RevSpring, Inc.  |  June 5, 2026</a:t>
            </a:r>
            <a:endParaRPr lang="en-US" sz="7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365760" y="960120"/>
          <a:ext cx="8412480" cy="914400"/>
        </p:xfrm>
        <a:graphic>
          <a:graphicData uri="http://schemas.openxmlformats.org/drawingml/2006/table">
            <a:tbl>
              <a:tblPr/>
              <a:tblGrid>
                <a:gridCol w="274320"/>
                <a:gridCol w="3931920"/>
                <a:gridCol w="1188720"/>
                <a:gridCol w="1280160"/>
                <a:gridCol w="1371600"/>
              </a:tblGrid>
              <a:tr h="0">
                <a:tc>
                  <a:txBody>
                    <a:bodyPr/>
                    <a:lstStyle/>
                    <a:p>
                      <a:pPr algn="ctr" indent="0" marL="0">
                        <a:buNone/>
                      </a:pPr>
                      <a:r>
                        <a:rPr lang="en-US" sz="850" b="1" dirty="0">
                          <a:solidFill>
                            <a:srgbClr val="FFFFFF"/>
                          </a:solidFill>
                        </a:rPr>
                        <a:t>#</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Open Item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Blocking?</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Responsible</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Deadline</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r>
              <a:tr h="0">
                <a:tc>
                  <a:txBody>
                    <a:bodyPr/>
                    <a:lstStyle/>
                    <a:p>
                      <a:pPr algn="l" indent="0" marL="0">
                        <a:buNone/>
                      </a:pPr>
                      <a:r>
                        <a:rPr lang="en-US" sz="850" b="1" dirty="0">
                          <a:solidFill>
                            <a:srgbClr val="C00000"/>
                          </a:solidFill>
                        </a:rPr>
                        <a:t>1</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EF2F2"/>
                    </a:solidFill>
                  </a:tcPr>
                </a:tc>
                <a:tc>
                  <a:txBody>
                    <a:bodyPr/>
                    <a:lstStyle/>
                    <a:p>
                      <a:pPr algn="l" indent="0" marL="0">
                        <a:buNone/>
                      </a:pPr>
                      <a:r>
                        <a:rPr lang="en-US" sz="850" dirty="0">
                          <a:solidFill>
                            <a:srgbClr val="7F1D1D"/>
                          </a:solidFill>
                        </a:rPr>
                        <a:t>Corrected financial model — G&amp;A formula, MOIC reconciliation, and re-derived FY25–26E projections</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EF2F2"/>
                    </a:solidFill>
                  </a:tcPr>
                </a:tc>
                <a:tc>
                  <a:txBody>
                    <a:bodyPr/>
                    <a:lstStyle/>
                    <a:p>
                      <a:pPr algn="ctr" indent="0" marL="0">
                        <a:buNone/>
                      </a:pPr>
                      <a:r>
                        <a:rPr lang="en-US" sz="850" b="1" dirty="0">
                          <a:solidFill>
                            <a:srgbClr val="FFFFFF"/>
                          </a:solidFill>
                        </a:rPr>
                        <a:t>YES — blocks IC</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C00000"/>
                    </a:solidFill>
                  </a:tcPr>
                </a:tc>
                <a:tc>
                  <a:txBody>
                    <a:bodyPr/>
                    <a:lstStyle/>
                    <a:p>
                      <a:pPr algn="l" indent="0" marL="0">
                        <a:buNone/>
                      </a:pPr>
                      <a:r>
                        <a:rPr lang="en-US" sz="850" dirty="0">
                          <a:solidFill>
                            <a:srgbClr val="7F1D1D"/>
                          </a:solidFill>
                        </a:rPr>
                        <a:t>David Smith (CFO)</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EF2F2"/>
                    </a:solidFill>
                  </a:tcPr>
                </a:tc>
                <a:tc>
                  <a:txBody>
                    <a:bodyPr/>
                    <a:lstStyle/>
                    <a:p>
                      <a:pPr algn="ctr" indent="0" marL="0">
                        <a:buNone/>
                      </a:pPr>
                      <a:r>
                        <a:rPr lang="en-US" sz="850" b="1" dirty="0">
                          <a:solidFill>
                            <a:srgbClr val="FFFFFF"/>
                          </a:solidFill>
                        </a:rPr>
                        <a:t>Before IC</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C00000"/>
                    </a:solidFill>
                  </a:tcPr>
                </a:tc>
              </a:tr>
              <a:tr h="0">
                <a:tc>
                  <a:txBody>
                    <a:bodyPr/>
                    <a:lstStyle/>
                    <a:p>
                      <a:pPr algn="l" indent="0" marL="0">
                        <a:buNone/>
                      </a:pPr>
                      <a:r>
                        <a:rPr lang="en-US" sz="850" b="1" dirty="0">
                          <a:solidFill>
                            <a:srgbClr val="B45309"/>
                          </a:solidFill>
                        </a:rPr>
                        <a:t>2</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9E6"/>
                    </a:solidFill>
                  </a:tcPr>
                </a:tc>
                <a:tc>
                  <a:txBody>
                    <a:bodyPr/>
                    <a:lstStyle/>
                    <a:p>
                      <a:pPr algn="l" indent="0" marL="0">
                        <a:buNone/>
                      </a:pPr>
                      <a:r>
                        <a:rPr lang="en-US" sz="850" dirty="0">
                          <a:solidFill>
                            <a:srgbClr val="78350F"/>
                          </a:solidFill>
                        </a:rPr>
                        <a:t>Kyruus Health and TrustCommerce post-close P&amp;Ls — revenue, NRR, EBITDA contribution; included in pro forma model</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9E6"/>
                    </a:solidFill>
                  </a:tcPr>
                </a:tc>
                <a:tc>
                  <a:txBody>
                    <a:bodyPr/>
                    <a:lstStyle/>
                    <a:p>
                      <a:pPr algn="ctr" indent="0" marL="0">
                        <a:buNone/>
                      </a:pPr>
                      <a:r>
                        <a:rPr lang="en-US" sz="850" b="1" dirty="0">
                          <a:solidFill>
                            <a:srgbClr val="FFFFFF"/>
                          </a:solidFill>
                        </a:rPr>
                        <a:t>YES — blocks IC</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B45309"/>
                    </a:solidFill>
                  </a:tcPr>
                </a:tc>
                <a:tc>
                  <a:txBody>
                    <a:bodyPr/>
                    <a:lstStyle/>
                    <a:p>
                      <a:pPr algn="l" indent="0" marL="0">
                        <a:buNone/>
                      </a:pPr>
                      <a:r>
                        <a:rPr lang="en-US" sz="850" dirty="0">
                          <a:solidFill>
                            <a:srgbClr val="78350F"/>
                          </a:solidFill>
                        </a:rPr>
                        <a:t>CEO + CFO</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9E6"/>
                    </a:solidFill>
                  </a:tcPr>
                </a:tc>
                <a:tc>
                  <a:txBody>
                    <a:bodyPr/>
                    <a:lstStyle/>
                    <a:p>
                      <a:pPr algn="ctr" indent="0" marL="0">
                        <a:buNone/>
                      </a:pPr>
                      <a:r>
                        <a:rPr lang="en-US" sz="850" b="1" dirty="0">
                          <a:solidFill>
                            <a:srgbClr val="FFFFFF"/>
                          </a:solidFill>
                        </a:rPr>
                        <a:t>Before IC</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B45309"/>
                    </a:solidFill>
                  </a:tcPr>
                </a:tc>
              </a:tr>
              <a:tr h="0">
                <a:tc>
                  <a:txBody>
                    <a:bodyPr/>
                    <a:lstStyle/>
                    <a:p>
                      <a:pPr algn="l" indent="0" marL="0">
                        <a:buNone/>
                      </a:pPr>
                      <a:r>
                        <a:rPr lang="en-US" sz="850" b="1" dirty="0">
                          <a:solidFill>
                            <a:srgbClr val="B45309"/>
                          </a:solidFill>
                        </a:rPr>
                        <a:t>3</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9E6"/>
                    </a:solidFill>
                  </a:tcPr>
                </a:tc>
                <a:tc>
                  <a:txBody>
                    <a:bodyPr/>
                    <a:lstStyle/>
                    <a:p>
                      <a:pPr algn="l" indent="0" marL="0">
                        <a:buNone/>
                      </a:pPr>
                      <a:r>
                        <a:rPr lang="en-US" sz="850" dirty="0">
                          <a:solidFill>
                            <a:srgbClr val="78350F"/>
                          </a:solidFill>
                        </a:rPr>
                        <a:t>Bear case IRR confirmed ≥ 15% on corrected model; if &lt; 15%, partner discussion required before proceeding</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9E6"/>
                    </a:solidFill>
                  </a:tcPr>
                </a:tc>
                <a:tc>
                  <a:txBody>
                    <a:bodyPr/>
                    <a:lstStyle/>
                    <a:p>
                      <a:pPr algn="ctr" indent="0" marL="0">
                        <a:buNone/>
                      </a:pPr>
                      <a:r>
                        <a:rPr lang="en-US" sz="850" b="1" dirty="0">
                          <a:solidFill>
                            <a:srgbClr val="FFFFFF"/>
                          </a:solidFill>
                        </a:rPr>
                        <a:t>YES — blocks IC</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B45309"/>
                    </a:solidFill>
                  </a:tcPr>
                </a:tc>
                <a:tc>
                  <a:txBody>
                    <a:bodyPr/>
                    <a:lstStyle/>
                    <a:p>
                      <a:pPr algn="l" indent="0" marL="0">
                        <a:buNone/>
                      </a:pPr>
                      <a:r>
                        <a:rPr lang="en-US" sz="850" dirty="0">
                          <a:solidFill>
                            <a:srgbClr val="78350F"/>
                          </a:solidFill>
                        </a:rPr>
                        <a:t>Morsebridge + Frazier</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9E6"/>
                    </a:solidFill>
                  </a:tcPr>
                </a:tc>
                <a:tc>
                  <a:txBody>
                    <a:bodyPr/>
                    <a:lstStyle/>
                    <a:p>
                      <a:pPr algn="ctr" indent="0" marL="0">
                        <a:buNone/>
                      </a:pPr>
                      <a:r>
                        <a:rPr lang="en-US" sz="850" b="1" dirty="0">
                          <a:solidFill>
                            <a:srgbClr val="FFFFFF"/>
                          </a:solidFill>
                        </a:rPr>
                        <a:t>Before IC</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B45309"/>
                    </a:solidFill>
                  </a:tcPr>
                </a:tc>
              </a:tr>
              <a:tr h="0">
                <a:tc>
                  <a:txBody>
                    <a:bodyPr/>
                    <a:lstStyle/>
                    <a:p>
                      <a:pPr algn="l" indent="0" marL="0">
                        <a:buNone/>
                      </a:pPr>
                      <a:r>
                        <a:rPr lang="en-US" sz="850" dirty="0">
                          <a:solidFill>
                            <a:srgbClr val="1E293B"/>
                          </a:solidFill>
                        </a:rPr>
                        <a:t>4</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l" indent="0" marL="0">
                        <a:buNone/>
                      </a:pPr>
                      <a:r>
                        <a:rPr lang="en-US" sz="850" dirty="0">
                          <a:solidFill>
                            <a:srgbClr val="1E293B"/>
                          </a:solidFill>
                        </a:rPr>
                        <a:t>Win/loss analysis disaggregated by competitor (Epic MyChart, Cedar, Waystar) for FY2021–2024</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b="1" dirty="0">
                          <a:solidFill>
                            <a:srgbClr val="FFFFFF"/>
                          </a:solidFill>
                        </a:rPr>
                        <a:t>NON-BLOCKING</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64748B"/>
                    </a:solidFill>
                  </a:tcPr>
                </a:tc>
                <a:tc>
                  <a:txBody>
                    <a:bodyPr/>
                    <a:lstStyle/>
                    <a:p>
                      <a:pPr algn="l" indent="0" marL="0">
                        <a:buNone/>
                      </a:pPr>
                      <a:r>
                        <a:rPr lang="en-US" sz="850" dirty="0">
                          <a:solidFill>
                            <a:srgbClr val="1E293B"/>
                          </a:solidFill>
                        </a:rPr>
                        <a:t>CEO + President</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b="1" dirty="0">
                          <a:solidFill>
                            <a:srgbClr val="FFFFFF"/>
                          </a:solidFill>
                        </a:rPr>
                        <a:t>Management interview</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64748B"/>
                    </a:solidFill>
                  </a:tcPr>
                </a:tc>
              </a:tr>
              <a:tr h="0">
                <a:tc>
                  <a:txBody>
                    <a:bodyPr/>
                    <a:lstStyle/>
                    <a:p>
                      <a:pPr algn="l" indent="0" marL="0">
                        <a:buNone/>
                      </a:pPr>
                      <a:r>
                        <a:rPr lang="en-US" sz="850" dirty="0">
                          <a:solidFill>
                            <a:srgbClr val="1E293B"/>
                          </a:solidFill>
                        </a:rPr>
                        <a:t>5</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l" indent="0" marL="0">
                        <a:buNone/>
                      </a:pPr>
                      <a:r>
                        <a:rPr lang="en-US" sz="850" dirty="0">
                          <a:solidFill>
                            <a:srgbClr val="1E293B"/>
                          </a:solidFill>
                        </a:rPr>
                        <a:t>Quality of Earnings (QoE) — EBITDA add-back schedule and pro forma recurring EBITDA for FY2022A–FY2024E</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FFFFFF"/>
                          </a:solidFill>
                        </a:rPr>
                        <a:t>NON-BLOCKING</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64748B"/>
                    </a:solidFill>
                  </a:tcPr>
                </a:tc>
                <a:tc>
                  <a:txBody>
                    <a:bodyPr/>
                    <a:lstStyle/>
                    <a:p>
                      <a:pPr algn="l" indent="0" marL="0">
                        <a:buNone/>
                      </a:pPr>
                      <a:r>
                        <a:rPr lang="en-US" sz="850" dirty="0">
                          <a:solidFill>
                            <a:srgbClr val="1E293B"/>
                          </a:solidFill>
                        </a:rPr>
                        <a:t>CFO</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Management interview</a:t>
                      </a:r>
                      <a:endParaRPr lang="en-US" sz="120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r>
              <a:tr h="0">
                <a:tc>
                  <a:txBody>
                    <a:bodyPr/>
                    <a:lstStyle/>
                    <a:p>
                      <a:pPr algn="l" indent="0" marL="0">
                        <a:buNone/>
                      </a:pPr>
                      <a:r>
                        <a:rPr lang="en-US" sz="850" dirty="0">
                          <a:solidFill>
                            <a:srgbClr val="1E293B"/>
                          </a:solidFill>
                        </a:rPr>
                        <a:t>6</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l" indent="0" marL="0">
                        <a:buNone/>
                      </a:pPr>
                      <a:r>
                        <a:rPr lang="en-US" sz="850" dirty="0">
                          <a:solidFill>
                            <a:srgbClr val="1E293B"/>
                          </a:solidFill>
                        </a:rPr>
                        <a:t>Big 4 audit sign-off on FY2024A — confirm no restatements, management letter points, or open items</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b="1" dirty="0">
                          <a:solidFill>
                            <a:srgbClr val="FFFFFF"/>
                          </a:solidFill>
                        </a:rPr>
                        <a:t>NON-BLOCKING</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64748B"/>
                    </a:solidFill>
                  </a:tcPr>
                </a:tc>
                <a:tc>
                  <a:txBody>
                    <a:bodyPr/>
                    <a:lstStyle/>
                    <a:p>
                      <a:pPr algn="l" indent="0" marL="0">
                        <a:buNone/>
                      </a:pPr>
                      <a:r>
                        <a:rPr lang="en-US" sz="850" dirty="0">
                          <a:solidFill>
                            <a:srgbClr val="1E293B"/>
                          </a:solidFill>
                        </a:rPr>
                        <a:t>CFO</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b="1" dirty="0">
                          <a:solidFill>
                            <a:srgbClr val="FFFFFF"/>
                          </a:solidFill>
                        </a:rPr>
                        <a:t>Management interview</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64748B"/>
                    </a:solidFill>
                  </a:tcPr>
                </a:tc>
              </a:tr>
              <a:tr h="0">
                <a:tc>
                  <a:txBody>
                    <a:bodyPr/>
                    <a:lstStyle/>
                    <a:p>
                      <a:pPr algn="l" indent="0" marL="0">
                        <a:buNone/>
                      </a:pPr>
                      <a:r>
                        <a:rPr lang="en-US" sz="850" dirty="0">
                          <a:solidFill>
                            <a:srgbClr val="1E293B"/>
                          </a:solidFill>
                        </a:rPr>
                        <a:t>7</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l" indent="0" marL="0">
                        <a:buNone/>
                      </a:pPr>
                      <a:r>
                        <a:rPr lang="en-US" sz="850" dirty="0">
                          <a:solidFill>
                            <a:srgbClr val="1E293B"/>
                          </a:solidFill>
                        </a:rPr>
                        <a:t>Payer market entry plan — confirmed pipeline, LOIs, or concrete product roadmap; required to assess bull case revenue</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FFFFFF"/>
                          </a:solidFill>
                        </a:rPr>
                        <a:t>NON-BLOCKING</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64748B"/>
                    </a:solidFill>
                  </a:tcPr>
                </a:tc>
                <a:tc>
                  <a:txBody>
                    <a:bodyPr/>
                    <a:lstStyle/>
                    <a:p>
                      <a:pPr algn="l" indent="0" marL="0">
                        <a:buNone/>
                      </a:pPr>
                      <a:r>
                        <a:rPr lang="en-US" sz="850" dirty="0">
                          <a:solidFill>
                            <a:srgbClr val="1E293B"/>
                          </a:solidFill>
                        </a:rPr>
                        <a:t>CEO</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Management interview</a:t>
                      </a:r>
                      <a:endParaRPr lang="en-US" sz="120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46304"/>
            <a:ext cx="8412480" cy="457200"/>
          </a:xfrm>
          <a:prstGeom prst="rect">
            <a:avLst/>
          </a:prstGeom>
          <a:noFill/>
          <a:ln/>
        </p:spPr>
        <p:txBody>
          <a:bodyPr wrap="square" lIns="0" tIns="0" rIns="0" bIns="0" rtlCol="0" anchor="ctr"/>
          <a:lstStyle/>
          <a:p>
            <a:pPr indent="0" marL="0">
              <a:buNone/>
            </a:pPr>
            <a:r>
              <a:rPr lang="en-US" sz="2000" b="1" dirty="0">
                <a:solidFill>
                  <a:srgbClr val="1B3A5C"/>
                </a:solidFill>
                <a:latin typeface="Arial" pitchFamily="34" charset="0"/>
                <a:ea typeface="Arial" pitchFamily="34" charset="-122"/>
                <a:cs typeface="Arial" pitchFamily="34" charset="-120"/>
              </a:rPr>
              <a:t>Slide 13  |  DD Scorecard Summary</a:t>
            </a:r>
            <a:endParaRPr lang="en-US" sz="2000" dirty="0"/>
          </a:p>
        </p:txBody>
      </p:sp>
      <p:sp>
        <p:nvSpPr>
          <p:cNvPr id="3" name="Shape 1"/>
          <p:cNvSpPr/>
          <p:nvPr/>
        </p:nvSpPr>
        <p:spPr>
          <a:xfrm>
            <a:off x="365760" y="640080"/>
            <a:ext cx="822960" cy="201168"/>
          </a:xfrm>
          <a:prstGeom prst="rect">
            <a:avLst/>
          </a:prstGeom>
          <a:solidFill>
            <a:srgbClr val="1B3A5C"/>
          </a:solidFill>
          <a:ln/>
        </p:spPr>
      </p:sp>
      <p:sp>
        <p:nvSpPr>
          <p:cNvPr id="4" name="Text 2"/>
          <p:cNvSpPr/>
          <p:nvPr/>
        </p:nvSpPr>
        <p:spPr>
          <a:xfrm>
            <a:off x="365760" y="640080"/>
            <a:ext cx="822960"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SO WHAT</a:t>
            </a:r>
            <a:endParaRPr lang="en-US" sz="700" dirty="0"/>
          </a:p>
        </p:txBody>
      </p:sp>
      <p:sp>
        <p:nvSpPr>
          <p:cNvPr id="5" name="Text 3"/>
          <p:cNvSpPr/>
          <p:nvPr/>
        </p:nvSpPr>
        <p:spPr>
          <a:xfrm>
            <a:off x="1261872" y="640080"/>
            <a:ext cx="7406640" cy="201168"/>
          </a:xfrm>
          <a:prstGeom prst="rect">
            <a:avLst/>
          </a:prstGeom>
          <a:noFill/>
          <a:ln/>
        </p:spPr>
        <p:txBody>
          <a:bodyPr wrap="square" lIns="0" tIns="0" rIns="0" bIns="0" rtlCol="0" anchor="ctr"/>
          <a:lstStyle/>
          <a:p>
            <a:pPr indent="0" marL="0">
              <a:buNone/>
            </a:pPr>
            <a:r>
              <a:rPr lang="en-US" sz="850" i="1" dirty="0">
                <a:solidFill>
                  <a:srgbClr val="1B3A5C"/>
                </a:solidFill>
                <a:latin typeface="Arial" pitchFamily="34" charset="0"/>
                <a:ea typeface="Arial" pitchFamily="34" charset="-122"/>
                <a:cs typeface="Arial" pitchFamily="34" charset="-120"/>
              </a:rPr>
              <a:t>Weighted average score of 76.5/100 confirms Conditional Proceed at the portfolio level — Financial DD hard gate is the sole blocking item.</a:t>
            </a:r>
            <a:endParaRPr lang="en-US" sz="850" dirty="0"/>
          </a:p>
        </p:txBody>
      </p:sp>
      <p:sp>
        <p:nvSpPr>
          <p:cNvPr id="6" name="Text 4"/>
          <p:cNvSpPr/>
          <p:nvPr/>
        </p:nvSpPr>
        <p:spPr>
          <a:xfrm>
            <a:off x="274320" y="4864608"/>
            <a:ext cx="8595360" cy="182880"/>
          </a:xfrm>
          <a:prstGeom prst="rect">
            <a:avLst/>
          </a:prstGeom>
          <a:noFill/>
          <a:ln/>
        </p:spPr>
        <p:txBody>
          <a:bodyPr wrap="square" lIns="0" tIns="0" rIns="0" bIns="0" rtlCol="0" anchor="ctr"/>
          <a:lstStyle/>
          <a:p>
            <a:pPr algn="ctr" indent="0" marL="0">
              <a:buNone/>
            </a:pPr>
            <a:r>
              <a:rPr lang="en-US" sz="750" dirty="0">
                <a:solidFill>
                  <a:srgbClr val="9EABB8"/>
                </a:solidFill>
                <a:latin typeface="Arial" pitchFamily="34" charset="0"/>
                <a:ea typeface="Arial" pitchFamily="34" charset="-122"/>
                <a:cs typeface="Arial" pitchFamily="34" charset="-120"/>
              </a:rPr>
              <a:t>Confidential  |  Morsebridge Healthcare  |  IC Memo  |  RevSpring, Inc.  |  June 5, 2026</a:t>
            </a:r>
            <a:endParaRPr lang="en-US" sz="750" dirty="0"/>
          </a:p>
        </p:txBody>
      </p:sp>
      <p:sp>
        <p:nvSpPr>
          <p:cNvPr id="7" name="Shape 5"/>
          <p:cNvSpPr/>
          <p:nvPr/>
        </p:nvSpPr>
        <p:spPr>
          <a:xfrm>
            <a:off x="365760" y="960120"/>
            <a:ext cx="45720" cy="219456"/>
          </a:xfrm>
          <a:prstGeom prst="rect">
            <a:avLst/>
          </a:prstGeom>
          <a:solidFill>
            <a:srgbClr val="2E6DB4"/>
          </a:solidFill>
          <a:ln/>
        </p:spPr>
      </p:sp>
      <p:sp>
        <p:nvSpPr>
          <p:cNvPr id="8" name="Text 6"/>
          <p:cNvSpPr/>
          <p:nvPr/>
        </p:nvSpPr>
        <p:spPr>
          <a:xfrm>
            <a:off x="493776" y="960120"/>
            <a:ext cx="8046720" cy="219456"/>
          </a:xfrm>
          <a:prstGeom prst="rect">
            <a:avLst/>
          </a:prstGeom>
          <a:noFill/>
          <a:ln/>
        </p:spPr>
        <p:txBody>
          <a:bodyPr wrap="square" lIns="0" tIns="0" rIns="0" bIns="0" rtlCol="0" anchor="ctr"/>
          <a:lstStyle/>
          <a:p>
            <a:pPr indent="0" marL="0">
              <a:buNone/>
            </a:pPr>
            <a:r>
              <a:rPr lang="en-US" sz="950" b="1" dirty="0">
                <a:solidFill>
                  <a:srgbClr val="1B3A5C"/>
                </a:solidFill>
                <a:latin typeface="Arial" pitchFamily="34" charset="0"/>
                <a:ea typeface="Arial" pitchFamily="34" charset="-122"/>
                <a:cs typeface="Arial" pitchFamily="34" charset="-120"/>
              </a:rPr>
              <a:t>DD SCORES BY WORKSTREAM</a:t>
            </a:r>
            <a:endParaRPr lang="en-US" sz="950" dirty="0"/>
          </a:p>
        </p:txBody>
      </p:sp>
      <p:graphicFrame>
        <p:nvGraphicFramePr>
          <p:cNvPr id="9" name="Chart 0" descr=""/>
          <p:cNvGraphicFramePr/>
          <p:nvPr/>
        </p:nvGraphicFramePr>
        <p:xfrm>
          <a:off x="365760" y="1216152"/>
          <a:ext cx="4114800" cy="2103120"/>
        </p:xfrm>
        <a:graphic xmlns:a="http://schemas.openxmlformats.org/drawingml/2006/main">
          <a:graphicData uri="http://schemas.openxmlformats.org/drawingml/2006/chart">
            <c:chart xmlns:c="http://schemas.openxmlformats.org/drawingml/2006/chart" r:id="rId1"/>
          </a:graphicData>
        </a:graphic>
      </p:graphicFrame>
      <p:sp>
        <p:nvSpPr>
          <p:cNvPr id="10" name="Shape 7"/>
          <p:cNvSpPr/>
          <p:nvPr/>
        </p:nvSpPr>
        <p:spPr>
          <a:xfrm>
            <a:off x="365760" y="3401568"/>
            <a:ext cx="4114800" cy="237744"/>
          </a:xfrm>
          <a:prstGeom prst="rect">
            <a:avLst/>
          </a:prstGeom>
          <a:solidFill>
            <a:srgbClr val="1B3A5C"/>
          </a:solidFill>
          <a:ln/>
        </p:spPr>
      </p:sp>
      <p:sp>
        <p:nvSpPr>
          <p:cNvPr id="11" name="Text 8"/>
          <p:cNvSpPr/>
          <p:nvPr/>
        </p:nvSpPr>
        <p:spPr>
          <a:xfrm>
            <a:off x="365760" y="3401568"/>
            <a:ext cx="4114800"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Weighted Average Score: 76.5 / 100  —  CONDITIONAL PROCEED (65–79 band)</a:t>
            </a:r>
            <a:endParaRPr lang="en-US" sz="900" dirty="0"/>
          </a:p>
        </p:txBody>
      </p:sp>
      <p:sp>
        <p:nvSpPr>
          <p:cNvPr id="12" name="Shape 9"/>
          <p:cNvSpPr/>
          <p:nvPr/>
        </p:nvSpPr>
        <p:spPr>
          <a:xfrm>
            <a:off x="4663440" y="960120"/>
            <a:ext cx="45720" cy="219456"/>
          </a:xfrm>
          <a:prstGeom prst="rect">
            <a:avLst/>
          </a:prstGeom>
          <a:solidFill>
            <a:srgbClr val="2E6DB4"/>
          </a:solidFill>
          <a:ln/>
        </p:spPr>
      </p:sp>
      <p:sp>
        <p:nvSpPr>
          <p:cNvPr id="13" name="Text 10"/>
          <p:cNvSpPr/>
          <p:nvPr/>
        </p:nvSpPr>
        <p:spPr>
          <a:xfrm>
            <a:off x="4791456" y="960120"/>
            <a:ext cx="3749040" cy="219456"/>
          </a:xfrm>
          <a:prstGeom prst="rect">
            <a:avLst/>
          </a:prstGeom>
          <a:noFill/>
          <a:ln/>
        </p:spPr>
        <p:txBody>
          <a:bodyPr wrap="square" lIns="0" tIns="0" rIns="0" bIns="0" rtlCol="0" anchor="ctr"/>
          <a:lstStyle/>
          <a:p>
            <a:pPr indent="0" marL="0">
              <a:buNone/>
            </a:pPr>
            <a:r>
              <a:rPr lang="en-US" sz="950" b="1" dirty="0">
                <a:solidFill>
                  <a:srgbClr val="1B3A5C"/>
                </a:solidFill>
                <a:latin typeface="Arial" pitchFamily="34" charset="0"/>
                <a:ea typeface="Arial" pitchFamily="34" charset="-122"/>
                <a:cs typeface="Arial" pitchFamily="34" charset="-120"/>
              </a:rPr>
              <a:t>SCORECARD DETAIL</a:t>
            </a:r>
            <a:endParaRPr lang="en-US" sz="9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663440" y="1216152"/>
          <a:ext cx="4114800" cy="914400"/>
        </p:xfrm>
        <a:graphic>
          <a:graphicData uri="http://schemas.openxmlformats.org/drawingml/2006/table">
            <a:tbl>
              <a:tblPr/>
              <a:tblGrid>
                <a:gridCol w="1188720"/>
                <a:gridCol w="594360"/>
                <a:gridCol w="777240"/>
                <a:gridCol w="1554480"/>
              </a:tblGrid>
              <a:tr h="0">
                <a:tc>
                  <a:txBody>
                    <a:bodyPr/>
                    <a:lstStyle/>
                    <a:p>
                      <a:pPr algn="ctr" indent="0" marL="0">
                        <a:buNone/>
                      </a:pPr>
                      <a:r>
                        <a:rPr lang="en-US" sz="850" b="1" dirty="0">
                          <a:solidFill>
                            <a:srgbClr val="FFFFFF"/>
                          </a:solidFill>
                        </a:rPr>
                        <a:t>Workstream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Score</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Band</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Key Finding</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r>
              <a:tr h="0">
                <a:tc>
                  <a:txBody>
                    <a:bodyPr/>
                    <a:lstStyle/>
                    <a:p>
                      <a:pPr algn="l" indent="0" marL="0">
                        <a:buNone/>
                      </a:pPr>
                      <a:r>
                        <a:rPr lang="en-US" sz="850" b="1" dirty="0">
                          <a:solidFill>
                            <a:srgbClr val="1E293B"/>
                          </a:solidFill>
                        </a:rPr>
                        <a:t>CIM Screening</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8F5E9"/>
                    </a:solidFill>
                  </a:tcPr>
                </a:tc>
                <a:tc>
                  <a:txBody>
                    <a:bodyPr/>
                    <a:lstStyle/>
                    <a:p>
                      <a:pPr algn="ctr" indent="0" marL="0">
                        <a:buNone/>
                      </a:pPr>
                      <a:r>
                        <a:rPr lang="en-US" sz="1200" b="1" dirty="0">
                          <a:solidFill>
                            <a:srgbClr val="1A7A2E"/>
                          </a:solidFill>
                        </a:rPr>
                        <a:t>82.0</a:t>
                      </a:r>
                      <a:endParaRPr lang="en-US" sz="120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8F5E9"/>
                    </a:solidFill>
                  </a:tcPr>
                </a:tc>
                <a:tc>
                  <a:txBody>
                    <a:bodyPr/>
                    <a:lstStyle/>
                    <a:p>
                      <a:pPr algn="ctr" indent="0" marL="0">
                        <a:buNone/>
                      </a:pPr>
                      <a:r>
                        <a:rPr lang="en-US" sz="850" b="1" dirty="0">
                          <a:solidFill>
                            <a:srgbClr val="1A7A2E"/>
                          </a:solidFill>
                        </a:rPr>
                        <a:t>Strong</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8F5E9"/>
                    </a:solidFill>
                  </a:tcPr>
                </a:tc>
                <a:tc>
                  <a:txBody>
                    <a:bodyPr/>
                    <a:lstStyle/>
                    <a:p>
                      <a:pPr algn="l" indent="0" marL="0">
                        <a:buNone/>
                      </a:pPr>
                      <a:r>
                        <a:rPr lang="en-US" sz="850" dirty="0">
                          <a:solidFill>
                            <a:srgbClr val="1E293B"/>
                          </a:solidFill>
                        </a:rPr>
                        <a:t>All 7 mandatory filters pass. 19.4x entry multiple and new CFO flagged as conditions.</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8F5E9"/>
                    </a:solidFill>
                  </a:tcPr>
                </a:tc>
              </a:tr>
              <a:tr h="0">
                <a:tc>
                  <a:txBody>
                    <a:bodyPr/>
                    <a:lstStyle/>
                    <a:p>
                      <a:pPr algn="l" indent="0" marL="0">
                        <a:buNone/>
                      </a:pPr>
                      <a:r>
                        <a:rPr lang="en-US" sz="850" dirty="0">
                          <a:solidFill>
                            <a:srgbClr val="1E293B"/>
                          </a:solidFill>
                        </a:rPr>
                        <a:t>Commercial DD</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A7A2E"/>
                          </a:solidFill>
                        </a:rPr>
                        <a:t>85.8</a:t>
                      </a:r>
                      <a:endParaRPr lang="en-US" sz="120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8F5E9"/>
                    </a:solidFill>
                  </a:tcPr>
                </a:tc>
                <a:tc>
                  <a:txBody>
                    <a:bodyPr/>
                    <a:lstStyle/>
                    <a:p>
                      <a:pPr algn="ctr" indent="0" marL="0">
                        <a:buNone/>
                      </a:pPr>
                      <a:r>
                        <a:rPr lang="en-US" sz="850" b="1" dirty="0">
                          <a:solidFill>
                            <a:srgbClr val="1A7A2E"/>
                          </a:solidFill>
                        </a:rPr>
                        <a:t>Strong</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8F5E9"/>
                    </a:solidFill>
                  </a:tcPr>
                </a:tc>
                <a:tc>
                  <a:txBody>
                    <a:bodyPr/>
                    <a:lstStyle/>
                    <a:p>
                      <a:pPr algn="l" indent="0" marL="0">
                        <a:buNone/>
                      </a:pPr>
                      <a:r>
                        <a:rPr lang="en-US" sz="850" dirty="0">
                          <a:solidFill>
                            <a:srgbClr val="1E293B"/>
                          </a:solidFill>
                        </a:rPr>
                        <a:t>Best-in-class market position. Win/loss data and Print &amp; Mail trajectory are open gaps.</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r>
              <a:tr h="0">
                <a:tc>
                  <a:txBody>
                    <a:bodyPr/>
                    <a:lstStyle/>
                    <a:p>
                      <a:pPr algn="l" indent="0" marL="0">
                        <a:buNone/>
                      </a:pPr>
                      <a:r>
                        <a:rPr lang="en-US" sz="850" b="1" dirty="0">
                          <a:solidFill>
                            <a:srgbClr val="1E293B"/>
                          </a:solidFill>
                        </a:rPr>
                        <a:t>Management DD</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9E6"/>
                    </a:solidFill>
                  </a:tcPr>
                </a:tc>
                <a:tc>
                  <a:txBody>
                    <a:bodyPr/>
                    <a:lstStyle/>
                    <a:p>
                      <a:pPr algn="ctr" indent="0" marL="0">
                        <a:buNone/>
                      </a:pPr>
                      <a:r>
                        <a:rPr lang="en-US" sz="1200" b="1" dirty="0">
                          <a:solidFill>
                            <a:srgbClr val="B45309"/>
                          </a:solidFill>
                        </a:rPr>
                        <a:t>70.8</a:t>
                      </a:r>
                      <a:endParaRPr lang="en-US" sz="120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9E6"/>
                    </a:solidFill>
                  </a:tcPr>
                </a:tc>
                <a:tc>
                  <a:txBody>
                    <a:bodyPr/>
                    <a:lstStyle/>
                    <a:p>
                      <a:pPr algn="ctr" indent="0" marL="0">
                        <a:buNone/>
                      </a:pPr>
                      <a:r>
                        <a:rPr lang="en-US" sz="850" b="1" dirty="0">
                          <a:solidFill>
                            <a:srgbClr val="B45309"/>
                          </a:solidFill>
                        </a:rPr>
                        <a:t>Conditional</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9E6"/>
                    </a:solidFill>
                  </a:tcPr>
                </a:tc>
                <a:tc>
                  <a:txBody>
                    <a:bodyPr/>
                    <a:lstStyle/>
                    <a:p>
                      <a:pPr algn="l" indent="0" marL="0">
                        <a:buNone/>
                      </a:pPr>
                      <a:r>
                        <a:rPr lang="en-US" sz="850" dirty="0">
                          <a:solidFill>
                            <a:srgbClr val="1E293B"/>
                          </a:solidFill>
                        </a:rPr>
                        <a:t>MacKenzie exceptional. CFO tenure (11mo) and model integrity are the two conditions.</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9E6"/>
                    </a:solidFill>
                  </a:tcPr>
                </a:tc>
              </a:tr>
              <a:tr h="0">
                <a:tc>
                  <a:txBody>
                    <a:bodyPr/>
                    <a:lstStyle/>
                    <a:p>
                      <a:pPr algn="l" indent="0" marL="0">
                        <a:buNone/>
                      </a:pPr>
                      <a:r>
                        <a:rPr lang="en-US" sz="850" b="1" dirty="0">
                          <a:solidFill>
                            <a:srgbClr val="1E293B"/>
                          </a:solidFill>
                        </a:rPr>
                        <a:t>Financial DD</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EF2F2"/>
                    </a:solidFill>
                  </a:tcPr>
                </a:tc>
                <a:tc>
                  <a:txBody>
                    <a:bodyPr/>
                    <a:lstStyle/>
                    <a:p>
                      <a:pPr algn="ctr" indent="0" marL="0">
                        <a:buNone/>
                      </a:pPr>
                      <a:r>
                        <a:rPr lang="en-US" sz="1200" b="1" dirty="0">
                          <a:solidFill>
                            <a:srgbClr val="C00000"/>
                          </a:solidFill>
                        </a:rPr>
                        <a:t>63.2</a:t>
                      </a:r>
                      <a:endParaRPr lang="en-US" sz="120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EF2F2"/>
                    </a:solidFill>
                  </a:tcPr>
                </a:tc>
                <a:tc>
                  <a:txBody>
                    <a:bodyPr/>
                    <a:lstStyle/>
                    <a:p>
                      <a:pPr algn="ctr" indent="0" marL="0">
                        <a:buNone/>
                      </a:pPr>
                      <a:r>
                        <a:rPr lang="en-US" sz="850" b="1" dirty="0">
                          <a:solidFill>
                            <a:srgbClr val="C00000"/>
                          </a:solidFill>
                        </a:rPr>
                        <a:t>Hold ⚠</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EF2F2"/>
                    </a:solidFill>
                  </a:tcPr>
                </a:tc>
                <a:tc>
                  <a:txBody>
                    <a:bodyPr/>
                    <a:lstStyle/>
                    <a:p>
                      <a:pPr algn="l" indent="0" marL="0">
                        <a:buNone/>
                      </a:pPr>
                      <a:r>
                        <a:rPr lang="en-US" sz="850" dirty="0">
                          <a:solidFill>
                            <a:srgbClr val="7F1D1D"/>
                          </a:solidFill>
                        </a:rPr>
                        <a:t>Hard gate: Bear IRR 14% &lt; 15%. Model formula errors. Three Critical flags all open. Corrected model required before IC approval.</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EF2F2"/>
                    </a:solidFill>
                  </a:tcPr>
                </a:tc>
              </a:tr>
            </a:tbl>
          </a:graphicData>
        </a:graphic>
      </p:graphicFrame>
      <p:sp>
        <p:nvSpPr>
          <p:cNvPr id="15" name="Shape 11"/>
          <p:cNvSpPr/>
          <p:nvPr/>
        </p:nvSpPr>
        <p:spPr>
          <a:xfrm>
            <a:off x="4663440" y="3749040"/>
            <a:ext cx="45720" cy="219456"/>
          </a:xfrm>
          <a:prstGeom prst="rect">
            <a:avLst/>
          </a:prstGeom>
          <a:solidFill>
            <a:srgbClr val="2E6DB4"/>
          </a:solidFill>
          <a:ln/>
        </p:spPr>
      </p:sp>
      <p:sp>
        <p:nvSpPr>
          <p:cNvPr id="16" name="Text 12"/>
          <p:cNvSpPr/>
          <p:nvPr/>
        </p:nvSpPr>
        <p:spPr>
          <a:xfrm>
            <a:off x="4791456" y="3749040"/>
            <a:ext cx="3749040" cy="219456"/>
          </a:xfrm>
          <a:prstGeom prst="rect">
            <a:avLst/>
          </a:prstGeom>
          <a:noFill/>
          <a:ln/>
        </p:spPr>
        <p:txBody>
          <a:bodyPr wrap="square" lIns="0" tIns="0" rIns="0" bIns="0" rtlCol="0" anchor="ctr"/>
          <a:lstStyle/>
          <a:p>
            <a:pPr indent="0" marL="0">
              <a:buNone/>
            </a:pPr>
            <a:r>
              <a:rPr lang="en-US" sz="950" b="1" dirty="0">
                <a:solidFill>
                  <a:srgbClr val="1B3A5C"/>
                </a:solidFill>
                <a:latin typeface="Arial" pitchFamily="34" charset="0"/>
                <a:ea typeface="Arial" pitchFamily="34" charset="-122"/>
                <a:cs typeface="Arial" pitchFamily="34" charset="-120"/>
              </a:rPr>
              <a:t>BAND INTERPRETATION</a:t>
            </a:r>
            <a:endParaRPr lang="en-US" sz="950" dirty="0"/>
          </a:p>
        </p:txBody>
      </p:sp>
      <p:sp>
        <p:nvSpPr>
          <p:cNvPr id="17" name="Shape 13"/>
          <p:cNvSpPr/>
          <p:nvPr/>
        </p:nvSpPr>
        <p:spPr>
          <a:xfrm>
            <a:off x="4663440" y="3986784"/>
            <a:ext cx="4114800" cy="347472"/>
          </a:xfrm>
          <a:prstGeom prst="rect">
            <a:avLst/>
          </a:prstGeom>
          <a:solidFill>
            <a:srgbClr val="E8F5E9"/>
          </a:solidFill>
          <a:ln w="9525">
            <a:solidFill>
              <a:srgbClr val="1A7A2E"/>
            </a:solidFill>
            <a:prstDash val="solid"/>
          </a:ln>
        </p:spPr>
      </p:sp>
      <p:sp>
        <p:nvSpPr>
          <p:cNvPr id="18" name="Text 14"/>
          <p:cNvSpPr/>
          <p:nvPr/>
        </p:nvSpPr>
        <p:spPr>
          <a:xfrm>
            <a:off x="4663440" y="3986784"/>
            <a:ext cx="4114800" cy="347472"/>
          </a:xfrm>
          <a:prstGeom prst="rect">
            <a:avLst/>
          </a:prstGeom>
          <a:noFill/>
          <a:ln/>
        </p:spPr>
        <p:txBody>
          <a:bodyPr wrap="square" lIns="0" tIns="0" rIns="0" bIns="0" rtlCol="0" anchor="ctr"/>
          <a:lstStyle/>
          <a:p>
            <a:pPr algn="ctr" indent="0" marL="0">
              <a:buNone/>
            </a:pPr>
            <a:r>
              <a:rPr lang="en-US" sz="950" b="1" dirty="0">
                <a:solidFill>
                  <a:srgbClr val="1A7A2E"/>
                </a:solidFill>
                <a:latin typeface="Arial" pitchFamily="34" charset="0"/>
                <a:ea typeface="Arial" pitchFamily="34" charset="-122"/>
                <a:cs typeface="Arial" pitchFamily="34" charset="-120"/>
              </a:rPr>
              <a:t>80–100  —  Strong Proceed</a:t>
            </a:r>
            <a:endParaRPr lang="en-US" sz="950" dirty="0"/>
          </a:p>
        </p:txBody>
      </p:sp>
      <p:sp>
        <p:nvSpPr>
          <p:cNvPr id="19" name="Shape 15"/>
          <p:cNvSpPr/>
          <p:nvPr/>
        </p:nvSpPr>
        <p:spPr>
          <a:xfrm>
            <a:off x="4663440" y="4407408"/>
            <a:ext cx="4114800" cy="347472"/>
          </a:xfrm>
          <a:prstGeom prst="rect">
            <a:avLst/>
          </a:prstGeom>
          <a:solidFill>
            <a:srgbClr val="FFF9E6"/>
          </a:solidFill>
          <a:ln w="9525">
            <a:solidFill>
              <a:srgbClr val="B45309"/>
            </a:solidFill>
            <a:prstDash val="solid"/>
          </a:ln>
        </p:spPr>
      </p:sp>
      <p:sp>
        <p:nvSpPr>
          <p:cNvPr id="20" name="Text 16"/>
          <p:cNvSpPr/>
          <p:nvPr/>
        </p:nvSpPr>
        <p:spPr>
          <a:xfrm>
            <a:off x="4663440" y="4407408"/>
            <a:ext cx="4114800" cy="347472"/>
          </a:xfrm>
          <a:prstGeom prst="rect">
            <a:avLst/>
          </a:prstGeom>
          <a:noFill/>
          <a:ln/>
        </p:spPr>
        <p:txBody>
          <a:bodyPr wrap="square" lIns="0" tIns="0" rIns="0" bIns="0" rtlCol="0" anchor="ctr"/>
          <a:lstStyle/>
          <a:p>
            <a:pPr algn="ctr" indent="0" marL="0">
              <a:buNone/>
            </a:pPr>
            <a:r>
              <a:rPr lang="en-US" sz="950" dirty="0">
                <a:solidFill>
                  <a:srgbClr val="B45309"/>
                </a:solidFill>
                <a:latin typeface="Arial" pitchFamily="34" charset="0"/>
                <a:ea typeface="Arial" pitchFamily="34" charset="-122"/>
                <a:cs typeface="Arial" pitchFamily="34" charset="-120"/>
              </a:rPr>
              <a:t>65–79  —  Conditional Proceed</a:t>
            </a:r>
            <a:endParaRPr lang="en-US" sz="950" dirty="0"/>
          </a:p>
        </p:txBody>
      </p:sp>
      <p:sp>
        <p:nvSpPr>
          <p:cNvPr id="21" name="Shape 17"/>
          <p:cNvSpPr/>
          <p:nvPr/>
        </p:nvSpPr>
        <p:spPr>
          <a:xfrm>
            <a:off x="4663440" y="4828032"/>
            <a:ext cx="4114800" cy="347472"/>
          </a:xfrm>
          <a:prstGeom prst="rect">
            <a:avLst/>
          </a:prstGeom>
          <a:solidFill>
            <a:srgbClr val="FEF2F2"/>
          </a:solidFill>
          <a:ln w="9525">
            <a:solidFill>
              <a:srgbClr val="C00000"/>
            </a:solidFill>
            <a:prstDash val="solid"/>
          </a:ln>
        </p:spPr>
      </p:sp>
      <p:sp>
        <p:nvSpPr>
          <p:cNvPr id="22" name="Text 18"/>
          <p:cNvSpPr/>
          <p:nvPr/>
        </p:nvSpPr>
        <p:spPr>
          <a:xfrm>
            <a:off x="4663440" y="4828032"/>
            <a:ext cx="4114800" cy="347472"/>
          </a:xfrm>
          <a:prstGeom prst="rect">
            <a:avLst/>
          </a:prstGeom>
          <a:noFill/>
          <a:ln/>
        </p:spPr>
        <p:txBody>
          <a:bodyPr wrap="square" lIns="0" tIns="0" rIns="0" bIns="0" rtlCol="0" anchor="ctr"/>
          <a:lstStyle/>
          <a:p>
            <a:pPr algn="ctr" indent="0" marL="0">
              <a:buNone/>
            </a:pPr>
            <a:r>
              <a:rPr lang="en-US" sz="950" b="1" dirty="0">
                <a:solidFill>
                  <a:srgbClr val="C00000"/>
                </a:solidFill>
                <a:latin typeface="Arial" pitchFamily="34" charset="0"/>
                <a:ea typeface="Arial" pitchFamily="34" charset="-122"/>
                <a:cs typeface="Arial" pitchFamily="34" charset="-120"/>
              </a:rPr>
              <a:t>&lt; 65  —  Pass</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46304"/>
            <a:ext cx="8412480" cy="457200"/>
          </a:xfrm>
          <a:prstGeom prst="rect">
            <a:avLst/>
          </a:prstGeom>
          <a:noFill/>
          <a:ln/>
        </p:spPr>
        <p:txBody>
          <a:bodyPr wrap="square" lIns="0" tIns="0" rIns="0" bIns="0" rtlCol="0" anchor="ctr"/>
          <a:lstStyle/>
          <a:p>
            <a:pPr indent="0" marL="0">
              <a:buNone/>
            </a:pPr>
            <a:r>
              <a:rPr lang="en-US" sz="2000" b="1" dirty="0">
                <a:solidFill>
                  <a:srgbClr val="1B3A5C"/>
                </a:solidFill>
                <a:latin typeface="Arial" pitchFamily="34" charset="0"/>
                <a:ea typeface="Arial" pitchFamily="34" charset="-122"/>
                <a:cs typeface="Arial" pitchFamily="34" charset="-120"/>
              </a:rPr>
              <a:t>Slide 14  |  Recommendation</a:t>
            </a:r>
            <a:endParaRPr lang="en-US" sz="2000" dirty="0"/>
          </a:p>
        </p:txBody>
      </p:sp>
      <p:sp>
        <p:nvSpPr>
          <p:cNvPr id="3" name="Shape 1"/>
          <p:cNvSpPr/>
          <p:nvPr/>
        </p:nvSpPr>
        <p:spPr>
          <a:xfrm>
            <a:off x="365760" y="640080"/>
            <a:ext cx="822960" cy="201168"/>
          </a:xfrm>
          <a:prstGeom prst="rect">
            <a:avLst/>
          </a:prstGeom>
          <a:solidFill>
            <a:srgbClr val="1B3A5C"/>
          </a:solidFill>
          <a:ln/>
        </p:spPr>
      </p:sp>
      <p:sp>
        <p:nvSpPr>
          <p:cNvPr id="4" name="Text 2"/>
          <p:cNvSpPr/>
          <p:nvPr/>
        </p:nvSpPr>
        <p:spPr>
          <a:xfrm>
            <a:off x="365760" y="640080"/>
            <a:ext cx="822960"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SO WHAT</a:t>
            </a:r>
            <a:endParaRPr lang="en-US" sz="700" dirty="0"/>
          </a:p>
        </p:txBody>
      </p:sp>
      <p:sp>
        <p:nvSpPr>
          <p:cNvPr id="5" name="Text 3"/>
          <p:cNvSpPr/>
          <p:nvPr/>
        </p:nvSpPr>
        <p:spPr>
          <a:xfrm>
            <a:off x="1261872" y="640080"/>
            <a:ext cx="7406640" cy="201168"/>
          </a:xfrm>
          <a:prstGeom prst="rect">
            <a:avLst/>
          </a:prstGeom>
          <a:noFill/>
          <a:ln/>
        </p:spPr>
        <p:txBody>
          <a:bodyPr wrap="square" lIns="0" tIns="0" rIns="0" bIns="0" rtlCol="0" anchor="ctr"/>
          <a:lstStyle/>
          <a:p>
            <a:pPr indent="0" marL="0">
              <a:buNone/>
            </a:pPr>
            <a:r>
              <a:rPr lang="en-US" sz="850" i="1" dirty="0">
                <a:solidFill>
                  <a:srgbClr val="1B3A5C"/>
                </a:solidFill>
                <a:latin typeface="Arial" pitchFamily="34" charset="0"/>
                <a:ea typeface="Arial" pitchFamily="34" charset="-122"/>
                <a:cs typeface="Arial" pitchFamily="34" charset="-120"/>
              </a:rPr>
              <a:t>CONDITIONAL INVEST — reverts to PASS if corrected model cannot achieve bear case IRR ≥ 15% on a corrected 1.52x base MOIC trajectory.</a:t>
            </a:r>
            <a:endParaRPr lang="en-US" sz="850" dirty="0"/>
          </a:p>
        </p:txBody>
      </p:sp>
      <p:sp>
        <p:nvSpPr>
          <p:cNvPr id="6" name="Text 4"/>
          <p:cNvSpPr/>
          <p:nvPr/>
        </p:nvSpPr>
        <p:spPr>
          <a:xfrm>
            <a:off x="274320" y="4864608"/>
            <a:ext cx="8595360" cy="182880"/>
          </a:xfrm>
          <a:prstGeom prst="rect">
            <a:avLst/>
          </a:prstGeom>
          <a:noFill/>
          <a:ln/>
        </p:spPr>
        <p:txBody>
          <a:bodyPr wrap="square" lIns="0" tIns="0" rIns="0" bIns="0" rtlCol="0" anchor="ctr"/>
          <a:lstStyle/>
          <a:p>
            <a:pPr algn="ctr" indent="0" marL="0">
              <a:buNone/>
            </a:pPr>
            <a:r>
              <a:rPr lang="en-US" sz="750" dirty="0">
                <a:solidFill>
                  <a:srgbClr val="9EABB8"/>
                </a:solidFill>
                <a:latin typeface="Arial" pitchFamily="34" charset="0"/>
                <a:ea typeface="Arial" pitchFamily="34" charset="-122"/>
                <a:cs typeface="Arial" pitchFamily="34" charset="-120"/>
              </a:rPr>
              <a:t>Confidential  |  Morsebridge Healthcare  |  IC Memo  |  RevSpring, Inc.  |  June 5, 2026</a:t>
            </a:r>
            <a:endParaRPr lang="en-US" sz="750" dirty="0"/>
          </a:p>
        </p:txBody>
      </p:sp>
      <p:sp>
        <p:nvSpPr>
          <p:cNvPr id="7" name="Shape 5"/>
          <p:cNvSpPr/>
          <p:nvPr/>
        </p:nvSpPr>
        <p:spPr>
          <a:xfrm>
            <a:off x="365760" y="960120"/>
            <a:ext cx="8412480" cy="804672"/>
          </a:xfrm>
          <a:prstGeom prst="rect">
            <a:avLst/>
          </a:prstGeom>
          <a:solidFill>
            <a:srgbClr val="FFF9E6"/>
          </a:solidFill>
          <a:ln w="25400">
            <a:solidFill>
              <a:srgbClr val="B45309"/>
            </a:solidFill>
            <a:prstDash val="solid"/>
          </a:ln>
          <a:effectLst>
            <a:outerShdw sx="100000" sy="100000" kx="0" ky="0" algn="bl" rotWithShape="0" blurRad="50800" dist="25400" dir="16200000">
              <a:srgbClr val="000000">
                <a:alpha val="8000"/>
              </a:srgbClr>
            </a:outerShdw>
          </a:effectLst>
        </p:spPr>
      </p:sp>
      <p:sp>
        <p:nvSpPr>
          <p:cNvPr id="8" name="Shape 6"/>
          <p:cNvSpPr/>
          <p:nvPr/>
        </p:nvSpPr>
        <p:spPr>
          <a:xfrm>
            <a:off x="365760" y="960120"/>
            <a:ext cx="73152" cy="804672"/>
          </a:xfrm>
          <a:prstGeom prst="rect">
            <a:avLst/>
          </a:prstGeom>
          <a:solidFill>
            <a:srgbClr val="B45309"/>
          </a:solidFill>
          <a:ln/>
        </p:spPr>
      </p:sp>
      <p:sp>
        <p:nvSpPr>
          <p:cNvPr id="9" name="Text 7"/>
          <p:cNvSpPr/>
          <p:nvPr/>
        </p:nvSpPr>
        <p:spPr>
          <a:xfrm>
            <a:off x="530352" y="1005840"/>
            <a:ext cx="8229600" cy="402336"/>
          </a:xfrm>
          <a:prstGeom prst="rect">
            <a:avLst/>
          </a:prstGeom>
          <a:noFill/>
          <a:ln/>
        </p:spPr>
        <p:txBody>
          <a:bodyPr wrap="square" lIns="0" tIns="0" rIns="0" bIns="0" rtlCol="0" anchor="ctr"/>
          <a:lstStyle/>
          <a:p>
            <a:pPr indent="0" marL="0">
              <a:buNone/>
            </a:pPr>
            <a:r>
              <a:rPr lang="en-US" sz="2600" b="1" dirty="0">
                <a:solidFill>
                  <a:srgbClr val="78350F"/>
                </a:solidFill>
                <a:latin typeface="Arial" pitchFamily="34" charset="0"/>
                <a:ea typeface="Arial" pitchFamily="34" charset="-122"/>
                <a:cs typeface="Arial" pitchFamily="34" charset="-120"/>
              </a:rPr>
              <a:t>CONDITIONAL INVEST</a:t>
            </a:r>
            <a:endParaRPr lang="en-US" sz="2600" dirty="0"/>
          </a:p>
        </p:txBody>
      </p:sp>
      <p:sp>
        <p:nvSpPr>
          <p:cNvPr id="10" name="Text 8"/>
          <p:cNvSpPr/>
          <p:nvPr/>
        </p:nvSpPr>
        <p:spPr>
          <a:xfrm>
            <a:off x="530352" y="1408176"/>
            <a:ext cx="8229600" cy="274320"/>
          </a:xfrm>
          <a:prstGeom prst="rect">
            <a:avLst/>
          </a:prstGeom>
          <a:noFill/>
          <a:ln/>
        </p:spPr>
        <p:txBody>
          <a:bodyPr wrap="square" lIns="0" tIns="0" rIns="0" bIns="0" rtlCol="0" anchor="ctr"/>
          <a:lstStyle/>
          <a:p>
            <a:pPr indent="0" marL="0">
              <a:buNone/>
            </a:pPr>
            <a:r>
              <a:rPr lang="en-US" sz="900" dirty="0">
                <a:solidFill>
                  <a:srgbClr val="78350F"/>
                </a:solidFill>
                <a:latin typeface="Arial" pitchFamily="34" charset="0"/>
                <a:ea typeface="Arial" pitchFamily="34" charset="-122"/>
                <a:cs typeface="Arial" pitchFamily="34" charset="-120"/>
              </a:rPr>
              <a:t>Underlying business quality is Strong. Hard gate triggered by Financial DD model errors — not fundamental business concerns. Three conditions must be satisfied before IC approval.</a:t>
            </a:r>
            <a:endParaRPr lang="en-US" sz="900" dirty="0"/>
          </a:p>
        </p:txBody>
      </p:sp>
      <p:sp>
        <p:nvSpPr>
          <p:cNvPr id="11" name="Shape 9"/>
          <p:cNvSpPr/>
          <p:nvPr/>
        </p:nvSpPr>
        <p:spPr>
          <a:xfrm>
            <a:off x="365760" y="1901952"/>
            <a:ext cx="45720" cy="219456"/>
          </a:xfrm>
          <a:prstGeom prst="rect">
            <a:avLst/>
          </a:prstGeom>
          <a:solidFill>
            <a:srgbClr val="2E6DB4"/>
          </a:solidFill>
          <a:ln/>
        </p:spPr>
      </p:sp>
      <p:sp>
        <p:nvSpPr>
          <p:cNvPr id="12" name="Text 10"/>
          <p:cNvSpPr/>
          <p:nvPr/>
        </p:nvSpPr>
        <p:spPr>
          <a:xfrm>
            <a:off x="493776" y="1901952"/>
            <a:ext cx="8046720" cy="219456"/>
          </a:xfrm>
          <a:prstGeom prst="rect">
            <a:avLst/>
          </a:prstGeom>
          <a:noFill/>
          <a:ln/>
        </p:spPr>
        <p:txBody>
          <a:bodyPr wrap="square" lIns="0" tIns="0" rIns="0" bIns="0" rtlCol="0" anchor="ctr"/>
          <a:lstStyle/>
          <a:p>
            <a:pPr indent="0" marL="0">
              <a:buNone/>
            </a:pPr>
            <a:r>
              <a:rPr lang="en-US" sz="950" b="1" dirty="0">
                <a:solidFill>
                  <a:srgbClr val="1B3A5C"/>
                </a:solidFill>
                <a:latin typeface="Arial" pitchFamily="34" charset="0"/>
                <a:ea typeface="Arial" pitchFamily="34" charset="-122"/>
                <a:cs typeface="Arial" pitchFamily="34" charset="-120"/>
              </a:rPr>
              <a:t>CONDITIONS FOR IC APPROVAL</a:t>
            </a:r>
            <a:endParaRPr lang="en-US" sz="950" dirty="0"/>
          </a:p>
        </p:txBody>
      </p:sp>
      <p:sp>
        <p:nvSpPr>
          <p:cNvPr id="13" name="Shape 11"/>
          <p:cNvSpPr/>
          <p:nvPr/>
        </p:nvSpPr>
        <p:spPr>
          <a:xfrm>
            <a:off x="365760" y="2148840"/>
            <a:ext cx="8412480" cy="786384"/>
          </a:xfrm>
          <a:prstGeom prst="rect">
            <a:avLst/>
          </a:prstGeom>
          <a:solidFill>
            <a:srgbClr val="FEF2F2"/>
          </a:solidFill>
          <a:ln w="9525">
            <a:solidFill>
              <a:srgbClr val="C00000"/>
            </a:solidFill>
            <a:prstDash val="solid"/>
          </a:ln>
        </p:spPr>
      </p:sp>
      <p:sp>
        <p:nvSpPr>
          <p:cNvPr id="14" name="Shape 12"/>
          <p:cNvSpPr/>
          <p:nvPr/>
        </p:nvSpPr>
        <p:spPr>
          <a:xfrm>
            <a:off x="365760" y="2148840"/>
            <a:ext cx="45720" cy="786384"/>
          </a:xfrm>
          <a:prstGeom prst="rect">
            <a:avLst/>
          </a:prstGeom>
          <a:solidFill>
            <a:srgbClr val="C00000"/>
          </a:solidFill>
          <a:ln/>
        </p:spPr>
      </p:sp>
      <p:sp>
        <p:nvSpPr>
          <p:cNvPr id="15" name="Shape 13"/>
          <p:cNvSpPr/>
          <p:nvPr/>
        </p:nvSpPr>
        <p:spPr>
          <a:xfrm>
            <a:off x="493776" y="2240280"/>
            <a:ext cx="320040" cy="320040"/>
          </a:xfrm>
          <a:prstGeom prst="rect">
            <a:avLst>
              <a:gd name="adj" fmla="val 11429"/>
            </a:avLst>
          </a:prstGeom>
          <a:solidFill>
            <a:srgbClr val="C00000"/>
          </a:solidFill>
          <a:ln/>
        </p:spPr>
      </p:sp>
      <p:sp>
        <p:nvSpPr>
          <p:cNvPr id="16" name="Text 14"/>
          <p:cNvSpPr/>
          <p:nvPr/>
        </p:nvSpPr>
        <p:spPr>
          <a:xfrm>
            <a:off x="493776" y="2240280"/>
            <a:ext cx="320040" cy="32004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7" name="Shape 15"/>
          <p:cNvSpPr/>
          <p:nvPr/>
        </p:nvSpPr>
        <p:spPr>
          <a:xfrm>
            <a:off x="7178040" y="2221992"/>
            <a:ext cx="1554480" cy="219456"/>
          </a:xfrm>
          <a:prstGeom prst="rect">
            <a:avLst>
              <a:gd name="adj" fmla="val 16667"/>
            </a:avLst>
          </a:prstGeom>
          <a:solidFill>
            <a:srgbClr val="C00000"/>
          </a:solidFill>
          <a:ln/>
        </p:spPr>
      </p:sp>
      <p:sp>
        <p:nvSpPr>
          <p:cNvPr id="18" name="Text 16"/>
          <p:cNvSpPr/>
          <p:nvPr/>
        </p:nvSpPr>
        <p:spPr>
          <a:xfrm>
            <a:off x="7178040" y="2221992"/>
            <a:ext cx="1554480" cy="219456"/>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BLOCKING</a:t>
            </a:r>
            <a:endParaRPr lang="en-US" sz="750" dirty="0"/>
          </a:p>
        </p:txBody>
      </p:sp>
      <p:sp>
        <p:nvSpPr>
          <p:cNvPr id="19" name="Text 17"/>
          <p:cNvSpPr/>
          <p:nvPr/>
        </p:nvSpPr>
        <p:spPr>
          <a:xfrm>
            <a:off x="914400" y="2203704"/>
            <a:ext cx="6172200" cy="274320"/>
          </a:xfrm>
          <a:prstGeom prst="rect">
            <a:avLst/>
          </a:prstGeom>
          <a:noFill/>
          <a:ln/>
        </p:spPr>
        <p:txBody>
          <a:bodyPr wrap="square" lIns="0" tIns="0" rIns="0" bIns="0" rtlCol="0" anchor="ctr"/>
          <a:lstStyle/>
          <a:p>
            <a:pPr indent="0" marL="0">
              <a:buNone/>
            </a:pPr>
            <a:r>
              <a:rPr lang="en-US" sz="1000" b="1" dirty="0">
                <a:solidFill>
                  <a:srgbClr val="1B3A5C"/>
                </a:solidFill>
                <a:latin typeface="Arial" pitchFamily="34" charset="0"/>
                <a:ea typeface="Arial" pitchFamily="34" charset="-122"/>
                <a:cs typeface="Arial" pitchFamily="34" charset="-120"/>
              </a:rPr>
              <a:t>Corrected Financial Model</a:t>
            </a:r>
            <a:endParaRPr lang="en-US" sz="1000" dirty="0"/>
          </a:p>
        </p:txBody>
      </p:sp>
      <p:sp>
        <p:nvSpPr>
          <p:cNvPr id="20" name="Text 18"/>
          <p:cNvSpPr/>
          <p:nvPr/>
        </p:nvSpPr>
        <p:spPr>
          <a:xfrm>
            <a:off x="914400" y="2496312"/>
            <a:ext cx="7818120" cy="365760"/>
          </a:xfrm>
          <a:prstGeom prst="rect">
            <a:avLst/>
          </a:prstGeom>
          <a:noFill/>
          <a:ln/>
        </p:spPr>
        <p:txBody>
          <a:bodyPr wrap="square" lIns="0" tIns="0" rIns="0" bIns="0" rtlCol="0" anchor="ctr"/>
          <a:lstStyle/>
          <a:p>
            <a:pPr indent="0" marL="0">
              <a:buNone/>
            </a:pPr>
            <a:r>
              <a:rPr lang="en-US" sz="800" dirty="0">
                <a:solidFill>
                  <a:srgbClr val="374151"/>
                </a:solidFill>
                <a:latin typeface="Arial" pitchFamily="34" charset="0"/>
                <a:ea typeface="Arial" pitchFamily="34" charset="-122"/>
                <a:cs typeface="Arial" pitchFamily="34" charset="-120"/>
              </a:rPr>
              <a:t>CFO David Smith must deliver a corrected financial model addressing: (a) G&amp;A formula error producing negative values in FY2025–26E; (b) MOIC formula error in Returned Equity row; (c) balance sheet plug. Model must be delivered to Morsebridge before IC.</a:t>
            </a:r>
            <a:endParaRPr lang="en-US" sz="800" dirty="0"/>
          </a:p>
        </p:txBody>
      </p:sp>
      <p:sp>
        <p:nvSpPr>
          <p:cNvPr id="21" name="Shape 19"/>
          <p:cNvSpPr/>
          <p:nvPr/>
        </p:nvSpPr>
        <p:spPr>
          <a:xfrm>
            <a:off x="365760" y="3008376"/>
            <a:ext cx="8412480" cy="786384"/>
          </a:xfrm>
          <a:prstGeom prst="rect">
            <a:avLst/>
          </a:prstGeom>
          <a:solidFill>
            <a:srgbClr val="FEF2F2"/>
          </a:solidFill>
          <a:ln w="9525">
            <a:solidFill>
              <a:srgbClr val="C00000"/>
            </a:solidFill>
            <a:prstDash val="solid"/>
          </a:ln>
        </p:spPr>
      </p:sp>
      <p:sp>
        <p:nvSpPr>
          <p:cNvPr id="22" name="Shape 20"/>
          <p:cNvSpPr/>
          <p:nvPr/>
        </p:nvSpPr>
        <p:spPr>
          <a:xfrm>
            <a:off x="365760" y="3008376"/>
            <a:ext cx="45720" cy="786384"/>
          </a:xfrm>
          <a:prstGeom prst="rect">
            <a:avLst/>
          </a:prstGeom>
          <a:solidFill>
            <a:srgbClr val="C00000"/>
          </a:solidFill>
          <a:ln/>
        </p:spPr>
      </p:sp>
      <p:sp>
        <p:nvSpPr>
          <p:cNvPr id="23" name="Shape 21"/>
          <p:cNvSpPr/>
          <p:nvPr/>
        </p:nvSpPr>
        <p:spPr>
          <a:xfrm>
            <a:off x="493776" y="3099816"/>
            <a:ext cx="320040" cy="320040"/>
          </a:xfrm>
          <a:prstGeom prst="rect">
            <a:avLst>
              <a:gd name="adj" fmla="val 11429"/>
            </a:avLst>
          </a:prstGeom>
          <a:solidFill>
            <a:srgbClr val="C00000"/>
          </a:solidFill>
          <a:ln/>
        </p:spPr>
      </p:sp>
      <p:sp>
        <p:nvSpPr>
          <p:cNvPr id="24" name="Text 22"/>
          <p:cNvSpPr/>
          <p:nvPr/>
        </p:nvSpPr>
        <p:spPr>
          <a:xfrm>
            <a:off x="493776" y="3099816"/>
            <a:ext cx="320040" cy="32004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25" name="Shape 23"/>
          <p:cNvSpPr/>
          <p:nvPr/>
        </p:nvSpPr>
        <p:spPr>
          <a:xfrm>
            <a:off x="7178040" y="3081528"/>
            <a:ext cx="1554480" cy="219456"/>
          </a:xfrm>
          <a:prstGeom prst="rect">
            <a:avLst>
              <a:gd name="adj" fmla="val 16667"/>
            </a:avLst>
          </a:prstGeom>
          <a:solidFill>
            <a:srgbClr val="C00000"/>
          </a:solidFill>
          <a:ln/>
        </p:spPr>
      </p:sp>
      <p:sp>
        <p:nvSpPr>
          <p:cNvPr id="26" name="Text 24"/>
          <p:cNvSpPr/>
          <p:nvPr/>
        </p:nvSpPr>
        <p:spPr>
          <a:xfrm>
            <a:off x="7178040" y="3081528"/>
            <a:ext cx="1554480" cy="219456"/>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BLOCKING</a:t>
            </a:r>
            <a:endParaRPr lang="en-US" sz="750" dirty="0"/>
          </a:p>
        </p:txBody>
      </p:sp>
      <p:sp>
        <p:nvSpPr>
          <p:cNvPr id="27" name="Text 25"/>
          <p:cNvSpPr/>
          <p:nvPr/>
        </p:nvSpPr>
        <p:spPr>
          <a:xfrm>
            <a:off x="914400" y="3063240"/>
            <a:ext cx="6172200" cy="274320"/>
          </a:xfrm>
          <a:prstGeom prst="rect">
            <a:avLst/>
          </a:prstGeom>
          <a:noFill/>
          <a:ln/>
        </p:spPr>
        <p:txBody>
          <a:bodyPr wrap="square" lIns="0" tIns="0" rIns="0" bIns="0" rtlCol="0" anchor="ctr"/>
          <a:lstStyle/>
          <a:p>
            <a:pPr indent="0" marL="0">
              <a:buNone/>
            </a:pPr>
            <a:r>
              <a:rPr lang="en-US" sz="1000" b="1" dirty="0">
                <a:solidFill>
                  <a:srgbClr val="1B3A5C"/>
                </a:solidFill>
                <a:latin typeface="Arial" pitchFamily="34" charset="0"/>
                <a:ea typeface="Arial" pitchFamily="34" charset="-122"/>
                <a:cs typeface="Arial" pitchFamily="34" charset="-120"/>
              </a:rPr>
              <a:t>Bear Case IRR ≥ 15% Confirmed</a:t>
            </a:r>
            <a:endParaRPr lang="en-US" sz="1000" dirty="0"/>
          </a:p>
        </p:txBody>
      </p:sp>
      <p:sp>
        <p:nvSpPr>
          <p:cNvPr id="28" name="Text 26"/>
          <p:cNvSpPr/>
          <p:nvPr/>
        </p:nvSpPr>
        <p:spPr>
          <a:xfrm>
            <a:off x="914400" y="3355848"/>
            <a:ext cx="7818120" cy="365760"/>
          </a:xfrm>
          <a:prstGeom prst="rect">
            <a:avLst/>
          </a:prstGeom>
          <a:noFill/>
          <a:ln/>
        </p:spPr>
        <p:txBody>
          <a:bodyPr wrap="square" lIns="0" tIns="0" rIns="0" bIns="0" rtlCol="0" anchor="ctr"/>
          <a:lstStyle/>
          <a:p>
            <a:pPr indent="0" marL="0">
              <a:buNone/>
            </a:pPr>
            <a:r>
              <a:rPr lang="en-US" sz="800" dirty="0">
                <a:solidFill>
                  <a:srgbClr val="374151"/>
                </a:solidFill>
                <a:latin typeface="Arial" pitchFamily="34" charset="0"/>
                <a:ea typeface="Arial" pitchFamily="34" charset="-122"/>
                <a:cs typeface="Arial" pitchFamily="34" charset="-120"/>
              </a:rPr>
              <a:t>Corrected model must produce a bear case IRR of at least 15% to clear the Financial DD hard gate. If the corrected bear case IRR remains below 15%, Ayub sign-off is required to override or this reverts to PASS.</a:t>
            </a:r>
            <a:endParaRPr lang="en-US" sz="800" dirty="0"/>
          </a:p>
        </p:txBody>
      </p:sp>
      <p:sp>
        <p:nvSpPr>
          <p:cNvPr id="29" name="Shape 27"/>
          <p:cNvSpPr/>
          <p:nvPr/>
        </p:nvSpPr>
        <p:spPr>
          <a:xfrm>
            <a:off x="365760" y="3867912"/>
            <a:ext cx="8412480" cy="786384"/>
          </a:xfrm>
          <a:prstGeom prst="rect">
            <a:avLst/>
          </a:prstGeom>
          <a:solidFill>
            <a:srgbClr val="FFF9E6"/>
          </a:solidFill>
          <a:ln w="9525">
            <a:solidFill>
              <a:srgbClr val="B45309"/>
            </a:solidFill>
            <a:prstDash val="solid"/>
          </a:ln>
        </p:spPr>
      </p:sp>
      <p:sp>
        <p:nvSpPr>
          <p:cNvPr id="30" name="Shape 28"/>
          <p:cNvSpPr/>
          <p:nvPr/>
        </p:nvSpPr>
        <p:spPr>
          <a:xfrm>
            <a:off x="365760" y="3867912"/>
            <a:ext cx="45720" cy="786384"/>
          </a:xfrm>
          <a:prstGeom prst="rect">
            <a:avLst/>
          </a:prstGeom>
          <a:solidFill>
            <a:srgbClr val="B45309"/>
          </a:solidFill>
          <a:ln/>
        </p:spPr>
      </p:sp>
      <p:sp>
        <p:nvSpPr>
          <p:cNvPr id="31" name="Shape 29"/>
          <p:cNvSpPr/>
          <p:nvPr/>
        </p:nvSpPr>
        <p:spPr>
          <a:xfrm>
            <a:off x="493776" y="3959352"/>
            <a:ext cx="320040" cy="320040"/>
          </a:xfrm>
          <a:prstGeom prst="rect">
            <a:avLst>
              <a:gd name="adj" fmla="val 11429"/>
            </a:avLst>
          </a:prstGeom>
          <a:solidFill>
            <a:srgbClr val="B45309"/>
          </a:solidFill>
          <a:ln/>
        </p:spPr>
      </p:sp>
      <p:sp>
        <p:nvSpPr>
          <p:cNvPr id="32" name="Text 30"/>
          <p:cNvSpPr/>
          <p:nvPr/>
        </p:nvSpPr>
        <p:spPr>
          <a:xfrm>
            <a:off x="493776" y="3959352"/>
            <a:ext cx="320040" cy="32004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33" name="Shape 31"/>
          <p:cNvSpPr/>
          <p:nvPr/>
        </p:nvSpPr>
        <p:spPr>
          <a:xfrm>
            <a:off x="7178040" y="3941064"/>
            <a:ext cx="1554480" cy="219456"/>
          </a:xfrm>
          <a:prstGeom prst="rect">
            <a:avLst>
              <a:gd name="adj" fmla="val 16667"/>
            </a:avLst>
          </a:prstGeom>
          <a:solidFill>
            <a:srgbClr val="B45309"/>
          </a:solidFill>
          <a:ln/>
        </p:spPr>
      </p:sp>
      <p:sp>
        <p:nvSpPr>
          <p:cNvPr id="34" name="Text 32"/>
          <p:cNvSpPr/>
          <p:nvPr/>
        </p:nvSpPr>
        <p:spPr>
          <a:xfrm>
            <a:off x="7178040" y="3941064"/>
            <a:ext cx="1554480" cy="219456"/>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BLOCKING</a:t>
            </a:r>
            <a:endParaRPr lang="en-US" sz="750" dirty="0"/>
          </a:p>
        </p:txBody>
      </p:sp>
      <p:sp>
        <p:nvSpPr>
          <p:cNvPr id="35" name="Text 33"/>
          <p:cNvSpPr/>
          <p:nvPr/>
        </p:nvSpPr>
        <p:spPr>
          <a:xfrm>
            <a:off x="914400" y="3922776"/>
            <a:ext cx="6172200" cy="274320"/>
          </a:xfrm>
          <a:prstGeom prst="rect">
            <a:avLst/>
          </a:prstGeom>
          <a:noFill/>
          <a:ln/>
        </p:spPr>
        <p:txBody>
          <a:bodyPr wrap="square" lIns="0" tIns="0" rIns="0" bIns="0" rtlCol="0" anchor="ctr"/>
          <a:lstStyle/>
          <a:p>
            <a:pPr indent="0" marL="0">
              <a:buNone/>
            </a:pPr>
            <a:r>
              <a:rPr lang="en-US" sz="1000" b="1" dirty="0">
                <a:solidFill>
                  <a:srgbClr val="1B3A5C"/>
                </a:solidFill>
                <a:latin typeface="Arial" pitchFamily="34" charset="0"/>
                <a:ea typeface="Arial" pitchFamily="34" charset="-122"/>
                <a:cs typeface="Arial" pitchFamily="34" charset="-120"/>
              </a:rPr>
              <a:t>Kyruus + TrustCommerce Pro Forma P&amp;L</a:t>
            </a:r>
            <a:endParaRPr lang="en-US" sz="1000" dirty="0"/>
          </a:p>
        </p:txBody>
      </p:sp>
      <p:sp>
        <p:nvSpPr>
          <p:cNvPr id="36" name="Text 34"/>
          <p:cNvSpPr/>
          <p:nvPr/>
        </p:nvSpPr>
        <p:spPr>
          <a:xfrm>
            <a:off x="914400" y="4215384"/>
            <a:ext cx="7818120" cy="365760"/>
          </a:xfrm>
          <a:prstGeom prst="rect">
            <a:avLst/>
          </a:prstGeom>
          <a:noFill/>
          <a:ln/>
        </p:spPr>
        <p:txBody>
          <a:bodyPr wrap="square" lIns="0" tIns="0" rIns="0" bIns="0" rtlCol="0" anchor="ctr"/>
          <a:lstStyle/>
          <a:p>
            <a:pPr indent="0" marL="0">
              <a:buNone/>
            </a:pPr>
            <a:r>
              <a:rPr lang="en-US" sz="800" dirty="0">
                <a:solidFill>
                  <a:srgbClr val="374151"/>
                </a:solidFill>
                <a:latin typeface="Arial" pitchFamily="34" charset="0"/>
                <a:ea typeface="Arial" pitchFamily="34" charset="-122"/>
                <a:cs typeface="Arial" pitchFamily="34" charset="-120"/>
              </a:rPr>
              <a:t>Post-close financials for both acquisitions must be provided and incorporated into the model. Returns analysis must reflect the combined pro forma entity, not the pre-acquisition standalone RevSpring.</a:t>
            </a:r>
            <a:endParaRPr lang="en-US" sz="800" dirty="0"/>
          </a:p>
        </p:txBody>
      </p:sp>
      <p:sp>
        <p:nvSpPr>
          <p:cNvPr id="37" name="Shape 35"/>
          <p:cNvSpPr/>
          <p:nvPr/>
        </p:nvSpPr>
        <p:spPr>
          <a:xfrm>
            <a:off x="365760" y="4709160"/>
            <a:ext cx="8412480" cy="201168"/>
          </a:xfrm>
          <a:prstGeom prst="rect">
            <a:avLst/>
          </a:prstGeom>
          <a:solidFill>
            <a:srgbClr val="1B3A5C"/>
          </a:solidFill>
          <a:ln/>
        </p:spPr>
      </p:sp>
      <p:sp>
        <p:nvSpPr>
          <p:cNvPr id="38" name="Text 36"/>
          <p:cNvSpPr/>
          <p:nvPr/>
        </p:nvSpPr>
        <p:spPr>
          <a:xfrm>
            <a:off x="457200" y="4709160"/>
            <a:ext cx="8229600" cy="201168"/>
          </a:xfrm>
          <a:prstGeom prst="rect">
            <a:avLst/>
          </a:prstGeom>
          <a:noFill/>
          <a:ln/>
        </p:spPr>
        <p:txBody>
          <a:bodyPr wrap="square" lIns="0" tIns="0" rIns="0" bIns="0" rtlCol="0" anchor="ctr"/>
          <a:lstStyle/>
          <a:p>
            <a:pPr algn="ctr" indent="0" marL="0">
              <a:buNone/>
            </a:pPr>
            <a:r>
              <a:rPr lang="en-US" sz="800" dirty="0">
                <a:solidFill>
                  <a:srgbClr val="FFFFFF"/>
                </a:solidFill>
                <a:latin typeface="Arial" pitchFamily="34" charset="0"/>
                <a:ea typeface="Arial" pitchFamily="34" charset="-122"/>
                <a:cs typeface="Arial" pitchFamily="34" charset="-120"/>
              </a:rPr>
              <a:t>If all three conditions are met and bear case IRR ≥ 15%: upgrade to INVEST. If corrected bear case IRR &lt; 15% after model correction: revert to PASS. Abdullah to update this memo after management sessions and model receipt.</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RevSpring IC Memo</dc:title>
  <dc:subject>PptxGenJS Presentation</dc:subject>
  <dc:creator>PptxGenJS</dc:creator>
  <cp:lastModifiedBy>PptxGenJS</cp:lastModifiedBy>
  <cp:revision>1</cp:revision>
  <dcterms:created xsi:type="dcterms:W3CDTF">2026-06-08T12:01:13Z</dcterms:created>
  <dcterms:modified xsi:type="dcterms:W3CDTF">2026-06-08T12:01:13Z</dcterms:modified>
</cp:coreProperties>
</file>