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A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U.S. RCM Total</c:v>
                  </c:pt>
                  <c:pt idx="1">
                    <c:v>Patient Engagement</c:v>
                  </c:pt>
                  <c:pt idx="2">
                    <c:v>Pt. Financial Eng.</c:v>
                  </c:pt>
                  <c:pt idx="3">
                    <c:v>RevSpring SAM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29.3</c:v>
                </c:pt>
                <c:pt idx="2">
                  <c:v>9.2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B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KLAS Score</c:v>
                </c:pt>
              </c:strCache>
            </c:strRef>
          </c:tx>
          <c:spPr>
            <a:solidFill>
              <a:srgbClr val="1A7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AB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RevSpring</c:v>
                  </c:pt>
                  <c:pt idx="1">
                    <c:v>Waystar</c:v>
                  </c:pt>
                  <c:pt idx="2">
                    <c:v>Flywire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90.3</c:v>
                </c:pt>
                <c:pt idx="1">
                  <c:v>88.8</c:v>
                </c:pt>
                <c:pt idx="2">
                  <c:v>88.4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8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</c:dPt>
          <c:dPt>
            <c:idx val="1"/>
            <c:bubble3D val="0"/>
            <c:spPr>
              <a:solidFill>
                <a:srgbClr val="2E6DB4"/>
              </a:solidFill>
              <a:effectLst/>
            </c:spPr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bubble3D val="0"/>
            <c:spPr>
              <a:solidFill>
                <a:srgbClr val="D6E4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Large IDNs</c:v>
                </c:pt>
                <c:pt idx="1">
                  <c:v>Community Hospitals</c:v>
                </c:pt>
                <c:pt idx="2">
                  <c:v>Physician Groups</c:v>
                </c:pt>
                <c:pt idx="3">
                  <c:v>RCM Outsourcers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48</c:v>
                </c:pt>
                <c:pt idx="1">
                  <c:v>31</c:v>
                </c:pt>
                <c:pt idx="2">
                  <c:v>13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0" cy="25603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5–7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DUE DILIGENCE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RevSpring, Inc.  ·  IC Memorandum Section  ·  June 5,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2011680" cy="475488"/>
          </a:xfrm>
          <a:prstGeom prst="rect">
            <a:avLst>
              <a:gd name="adj" fmla="val 15385"/>
            </a:avLst>
          </a:prstGeom>
          <a:solidFill>
            <a:srgbClr val="2E6DB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91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3291840"/>
            <a:ext cx="2011680" cy="475488"/>
          </a:xfrm>
          <a:prstGeom prst="rect">
            <a:avLst>
              <a:gd name="adj" fmla="val 15385"/>
            </a:avLst>
          </a:prstGeom>
          <a:solidFill>
            <a:srgbClr val="2E6DB4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3291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3291840"/>
            <a:ext cx="2011680" cy="475488"/>
          </a:xfrm>
          <a:prstGeom prst="rect">
            <a:avLst>
              <a:gd name="adj" fmla="val 15385"/>
            </a:avLst>
          </a:prstGeom>
          <a:solidFill>
            <a:srgbClr val="2E6DB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3291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4023360"/>
            <a:ext cx="2743200" cy="566928"/>
          </a:xfrm>
          <a:prstGeom prst="rect">
            <a:avLst>
              <a:gd name="adj" fmla="val 9677"/>
            </a:avLst>
          </a:prstGeom>
          <a:solidFill>
            <a:srgbClr val="1A7A2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4023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DD Score: 85.8 / 100  —  STRONG PROCEED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Morsebridge Healthcare  |  IC Memo  |  RevSpring  |  June 5,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 |  Market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914"/>
          </a:xfrm>
          <a:prstGeom prst="rect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89888" y="667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patient financial engagement market is $9.2B growing at 12.7% CAGR — and regulatory mandates are driving demand pull, not just growth.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Morsebridge Healthcare  |  IC Memo  |  RevSpring  |  June 5,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MARKET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123444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858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SUMMARY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65760" y="4069080"/>
            <a:ext cx="4297680" cy="12801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406908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RCM Total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468880" y="40690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 CAGR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11880" y="40690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2026–2035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65760" y="4206240"/>
            <a:ext cx="4297680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42062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Pt. Engagement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468880" y="42062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 CAGR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611880" y="4206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2025–2030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65760" y="4343400"/>
            <a:ext cx="4297680" cy="12801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34340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Pt. Financial Eng.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468880" y="43434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 CAGR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11880" y="43434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2024–2028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65760" y="4480560"/>
            <a:ext cx="4297680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44805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RevSpring SAM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468880" y="448056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~11.0% CAGR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611880" y="448056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Morsebridge est.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46320" y="987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GROWTH DRIVERS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846320" y="1298448"/>
            <a:ext cx="3931920" cy="786384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46320" y="1298448"/>
            <a:ext cx="329184" cy="7863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1298448"/>
            <a:ext cx="329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30368" y="13533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Demand Pull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30368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Transparency EO (Feb 2025) + CMS Final Rule (Nov 2025) mandate RevSpring's PreService workflows. Compliance is non-optional for health systems.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46320" y="2176272"/>
            <a:ext cx="3931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6320" y="2176272"/>
            <a:ext cx="329184" cy="7863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5" name="Text 32"/>
          <p:cNvSpPr/>
          <p:nvPr/>
        </p:nvSpPr>
        <p:spPr>
          <a:xfrm>
            <a:off x="4846320" y="2176272"/>
            <a:ext cx="329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230368" y="22311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Patient Costs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230368" y="24505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&gt;55% of commercially insured Americans on HDHPs; avg. out-of-pocket &gt;$1,700/episode. Patient collections are a top-3 provider priority.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846320" y="3054096"/>
            <a:ext cx="3931920" cy="786384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46320" y="3054096"/>
            <a:ext cx="329184" cy="7863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0" name="Text 37"/>
          <p:cNvSpPr/>
          <p:nvPr/>
        </p:nvSpPr>
        <p:spPr>
          <a:xfrm>
            <a:off x="4846320" y="3054096"/>
            <a:ext cx="329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230368" y="31089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Acceleration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230368" y="33284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 staffing constraints are driving providers to outsource RCM workflows. RevSpring's ARM and digital tools are direct beneficiaries.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846320" y="3931920"/>
            <a:ext cx="3931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846320" y="3931920"/>
            <a:ext cx="329184" cy="7863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5" name="Text 42"/>
          <p:cNvSpPr/>
          <p:nvPr/>
        </p:nvSpPr>
        <p:spPr>
          <a:xfrm>
            <a:off x="4846320" y="3931920"/>
            <a:ext cx="329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230368" y="3986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Runway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230368" y="4206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$45M+ incremental ARR identified within the existing 2,000+ client base. Kyruus Health + TrustCommerce extend SAM further upstream and downstream.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365760" y="4663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MarketsandMarkets (2025); Towards Healthcare (2026); CIM (2024); Morsebridge Commercial DD, June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 |  Competitive Position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914"/>
          </a:xfrm>
          <a:prstGeom prst="rect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89888" y="667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RevSpring is the #1 KLAS vendor in Patient Financial Engagement for the 2nd consecutive year — and its analytics moat is the least replicable element in the competitive set.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Morsebridge Healthcare  |  IC Memo  |  RevSpring  |  June 5,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 PATIENT FINANCIAL ENGAGEMENT — 2026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1234440"/>
          <a:ext cx="43891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28163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PersonaPay customers said they would buy again (KLAS, 2026)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31821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 ELEMENTS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3456432"/>
            <a:ext cx="4389120" cy="182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3456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Consumer DB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0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300M+ profiles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69080" y="3474720"/>
            <a:ext cx="640080" cy="146304"/>
          </a:xfrm>
          <a:prstGeom prst="rect">
            <a:avLst>
              <a:gd name="adj" fmla="val 25000"/>
            </a:avLst>
          </a:prstGeom>
          <a:solidFill>
            <a:srgbClr val="1A7A2E"/>
          </a:solidFill>
          <a:ln/>
        </p:spPr>
      </p:sp>
      <p:sp>
        <p:nvSpPr>
          <p:cNvPr id="16" name="Text 13"/>
          <p:cNvSpPr/>
          <p:nvPr/>
        </p:nvSpPr>
        <p:spPr>
          <a:xfrm>
            <a:off x="4069080" y="347472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65760" y="3657600"/>
            <a:ext cx="43891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3657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Integrations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560320" y="3657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hospital coverage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069080" y="3675888"/>
            <a:ext cx="640080" cy="146304"/>
          </a:xfrm>
          <a:prstGeom prst="rect">
            <a:avLst>
              <a:gd name="adj" fmla="val 25000"/>
            </a:avLst>
          </a:prstGeom>
          <a:solidFill>
            <a:srgbClr val="1A7A2E"/>
          </a:solidFill>
          <a:ln/>
        </p:spPr>
      </p:sp>
      <p:sp>
        <p:nvSpPr>
          <p:cNvPr id="21" name="Text 18"/>
          <p:cNvSpPr/>
          <p:nvPr/>
        </p:nvSpPr>
        <p:spPr>
          <a:xfrm>
            <a:off x="4069080" y="36758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3858768"/>
            <a:ext cx="4389120" cy="182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3858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Infrastructure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60320" y="3858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Level 1 + HIPAA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069080" y="3877056"/>
            <a:ext cx="640080" cy="146304"/>
          </a:xfrm>
          <a:prstGeom prst="rect">
            <a:avLst>
              <a:gd name="adj" fmla="val 25000"/>
            </a:avLst>
          </a:prstGeom>
          <a:solidFill>
            <a:srgbClr val="1A7A2E"/>
          </a:solidFill>
          <a:ln/>
        </p:spPr>
      </p:sp>
      <p:sp>
        <p:nvSpPr>
          <p:cNvPr id="26" name="Text 23"/>
          <p:cNvSpPr/>
          <p:nvPr/>
        </p:nvSpPr>
        <p:spPr>
          <a:xfrm>
            <a:off x="4069080" y="38770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65760" y="4059936"/>
            <a:ext cx="43891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411480" y="40599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560320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3-5yr multi-product lock-in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069080" y="4078224"/>
            <a:ext cx="640080" cy="146304"/>
          </a:xfrm>
          <a:prstGeom prst="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31" name="Text 28"/>
          <p:cNvSpPr/>
          <p:nvPr/>
        </p:nvSpPr>
        <p:spPr>
          <a:xfrm>
            <a:off x="4069080" y="4078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65760" y="4261104"/>
            <a:ext cx="4389120" cy="182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4261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 Scale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560320" y="4261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$8B+ annual volume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069080" y="4279392"/>
            <a:ext cx="640080" cy="146304"/>
          </a:xfrm>
          <a:prstGeom prst="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36" name="Text 33"/>
          <p:cNvSpPr/>
          <p:nvPr/>
        </p:nvSpPr>
        <p:spPr>
          <a:xfrm>
            <a:off x="4069080" y="42793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93776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BENCHMARKING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61872"/>
          <a:ext cx="3794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"/>
                <a:gridCol w="594360"/>
                <a:gridCol w="594360"/>
                <a:gridCol w="594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KLAS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Print/Mail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Analytics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Pre-Service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5C2A"/>
                          </a:solidFill>
                        </a:rPr>
                        <a:t>RevSpring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2E"/>
                          </a:solidFill>
                        </a:rPr>
                        <a:t>90.3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A2E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A2E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A2E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Waystar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6DB4"/>
                          </a:solidFill>
                        </a:rPr>
                        <a:t>88.8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Cedar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6DB4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Flywire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6DB4"/>
                          </a:solidFill>
                        </a:rPr>
                        <a:t>88.4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Experian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Epic MyChart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5"/>
          <p:cNvSpPr/>
          <p:nvPr/>
        </p:nvSpPr>
        <p:spPr>
          <a:xfrm>
            <a:off x="4937760" y="3090672"/>
            <a:ext cx="3794760" cy="9144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937760" y="3108960"/>
            <a:ext cx="3794760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10912" y="31455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[DD FLAG]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5833872" y="3145536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Win/loss data vs. Epic MyChart and Cedar not disclosed in CIM. Request disaggregated win/loss analysis for FY2021–2024 before finalising competitive position conclusion.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937760" y="3675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POST-CIM PLATFORM EXTENSIONS (UNDER FRAZIER)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4937760" y="3950208"/>
            <a:ext cx="3794760" cy="274320"/>
          </a:xfrm>
          <a:prstGeom prst="rect">
            <a:avLst/>
          </a:prstGeom>
          <a:solidFill>
            <a:srgbClr val="F7F8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937760" y="3950208"/>
            <a:ext cx="54864" cy="274320"/>
          </a:xfrm>
          <a:prstGeom prst="rect">
            <a:avLst/>
          </a:prstGeom>
          <a:solidFill>
            <a:srgbClr val="1A7A2E"/>
          </a:solidFill>
          <a:ln/>
        </p:spPr>
      </p:sp>
      <p:sp>
        <p:nvSpPr>
          <p:cNvPr id="46" name="Text 42"/>
          <p:cNvSpPr/>
          <p:nvPr/>
        </p:nvSpPr>
        <p:spPr>
          <a:xfrm>
            <a:off x="5065776" y="39684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Kyruus Health (Q4 2025)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65776" y="4078224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search &amp; scheduling — extends platform upstream into care access layer; no competitor matches this positioning at scale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937760" y="4279392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937760" y="4279392"/>
            <a:ext cx="54864" cy="274320"/>
          </a:xfrm>
          <a:prstGeom prst="rect">
            <a:avLst/>
          </a:prstGeom>
          <a:solidFill>
            <a:srgbClr val="1A7A2E"/>
          </a:solidFill>
          <a:ln/>
        </p:spPr>
      </p:sp>
      <p:sp>
        <p:nvSpPr>
          <p:cNvPr id="50" name="Text 46"/>
          <p:cNvSpPr/>
          <p:nvPr/>
        </p:nvSpPr>
        <p:spPr>
          <a:xfrm>
            <a:off x="5065776" y="42976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TrustCommerce (Feb 2026)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5065776" y="4407408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payment gateway — adds transaction-layer revenue; RevSpring now controls end-to-end financial journey from engagement to settlement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365760" y="4663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KLAS Research 2026 Best in KLAS; RevSpring CIM (2024); RevSpring press releases (2025–2026); Morsebridge Commercial DD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 |  Customer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914"/>
          </a:xfrm>
          <a:prstGeom prst="rect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89888" y="667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of ~108% and gross retention of ~94% confirm a sticky, recurring revenue base — but the top-20 cohort at 38% of revenue requires active renewal management.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Morsebridge Healthcare  |  IC Memo  |  RevSpring  |  June 5,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BY REVENUE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1234440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QUALITY METRICS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261872"/>
            <a:ext cx="3977640" cy="621792"/>
          </a:xfrm>
          <a:prstGeom prst="rect">
            <a:avLst/>
          </a:prstGeom>
          <a:solidFill>
            <a:srgbClr val="E8F5E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261872"/>
            <a:ext cx="54864" cy="621792"/>
          </a:xfrm>
          <a:prstGeom prst="rect">
            <a:avLst/>
          </a:prstGeom>
          <a:solidFill>
            <a:srgbClr val="1A7A2E"/>
          </a:solidFill>
          <a:ln/>
        </p:spPr>
      </p:sp>
      <p:sp>
        <p:nvSpPr>
          <p:cNvPr id="13" name="Text 10"/>
          <p:cNvSpPr/>
          <p:nvPr/>
        </p:nvSpPr>
        <p:spPr>
          <a:xfrm>
            <a:off x="4864608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~108%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943600" y="131673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0" y="151790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100% threshold — upsell and cross-sell outpaces churn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956816"/>
            <a:ext cx="3977640" cy="621792"/>
          </a:xfrm>
          <a:prstGeom prst="rect">
            <a:avLst/>
          </a:prstGeom>
          <a:solidFill>
            <a:srgbClr val="FFF9E6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956816"/>
            <a:ext cx="54864" cy="6217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5"/>
          <p:cNvSpPr/>
          <p:nvPr/>
        </p:nvSpPr>
        <p:spPr>
          <a:xfrm>
            <a:off x="4864608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~94%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43600" y="20116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Retention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43600" y="221284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Adequate; concentrated in smaller community hospital accounts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54880" y="2651760"/>
            <a:ext cx="3977640" cy="621792"/>
          </a:xfrm>
          <a:prstGeom prst="rect">
            <a:avLst/>
          </a:prstGeom>
          <a:solidFill>
            <a:srgbClr val="E8F5E9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2651760"/>
            <a:ext cx="54864" cy="621792"/>
          </a:xfrm>
          <a:prstGeom prst="rect">
            <a:avLst/>
          </a:prstGeom>
          <a:solidFill>
            <a:srgbClr val="1A7A2E"/>
          </a:solidFill>
          <a:ln/>
        </p:spPr>
      </p:sp>
      <p:sp>
        <p:nvSpPr>
          <p:cNvPr id="23" name="Text 20"/>
          <p:cNvSpPr/>
          <p:nvPr/>
        </p:nvSpPr>
        <p:spPr>
          <a:xfrm>
            <a:off x="4864608" y="26883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943600" y="270662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43600" y="29077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transaction-based; multi-year auto-renewing contracts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54880" y="3346704"/>
            <a:ext cx="3977640" cy="621792"/>
          </a:xfrm>
          <a:prstGeom prst="rect">
            <a:avLst/>
          </a:prstGeom>
          <a:solidFill>
            <a:srgbClr val="EBF4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3346704"/>
            <a:ext cx="54864" cy="6217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/>
          <p:nvPr/>
        </p:nvSpPr>
        <p:spPr>
          <a:xfrm>
            <a:off x="4864608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yr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5943600" y="340156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Contract Length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43600" y="360273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Auto-renewal standard; estimated $45M+ cross-sell ARR runway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65760" y="3931920"/>
            <a:ext cx="8366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CONCENTRATION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69664"/>
          <a:ext cx="8366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4800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of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 Assessment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Top Client (Single)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2E"/>
                          </a:solidFill>
                        </a:rPr>
                        <a:t>&lt; 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2E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 single client is material; high switching cost further reduces risk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Top 20 Clients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</a:rPr>
                        <a:t>~38%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Multi-year auto-renewing contracts; retention programs in place for top 50 accounts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Large IDNs (segment)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6DB4"/>
                          </a:solidFill>
                        </a:rPr>
                        <a:t>48%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6DB4"/>
                          </a:solidFill>
                        </a:rPr>
                        <a:t>MONITOR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Concentrated renewal events; 15 enterprise account managers cover top 50 clients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 |  Commercial DD Scorecard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914"/>
          </a:xfrm>
          <a:prstGeom prst="rect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67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89888" y="667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85.8/100 — Strong Proceed. Market and competitive fundamentals are exceptional; GTM efficiency and revenue concentration are the two areas to monitor.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Morsebridge Healthcare  |  IC Memo  |  RevSpring  |  June 5,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2011680" cy="1005840"/>
          </a:xfrm>
          <a:prstGeom prst="rect">
            <a:avLst>
              <a:gd name="adj" fmla="val 7273"/>
            </a:avLst>
          </a:prstGeom>
          <a:solidFill>
            <a:srgbClr val="1A7A2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PROCEED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987552"/>
            <a:ext cx="914400" cy="420624"/>
          </a:xfrm>
          <a:prstGeom prst="rect">
            <a:avLst/>
          </a:prstGeom>
          <a:solidFill>
            <a:srgbClr val="1A7A2E"/>
          </a:solidFill>
          <a:ln w="9525">
            <a:solidFill>
              <a:srgbClr val="1A7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87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Proceed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20440" y="987552"/>
            <a:ext cx="914400" cy="420624"/>
          </a:xfrm>
          <a:prstGeom prst="rect">
            <a:avLst/>
          </a:prstGeom>
          <a:solidFill>
            <a:srgbClr val="FFF9E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987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65–79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Proceed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26280" y="987552"/>
            <a:ext cx="914400" cy="420624"/>
          </a:xfrm>
          <a:prstGeom prst="rect">
            <a:avLst/>
          </a:prstGeom>
          <a:solidFill>
            <a:srgbClr val="FEF2F2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987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29968"/>
          <a:ext cx="5212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94360"/>
                <a:gridCol w="64008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Wtd Score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TAM Size and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2E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Regulatory Tailwinds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2E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Market Maturity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DB4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0.56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Competitive Moat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2E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EHR Encroachment Risk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DB4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Competitive Benchmarking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2E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Customer Retention Quality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DB4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0.96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Revenue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0.48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Contract Quality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DB4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0.64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Cross-Sell Runway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2E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GTM Efficiency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0.54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WEIGHTED 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85.8 / 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2E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760720" y="987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 FLAGS RAISED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60720" y="1280160"/>
            <a:ext cx="3017520" cy="694944"/>
          </a:xfrm>
          <a:prstGeom prst="rect">
            <a:avLst/>
          </a:prstGeom>
          <a:solidFill>
            <a:srgbClr val="FEF2F2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0" y="1280160"/>
            <a:ext cx="54864" cy="69494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5833872" y="1335024"/>
            <a:ext cx="694944" cy="201168"/>
          </a:xfrm>
          <a:prstGeom prst="rect">
            <a:avLst>
              <a:gd name="adj" fmla="val 18182"/>
            </a:avLst>
          </a:prstGeom>
          <a:solidFill>
            <a:srgbClr val="C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5833872" y="13350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601968" y="131673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&amp; Mail revenue not disclosed by product line — required to model EBITDA margin expansion under bear case.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760720" y="2048256"/>
            <a:ext cx="3017520" cy="694944"/>
          </a:xfrm>
          <a:prstGeom prst="rect">
            <a:avLst/>
          </a:prstGeom>
          <a:solidFill>
            <a:srgbClr val="FEF2F2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60720" y="2048256"/>
            <a:ext cx="54864" cy="69494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5833872" y="2103120"/>
            <a:ext cx="694944" cy="201168"/>
          </a:xfrm>
          <a:prstGeom prst="rect">
            <a:avLst>
              <a:gd name="adj" fmla="val 18182"/>
            </a:avLst>
          </a:prstGeom>
          <a:solidFill>
            <a:srgbClr val="C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5833872" y="210312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601968" y="20848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Win/loss data vs. Epic MyChart and Cedar not disclosed — competitive encroachment pace unvalidatable without it.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60720" y="2816352"/>
            <a:ext cx="3017520" cy="694944"/>
          </a:xfrm>
          <a:prstGeom prst="rect">
            <a:avLst/>
          </a:prstGeom>
          <a:solidFill>
            <a:srgbClr val="FFF9E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60720" y="2816352"/>
            <a:ext cx="54864" cy="69494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Shape 31"/>
          <p:cNvSpPr/>
          <p:nvPr/>
        </p:nvSpPr>
        <p:spPr>
          <a:xfrm>
            <a:off x="5833872" y="2871216"/>
            <a:ext cx="694944" cy="201168"/>
          </a:xfrm>
          <a:prstGeom prst="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35" name="Text 32"/>
          <p:cNvSpPr/>
          <p:nvPr/>
        </p:nvSpPr>
        <p:spPr>
          <a:xfrm>
            <a:off x="5833872" y="28712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601968" y="28529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 TAM definition needs reconciliation vs. third-party market sizing (definitional gap, not a misstatement).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760720" y="3584448"/>
            <a:ext cx="3017520" cy="694944"/>
          </a:xfrm>
          <a:prstGeom prst="rect">
            <a:avLst/>
          </a:prstGeom>
          <a:solidFill>
            <a:srgbClr val="EBF4FF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60720" y="3584448"/>
            <a:ext cx="54864" cy="69494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9" name="Shape 36"/>
          <p:cNvSpPr/>
          <p:nvPr/>
        </p:nvSpPr>
        <p:spPr>
          <a:xfrm>
            <a:off x="5833872" y="3639312"/>
            <a:ext cx="694944" cy="201168"/>
          </a:xfrm>
          <a:prstGeom prst="rect">
            <a:avLst>
              <a:gd name="adj" fmla="val 18182"/>
            </a:avLst>
          </a:prstGeom>
          <a:solidFill>
            <a:srgbClr val="4A90D9"/>
          </a:solidFill>
          <a:ln/>
        </p:spPr>
      </p:sp>
      <p:sp>
        <p:nvSpPr>
          <p:cNvPr id="40" name="Text 37"/>
          <p:cNvSpPr/>
          <p:nvPr/>
        </p:nvSpPr>
        <p:spPr>
          <a:xfrm>
            <a:off x="5833872" y="363931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601968" y="36210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 cited as growth opportunity but unquantified; excluded from base case return model.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65760" y="4645152"/>
            <a:ext cx="836676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3" name="Text 40"/>
          <p:cNvSpPr/>
          <p:nvPr/>
        </p:nvSpPr>
        <p:spPr>
          <a:xfrm>
            <a:off x="438912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</a:t>
            </a:r>
            <a:pPr indent="0" marL="0">
              <a:buNone/>
            </a:pPr>
            <a:r>
              <a:rPr lang="en-US" sz="8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Revenue bridge by product line  |  (2) Win/loss data  |  (3) Kyruus + TrustCommerce post-close financials  |  (4) Initiate Financial DD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RevSpring — IC Memo Commercial DD Section</dc:title>
  <dc:subject>PptxGenJS Presentation</dc:subject>
  <dc:creator>Morsebridge Healthcare</dc:creator>
  <cp:lastModifiedBy>Morsebridge Healthcare</cp:lastModifiedBy>
  <cp:revision>1</cp:revision>
  <dcterms:created xsi:type="dcterms:W3CDTF">2026-06-08T10:38:37Z</dcterms:created>
  <dcterms:modified xsi:type="dcterms:W3CDTF">2026-06-08T10:38:37Z</dcterms:modified>
</cp:coreProperties>
</file>